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6858000" cx="12192000"/>
  <p:notesSz cx="6858000" cy="9144000"/>
  <p:embeddedFontLst>
    <p:embeddedFont>
      <p:font typeface="Roboto"/>
      <p:regular r:id="rId56"/>
      <p:bold r:id="rId57"/>
      <p:italic r:id="rId58"/>
      <p:boldItalic r:id="rId59"/>
    </p:embeddedFont>
    <p:embeddedFont>
      <p:font typeface="Arial Black"/>
      <p:regular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87">
          <p15:clr>
            <a:srgbClr val="A4A3A4"/>
          </p15:clr>
        </p15:guide>
        <p15:guide id="2" pos="3854">
          <p15:clr>
            <a:srgbClr val="A4A3A4"/>
          </p15:clr>
        </p15:guide>
      </p15:sldGuideLst>
    </p:ext>
    <p:ext uri="GoogleSlidesCustomDataVersion2">
      <go:slidesCustomData xmlns:go="http://customooxmlschemas.google.com/" r:id="rId61" roundtripDataSignature="AMtx7mgeWqEBaTOqppODxZiTHOVSkfZB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CA13875-9254-4307-A5A6-F7D66A847C66}">
  <a:tblStyle styleId="{4CA13875-9254-4307-A5A6-F7D66A847C66}" styleName="Table_0">
    <a:wholeTbl>
      <a:tcTxStyle b="off" i="off">
        <a:font>
          <a:latin typeface="Arial"/>
          <a:ea typeface="Arial"/>
          <a:cs typeface="Arial"/>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87" orient="horz"/>
        <p:guide pos="385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1"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ArialBlack-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Roboto-bold.fntdata"/><Relationship Id="rId12" Type="http://schemas.openxmlformats.org/officeDocument/2006/relationships/slide" Target="slides/slide6.xml"/><Relationship Id="rId56" Type="http://schemas.openxmlformats.org/officeDocument/2006/relationships/font" Target="fonts/Roboto-regular.fntdata"/><Relationship Id="rId15" Type="http://schemas.openxmlformats.org/officeDocument/2006/relationships/slide" Target="slides/slide9.xml"/><Relationship Id="rId59" Type="http://schemas.openxmlformats.org/officeDocument/2006/relationships/font" Target="fonts/Roboto-boldItalic.fntdata"/><Relationship Id="rId14" Type="http://schemas.openxmlformats.org/officeDocument/2006/relationships/slide" Target="slides/slide8.xml"/><Relationship Id="rId58" Type="http://schemas.openxmlformats.org/officeDocument/2006/relationships/font" Target="fonts/Robot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200" u="none" cap="none" strike="noStrike">
                <a:solidFill>
                  <a:schemeClr val="dk1"/>
                </a:solidFill>
                <a:latin typeface="Arial"/>
                <a:ea typeface="Arial"/>
                <a:cs typeface="Arial"/>
                <a:sym typeface="Arial"/>
              </a:rPr>
              <a:t>Recurso: Imagen</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i="0" lang="en-US" sz="1200" u="none" cap="none" strike="noStrike">
                <a:solidFill>
                  <a:schemeClr val="dk1"/>
                </a:solidFill>
                <a:latin typeface="Arial"/>
                <a:ea typeface="Arial"/>
                <a:cs typeface="Arial"/>
                <a:sym typeface="Arial"/>
              </a:rPr>
              <a:t>Formato: PNG</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i="0" lang="en-US" sz="1200" u="none" cap="none" strike="noStrike">
                <a:solidFill>
                  <a:schemeClr val="dk1"/>
                </a:solidFill>
                <a:latin typeface="Arial"/>
                <a:ea typeface="Arial"/>
                <a:cs typeface="Arial"/>
                <a:sym typeface="Arial"/>
              </a:rPr>
              <a:t>Nomenclatura: 001_Burnout_GS1</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i="0" lang="en-US" sz="1200" u="none" cap="none" strike="noStrike">
                <a:solidFill>
                  <a:schemeClr val="dk1"/>
                </a:solidFill>
                <a:latin typeface="Arial"/>
                <a:ea typeface="Arial"/>
                <a:cs typeface="Arial"/>
                <a:sym typeface="Arial"/>
              </a:rPr>
              <a:t>Integración: Etiqueta</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i="0" lang="en-US" sz="1200" u="none" cap="none" strike="noStrike">
                <a:solidFill>
                  <a:schemeClr val="dk1"/>
                </a:solidFill>
                <a:latin typeface="Arial"/>
                <a:ea typeface="Arial"/>
                <a:cs typeface="Arial"/>
                <a:sym typeface="Arial"/>
              </a:rPr>
              <a:t>Responsable: Gráfico</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i="0" lang="en-US" sz="1200" u="none" cap="none" strike="noStrike">
                <a:solidFill>
                  <a:schemeClr val="dk1"/>
                </a:solidFill>
                <a:latin typeface="Arial"/>
                <a:ea typeface="Arial"/>
                <a:cs typeface="Arial"/>
                <a:sym typeface="Arial"/>
              </a:rPr>
              <a:t>Dimensiones: 1754 × 1241</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200" u="none" cap="none" strike="noStrike">
              <a:solidFill>
                <a:schemeClr val="dk1"/>
              </a:solidFill>
              <a:latin typeface="Arial"/>
              <a:ea typeface="Arial"/>
              <a:cs typeface="Arial"/>
              <a:sym typeface="Arial"/>
            </a:endParaRPr>
          </a:p>
          <a:p>
            <a:pPr indent="-247650" lvl="0" marL="285750" rtl="0" algn="l">
              <a:lnSpc>
                <a:spcPct val="100000"/>
              </a:lnSpc>
              <a:spcBef>
                <a:spcPts val="0"/>
              </a:spcBef>
              <a:spcAft>
                <a:spcPts val="0"/>
              </a:spcAft>
              <a:buClr>
                <a:srgbClr val="000000"/>
              </a:buClr>
              <a:buSzPts val="1200"/>
              <a:buFont typeface="Calibri"/>
              <a:buChar char="•"/>
            </a:pPr>
            <a:r>
              <a:rPr i="0" lang="en-US" u="none" strike="noStrike">
                <a:solidFill>
                  <a:srgbClr val="000000"/>
                </a:solidFill>
                <a:latin typeface="Calibri"/>
                <a:ea typeface="Calibri"/>
                <a:cs typeface="Calibri"/>
                <a:sym typeface="Calibri"/>
              </a:rPr>
              <a:t>Los colores e imagen que se utilizará en todas las pantallas del curso serán con base a la identidad gráfica del cliente</a:t>
            </a:r>
            <a:endParaRPr>
              <a:latin typeface="Calibri"/>
              <a:ea typeface="Calibri"/>
              <a:cs typeface="Calibri"/>
              <a:sym typeface="Calibri"/>
            </a:endParaRPr>
          </a:p>
          <a:p>
            <a:pPr indent="-247650" lvl="0" marL="285750" rtl="0" algn="l">
              <a:lnSpc>
                <a:spcPct val="100000"/>
              </a:lnSpc>
              <a:spcBef>
                <a:spcPts val="0"/>
              </a:spcBef>
              <a:spcAft>
                <a:spcPts val="0"/>
              </a:spcAft>
              <a:buClr>
                <a:schemeClr val="dk1"/>
              </a:buClr>
              <a:buSzPts val="1200"/>
              <a:buFont typeface="Calibri"/>
              <a:buChar char="•"/>
            </a:pPr>
            <a:r>
              <a:rPr lang="en-US">
                <a:latin typeface="Calibri"/>
                <a:ea typeface="Calibri"/>
                <a:cs typeface="Calibri"/>
                <a:sym typeface="Calibri"/>
              </a:rPr>
              <a:t>Utilizar imagen </a:t>
            </a:r>
            <a:r>
              <a:rPr i="1" lang="en-US">
                <a:latin typeface="Calibri"/>
                <a:ea typeface="Calibri"/>
                <a:cs typeface="Calibri"/>
                <a:sym typeface="Calibri"/>
              </a:rPr>
              <a:t>001_Burnout_GS1</a:t>
            </a:r>
            <a:endParaRPr i="1">
              <a:latin typeface="Calibri"/>
              <a:ea typeface="Calibri"/>
              <a:cs typeface="Calibri"/>
              <a:sym typeface="Calibri"/>
            </a:endParaRPr>
          </a:p>
          <a:p>
            <a:pPr indent="-247650" lvl="0" marL="285750" rtl="0" algn="l">
              <a:lnSpc>
                <a:spcPct val="100000"/>
              </a:lnSpc>
              <a:spcBef>
                <a:spcPts val="0"/>
              </a:spcBef>
              <a:spcAft>
                <a:spcPts val="0"/>
              </a:spcAft>
              <a:buClr>
                <a:schemeClr val="dk1"/>
              </a:buClr>
              <a:buSzPts val="1200"/>
              <a:buFont typeface="Calibri"/>
              <a:buChar char="•"/>
            </a:pPr>
            <a:r>
              <a:rPr i="0" lang="en-US">
                <a:latin typeface="Calibri"/>
                <a:ea typeface="Calibri"/>
                <a:cs typeface="Calibri"/>
                <a:sym typeface="Calibri"/>
              </a:rPr>
              <a:t>Agregar el ícono de GS1 México</a:t>
            </a:r>
            <a:endParaRPr i="0">
              <a:latin typeface="Calibri"/>
              <a:ea typeface="Calibri"/>
              <a:cs typeface="Calibri"/>
              <a:sym typeface="Calibri"/>
            </a:endParaRPr>
          </a:p>
          <a:p>
            <a:pPr indent="-247650" lvl="0" marL="285750" rtl="0" algn="l">
              <a:lnSpc>
                <a:spcPct val="100000"/>
              </a:lnSpc>
              <a:spcBef>
                <a:spcPts val="0"/>
              </a:spcBef>
              <a:spcAft>
                <a:spcPts val="0"/>
              </a:spcAft>
              <a:buClr>
                <a:schemeClr val="dk1"/>
              </a:buClr>
              <a:buSzPts val="1200"/>
              <a:buFont typeface="Calibri"/>
              <a:buChar char="•"/>
            </a:pPr>
            <a:r>
              <a:rPr i="0" lang="en-US">
                <a:latin typeface="Calibri"/>
                <a:ea typeface="Calibri"/>
                <a:cs typeface="Calibri"/>
                <a:sym typeface="Calibri"/>
              </a:rPr>
              <a:t>Las imágenes para la portada de cada unidad son de uso libre, sin embargo, son sugerencia, se pueden utilizar otras que acompañen mejor el contenido</a:t>
            </a:r>
            <a:endParaRPr i="0">
              <a:latin typeface="Calibri"/>
              <a:ea typeface="Calibri"/>
              <a:cs typeface="Calibri"/>
              <a:sym typeface="Calibri"/>
            </a:endParaRPr>
          </a:p>
          <a:p>
            <a:pPr indent="-247650" lvl="0" marL="285750" rtl="0" algn="l">
              <a:lnSpc>
                <a:spcPct val="100000"/>
              </a:lnSpc>
              <a:spcBef>
                <a:spcPts val="0"/>
              </a:spcBef>
              <a:spcAft>
                <a:spcPts val="0"/>
              </a:spcAft>
              <a:buClr>
                <a:schemeClr val="dk1"/>
              </a:buClr>
              <a:buSzPts val="1200"/>
              <a:buFont typeface="Calibri"/>
              <a:buChar char="•"/>
            </a:pPr>
            <a:r>
              <a:rPr i="0" lang="en-US">
                <a:latin typeface="Calibri"/>
                <a:ea typeface="Calibri"/>
                <a:cs typeface="Calibri"/>
                <a:sym typeface="Calibri"/>
              </a:rPr>
              <a:t>A lo largo del scorm se utilizarán imágenes tipo animadas. Las que se presentan son sugerencias. Para estos elementos, utilizar los colores corporativos</a:t>
            </a:r>
            <a:endParaRPr i="0">
              <a:latin typeface="Calibri"/>
              <a:ea typeface="Calibri"/>
              <a:cs typeface="Calibri"/>
              <a:sym typeface="Calibri"/>
            </a:endParaRPr>
          </a:p>
          <a:p>
            <a:pPr indent="-260350" lvl="0" marL="285750" rtl="0" algn="l">
              <a:lnSpc>
                <a:spcPct val="100000"/>
              </a:lnSpc>
              <a:spcBef>
                <a:spcPts val="0"/>
              </a:spcBef>
              <a:spcAft>
                <a:spcPts val="0"/>
              </a:spcAft>
              <a:buSzPts val="1400"/>
              <a:buFont typeface="Calibri"/>
              <a:buChar char="•"/>
            </a:pPr>
            <a:r>
              <a:rPr lang="en-US">
                <a:latin typeface="Calibri"/>
                <a:ea typeface="Calibri"/>
                <a:cs typeface="Calibri"/>
                <a:sym typeface="Calibri"/>
              </a:rPr>
              <a:t>Para la navegación general del curso, presentar botón “Avanzar” y “Regresar”; presentar un botón que despliegue un índice y se pueda regresar al inicio de cada unidad</a:t>
            </a:r>
            <a:endParaRPr>
              <a:latin typeface="Calibri"/>
              <a:ea typeface="Calibri"/>
              <a:cs typeface="Calibri"/>
              <a:sym typeface="Calibri"/>
            </a:endParaRPr>
          </a:p>
          <a:p>
            <a:pPr indent="-260350" lvl="0" marL="285750" rtl="0" algn="l">
              <a:lnSpc>
                <a:spcPct val="100000"/>
              </a:lnSpc>
              <a:spcBef>
                <a:spcPts val="0"/>
              </a:spcBef>
              <a:spcAft>
                <a:spcPts val="0"/>
              </a:spcAft>
              <a:buSzPts val="1400"/>
              <a:buFont typeface="Calibri"/>
              <a:buChar char="•"/>
            </a:pPr>
            <a:r>
              <a:rPr lang="en-US">
                <a:latin typeface="Calibri"/>
                <a:ea typeface="Calibri"/>
                <a:cs typeface="Calibri"/>
                <a:sym typeface="Calibri"/>
              </a:rPr>
              <a:t>En el caso de las pantallas con botoneras, los botones deberán estar bloqueados y se irán desbloqueando conforme el contenido de la misma se revise. Todos los botones quedarán desbloqueados para que se vuelva a revisar el contenido si así lo desea el usuario</a:t>
            </a:r>
            <a:endParaRPr>
              <a:latin typeface="Calibri"/>
              <a:ea typeface="Calibri"/>
              <a:cs typeface="Calibri"/>
              <a:sym typeface="Calibri"/>
            </a:endParaRPr>
          </a:p>
          <a:p>
            <a:pPr indent="-260350" lvl="0" marL="285750" rtl="0" algn="l">
              <a:lnSpc>
                <a:spcPct val="100000"/>
              </a:lnSpc>
              <a:spcBef>
                <a:spcPts val="0"/>
              </a:spcBef>
              <a:spcAft>
                <a:spcPts val="0"/>
              </a:spcAft>
              <a:buSzPts val="1400"/>
              <a:buFont typeface="Calibri"/>
              <a:buChar char="•"/>
            </a:pPr>
            <a:r>
              <a:rPr lang="en-US">
                <a:latin typeface="Calibri"/>
                <a:ea typeface="Calibri"/>
                <a:cs typeface="Calibri"/>
                <a:sym typeface="Calibri"/>
              </a:rPr>
              <a:t>Cuando un botón o elemento de la pantalla tenga interactividad, éste deberá aparecer parpadeando o con algún enfasis para que el usuario sepa que debe hacer clic</a:t>
            </a:r>
            <a:endParaRPr>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latin typeface="Calibri"/>
              <a:ea typeface="Calibri"/>
              <a:cs typeface="Calibri"/>
              <a:sym typeface="Calibri"/>
            </a:endParaRPr>
          </a:p>
          <a:p>
            <a:pPr indent="0" lvl="0" marL="0" rtl="0" algn="l">
              <a:lnSpc>
                <a:spcPct val="100000"/>
              </a:lnSpc>
              <a:spcBef>
                <a:spcPts val="0"/>
              </a:spcBef>
              <a:spcAft>
                <a:spcPts val="0"/>
              </a:spcAft>
              <a:buSzPts val="1400"/>
              <a:buNone/>
            </a:pPr>
            <a:r>
              <a:rPr b="1" lang="en-US" sz="1300">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rtl="0" algn="l">
              <a:lnSpc>
                <a:spcPct val="100000"/>
              </a:lnSpc>
              <a:spcBef>
                <a:spcPts val="0"/>
              </a:spcBef>
              <a:spcAft>
                <a:spcPts val="0"/>
              </a:spcAft>
              <a:buSzPts val="1400"/>
              <a:buFont typeface="Arial"/>
              <a:buChar char="•"/>
            </a:pPr>
            <a:r>
              <a:rPr lang="en-US">
                <a:latin typeface="Calibri"/>
                <a:ea typeface="Calibri"/>
                <a:cs typeface="Calibri"/>
                <a:sym typeface="Calibri"/>
              </a:rPr>
              <a:t>Todo el curso irá en paquete SCORM </a:t>
            </a:r>
            <a:endParaRPr>
              <a:latin typeface="Calibri"/>
              <a:ea typeface="Calibri"/>
              <a:cs typeface="Calibri"/>
              <a:sym typeface="Calibri"/>
            </a:endParaRPr>
          </a:p>
          <a:p>
            <a:pPr indent="-171450" lvl="0" marL="171450" rtl="0" algn="l">
              <a:lnSpc>
                <a:spcPct val="100000"/>
              </a:lnSpc>
              <a:spcBef>
                <a:spcPts val="0"/>
              </a:spcBef>
              <a:spcAft>
                <a:spcPts val="0"/>
              </a:spcAft>
              <a:buSzPts val="1400"/>
              <a:buFont typeface="Arial"/>
              <a:buChar char="•"/>
            </a:pPr>
            <a:r>
              <a:rPr lang="en-US">
                <a:latin typeface="Calibri"/>
                <a:ea typeface="Calibri"/>
                <a:cs typeface="Calibri"/>
                <a:sym typeface="Calibri"/>
              </a:rPr>
              <a:t>Este es el guion principal. Cda recurso se incrustará, lo cual se indica cuando sea necesario. </a:t>
            </a:r>
            <a:endParaRPr>
              <a:latin typeface="Calibri"/>
              <a:ea typeface="Calibri"/>
              <a:cs typeface="Calibri"/>
              <a:sym typeface="Calibri"/>
            </a:endParaRPr>
          </a:p>
          <a:p>
            <a:pPr indent="-171450" lvl="0" marL="171450" rtl="0" algn="l">
              <a:lnSpc>
                <a:spcPct val="100000"/>
              </a:lnSpc>
              <a:spcBef>
                <a:spcPts val="0"/>
              </a:spcBef>
              <a:spcAft>
                <a:spcPts val="0"/>
              </a:spcAft>
              <a:buSzPts val="1400"/>
              <a:buFont typeface="Arial"/>
              <a:buChar char="•"/>
            </a:pPr>
            <a:r>
              <a:rPr lang="en-US">
                <a:latin typeface="Calibri"/>
                <a:ea typeface="Calibri"/>
                <a:cs typeface="Calibri"/>
                <a:sym typeface="Calibri"/>
              </a:rPr>
              <a:t>Agregar el botón “Comenzar”</a:t>
            </a:r>
            <a:endParaRPr>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a:latin typeface="Calibri"/>
              <a:ea typeface="Calibri"/>
              <a:cs typeface="Calibri"/>
              <a:sym typeface="Calibri"/>
            </a:endParaRPr>
          </a:p>
        </p:txBody>
      </p:sp>
      <p:sp>
        <p:nvSpPr>
          <p:cNvPr id="93" name="Google Shape;9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el texto. El título del curso, presentarlo en cursivas y negritas para resaltarlo</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el ícono de video e incrustar el video del </a:t>
            </a:r>
            <a:r>
              <a:rPr i="1" lang="en-US">
                <a:latin typeface="Roboto"/>
                <a:ea typeface="Roboto"/>
                <a:cs typeface="Roboto"/>
                <a:sym typeface="Roboto"/>
              </a:rPr>
              <a:t>guion_01_Burnout_video </a:t>
            </a:r>
            <a:endParaRPr i="1">
              <a:latin typeface="Roboto"/>
              <a:ea typeface="Roboto"/>
              <a:cs typeface="Roboto"/>
              <a:sym typeface="Roboto"/>
            </a:endParaRPr>
          </a:p>
          <a:p>
            <a:pPr indent="-82550" lvl="0" marL="171450" marR="0" rtl="0" algn="l">
              <a:lnSpc>
                <a:spcPct val="100000"/>
              </a:lnSpc>
              <a:spcBef>
                <a:spcPts val="0"/>
              </a:spcBef>
              <a:spcAft>
                <a:spcPts val="0"/>
              </a:spcAft>
              <a:buClr>
                <a:srgbClr val="000000"/>
              </a:buClr>
              <a:buSzPts val="1400"/>
              <a:buFont typeface="Arial"/>
              <a:buNone/>
            </a:pPr>
            <a:r>
              <a:t/>
            </a:r>
            <a:endParaRPr>
              <a:latin typeface="Roboto"/>
              <a:ea typeface="Roboto"/>
              <a:cs typeface="Roboto"/>
              <a:sym typeface="Roboto"/>
            </a:endParaRPr>
          </a:p>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Recurso: Video estilo Motion Graphic</a:t>
            </a:r>
            <a:endParaRPr>
              <a:latin typeface="Roboto"/>
              <a:ea typeface="Roboto"/>
              <a:cs typeface="Roboto"/>
              <a:sym typeface="Roboto"/>
            </a:endParaRPr>
          </a:p>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Formato: MP4</a:t>
            </a:r>
            <a:endParaRPr>
              <a:latin typeface="Roboto"/>
              <a:ea typeface="Roboto"/>
              <a:cs typeface="Roboto"/>
              <a:sym typeface="Roboto"/>
            </a:endParaRPr>
          </a:p>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Nomenclatura: guion_01_Burnout_video</a:t>
            </a:r>
            <a:endParaRPr>
              <a:latin typeface="Roboto"/>
              <a:ea typeface="Roboto"/>
              <a:cs typeface="Roboto"/>
              <a:sym typeface="Roboto"/>
            </a:endParaRPr>
          </a:p>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Integración: Página</a:t>
            </a:r>
            <a:endParaRPr>
              <a:latin typeface="Roboto"/>
              <a:ea typeface="Roboto"/>
              <a:cs typeface="Roboto"/>
              <a:sym typeface="Roboto"/>
            </a:endParaRPr>
          </a:p>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Responsable: Gráfico</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a:latin typeface="Roboto"/>
              <a:ea typeface="Roboto"/>
              <a:cs typeface="Roboto"/>
              <a:sym typeface="Roboto"/>
            </a:endParaRPr>
          </a:p>
        </p:txBody>
      </p:sp>
      <p:sp>
        <p:nvSpPr>
          <p:cNvPr id="116" name="Google Shape;11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el texto y posteriormente un ícono de </a:t>
            </a:r>
            <a:r>
              <a:rPr i="1" lang="en-US">
                <a:latin typeface="Roboto"/>
                <a:ea typeface="Roboto"/>
                <a:cs typeface="Roboto"/>
                <a:sym typeface="Roboto"/>
              </a:rPr>
              <a:t>descarga documento</a:t>
            </a:r>
            <a:endParaRPr i="1">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el ícono de descargar documento, que la hacer clic se presentará en otra página la infografía, en formato pdf del </a:t>
            </a:r>
            <a:r>
              <a:rPr i="1" lang="en-US">
                <a:latin typeface="Roboto"/>
                <a:ea typeface="Roboto"/>
                <a:cs typeface="Roboto"/>
                <a:sym typeface="Roboto"/>
              </a:rPr>
              <a:t>guion_02_Burnout_infografia</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El documento se podrá descargar el pdf</a:t>
            </a:r>
            <a:endParaRPr i="1">
              <a:latin typeface="Roboto"/>
              <a:ea typeface="Roboto"/>
              <a:cs typeface="Roboto"/>
              <a:sym typeface="Roboto"/>
            </a:endParaRPr>
          </a:p>
          <a:p>
            <a:pPr indent="-82550" lvl="0" marL="17145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Roboto"/>
              <a:ea typeface="Roboto"/>
              <a:cs typeface="Roboto"/>
              <a:sym typeface="Roboto"/>
            </a:endParaRPr>
          </a:p>
        </p:txBody>
      </p:sp>
      <p:sp>
        <p:nvSpPr>
          <p:cNvPr id="124" name="Google Shape;12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1"/>
          </a:p>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Calibri"/>
                <a:ea typeface="Calibri"/>
                <a:cs typeface="Calibri"/>
                <a:sym typeface="Calibri"/>
              </a:rPr>
              <a:t>Utilizar imagen </a:t>
            </a:r>
            <a:r>
              <a:rPr b="0" i="1" lang="en-US" sz="1200" u="none" cap="none" strike="noStrike">
                <a:solidFill>
                  <a:schemeClr val="dk1"/>
                </a:solidFill>
                <a:latin typeface="Calibri"/>
                <a:ea typeface="Calibri"/>
                <a:cs typeface="Calibri"/>
                <a:sym typeface="Calibri"/>
              </a:rPr>
              <a:t>002_Burnout_GS1</a:t>
            </a:r>
            <a:endParaRPr b="0" i="1" sz="1200" u="none" cap="none" strike="noStrike">
              <a:solidFill>
                <a:schemeClr val="dk1"/>
              </a:solidFill>
              <a:latin typeface="Calibri"/>
              <a:ea typeface="Calibri"/>
              <a:cs typeface="Calibri"/>
              <a:sym typeface="Calibri"/>
            </a:endParaRPr>
          </a:p>
        </p:txBody>
      </p:sp>
      <p:sp>
        <p:nvSpPr>
          <p:cNvPr id="132" name="Google Shape;13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317500" lvl="0" marL="457200" marR="0" rtl="0" algn="l">
              <a:lnSpc>
                <a:spcPct val="100000"/>
              </a:lnSpc>
              <a:spcBef>
                <a:spcPts val="0"/>
              </a:spcBef>
              <a:spcAft>
                <a:spcPts val="0"/>
              </a:spcAft>
              <a:buSzPts val="1400"/>
              <a:buFont typeface="Calibri"/>
              <a:buChar char="●"/>
            </a:pPr>
            <a:r>
              <a:rPr lang="en-US">
                <a:latin typeface="Calibri"/>
                <a:ea typeface="Calibri"/>
                <a:cs typeface="Calibri"/>
                <a:sym typeface="Calibri"/>
              </a:rPr>
              <a:t>Presentar el contenido</a:t>
            </a:r>
            <a:endParaRPr>
              <a:latin typeface="Calibri"/>
              <a:ea typeface="Calibri"/>
              <a:cs typeface="Calibri"/>
              <a:sym typeface="Calibri"/>
            </a:endParaRPr>
          </a:p>
          <a:p>
            <a:pPr indent="-317500" lvl="0" marL="457200" marR="0" rtl="0" algn="l">
              <a:lnSpc>
                <a:spcPct val="100000"/>
              </a:lnSpc>
              <a:spcBef>
                <a:spcPts val="0"/>
              </a:spcBef>
              <a:spcAft>
                <a:spcPts val="0"/>
              </a:spcAft>
              <a:buSzPts val="1400"/>
              <a:buFont typeface="Calibri"/>
              <a:buChar char="●"/>
            </a:pPr>
            <a:r>
              <a:rPr lang="en-US">
                <a:latin typeface="Calibri"/>
                <a:ea typeface="Calibri"/>
                <a:cs typeface="Calibri"/>
                <a:sym typeface="Calibri"/>
              </a:rPr>
              <a:t>Presentar un ícono o imagen que represente al contenido</a:t>
            </a:r>
            <a:endParaRPr>
              <a:latin typeface="Calibri"/>
              <a:ea typeface="Calibri"/>
              <a:cs typeface="Calibri"/>
              <a:sym typeface="Calibri"/>
            </a:endParaRPr>
          </a:p>
        </p:txBody>
      </p:sp>
      <p:sp>
        <p:nvSpPr>
          <p:cNvPr id="139" name="Google Shape;13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subtítulo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contenido y bullets</a:t>
            </a:r>
            <a:endParaRPr/>
          </a:p>
          <a:p>
            <a:pPr indent="0" lvl="0" marL="0" marR="0" rtl="0" algn="l">
              <a:lnSpc>
                <a:spcPct val="100000"/>
              </a:lnSpc>
              <a:spcBef>
                <a:spcPts val="0"/>
              </a:spcBef>
              <a:spcAft>
                <a:spcPts val="0"/>
              </a:spcAft>
              <a:buClr>
                <a:schemeClr val="dk1"/>
              </a:buClr>
              <a:buSzPts val="1200"/>
              <a:buFont typeface="Arial"/>
              <a:buNone/>
            </a:pPr>
            <a:r>
              <a:t/>
            </a:r>
            <a:endParaRPr/>
          </a:p>
        </p:txBody>
      </p:sp>
      <p:sp>
        <p:nvSpPr>
          <p:cNvPr id="150" name="Google Shape;15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subtítulo </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texto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instrucción</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organizador gráfico con 4 botones, que al hacer clic en cada uno, aparecerá la información correspondiente en una ventana popup</a:t>
            </a:r>
            <a:endParaRPr/>
          </a:p>
          <a:p>
            <a:pPr indent="-171450" lvl="0" marL="171450" marR="0" rtl="0" algn="l">
              <a:lnSpc>
                <a:spcPct val="100000"/>
              </a:lnSpc>
              <a:spcBef>
                <a:spcPts val="0"/>
              </a:spcBef>
              <a:spcAft>
                <a:spcPts val="0"/>
              </a:spcAft>
              <a:buClr>
                <a:schemeClr val="dk1"/>
              </a:buClr>
              <a:buSzPts val="1200"/>
              <a:buFont typeface="Arial"/>
              <a:buChar char="•"/>
            </a:pPr>
            <a:r>
              <a:rPr lang="en-US"/>
              <a:t>El botón “Siguiente”se activa hasta que los cuatro botones se hayan visualidado</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i="1" lang="en-US"/>
              <a:t>BOTÓN: </a:t>
            </a:r>
            <a:r>
              <a:rPr b="1" i="1" lang="en-US">
                <a:solidFill>
                  <a:srgbClr val="3C3939"/>
                </a:solidFill>
                <a:latin typeface="Arial"/>
                <a:ea typeface="Arial"/>
                <a:cs typeface="Arial"/>
                <a:sym typeface="Arial"/>
              </a:rPr>
              <a:t>Etapa 1: Agotamiento emocional</a:t>
            </a:r>
            <a:endParaRPr b="1" i="1">
              <a:solidFill>
                <a:srgbClr val="3C3939"/>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lang="en-US"/>
              <a:t>Es el primer síntoma de que la persona está lidiando con exceso de demandas laborales y recursos insuficientes para hacerles frente. Sus señales típicas son: </a:t>
            </a:r>
            <a:endParaRPr/>
          </a:p>
          <a:p>
            <a:pPr indent="-171450" lvl="0" marL="171450" marR="0" rtl="0" algn="l">
              <a:lnSpc>
                <a:spcPct val="100000"/>
              </a:lnSpc>
              <a:spcBef>
                <a:spcPts val="0"/>
              </a:spcBef>
              <a:spcAft>
                <a:spcPts val="0"/>
              </a:spcAft>
              <a:buClr>
                <a:schemeClr val="dk1"/>
              </a:buClr>
              <a:buSzPts val="1200"/>
              <a:buFont typeface="Arial"/>
              <a:buChar char="•"/>
            </a:pPr>
            <a:r>
              <a:rPr lang="en-US"/>
              <a:t>“Me siento fatigado/a al levantarme</a:t>
            </a:r>
            <a:endParaRPr/>
          </a:p>
          <a:p>
            <a:pPr indent="-171450" lvl="0" marL="171450" marR="0" rtl="0" algn="l">
              <a:lnSpc>
                <a:spcPct val="100000"/>
              </a:lnSpc>
              <a:spcBef>
                <a:spcPts val="0"/>
              </a:spcBef>
              <a:spcAft>
                <a:spcPts val="0"/>
              </a:spcAft>
              <a:buClr>
                <a:schemeClr val="dk1"/>
              </a:buClr>
              <a:buSzPts val="1200"/>
              <a:buFont typeface="Arial"/>
              <a:buChar char="•"/>
            </a:pPr>
            <a:r>
              <a:rPr lang="en-US"/>
              <a:t>“Termino el día sin energía”</a:t>
            </a:r>
            <a:endParaRPr/>
          </a:p>
          <a:p>
            <a:pPr indent="-171450" lvl="0" marL="171450" marR="0" rtl="0" algn="l">
              <a:lnSpc>
                <a:spcPct val="100000"/>
              </a:lnSpc>
              <a:spcBef>
                <a:spcPts val="0"/>
              </a:spcBef>
              <a:spcAft>
                <a:spcPts val="0"/>
              </a:spcAft>
              <a:buClr>
                <a:schemeClr val="dk1"/>
              </a:buClr>
              <a:buSzPts val="1200"/>
              <a:buFont typeface="Arial"/>
              <a:buChar char="•"/>
            </a:pPr>
            <a:r>
              <a:rPr lang="en-US"/>
              <a:t>“Parece que ya nada me recarga”.</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lang="en-US"/>
              <a:t>En esta fase, la persona, con el apoyo de su líder aún puede lidiar y evitar avanzar al siguiente nivel.  </a:t>
            </a:r>
            <a:endParaRPr/>
          </a:p>
          <a:p>
            <a:pPr indent="0" lvl="0" marL="0" marR="0" rtl="0" algn="l">
              <a:lnSpc>
                <a:spcPct val="100000"/>
              </a:lnSpc>
              <a:spcBef>
                <a:spcPts val="0"/>
              </a:spcBef>
              <a:spcAft>
                <a:spcPts val="0"/>
              </a:spcAft>
              <a:buClr>
                <a:schemeClr val="dk1"/>
              </a:buClr>
              <a:buSzPts val="1200"/>
              <a:buFont typeface="Arial"/>
              <a:buNone/>
            </a:pPr>
            <a:r>
              <a:t/>
            </a:r>
            <a:endParaRPr i="1"/>
          </a:p>
          <a:p>
            <a:pPr indent="0" lvl="0" marL="0" marR="0" rtl="0" algn="l">
              <a:lnSpc>
                <a:spcPct val="100000"/>
              </a:lnSpc>
              <a:spcBef>
                <a:spcPts val="0"/>
              </a:spcBef>
              <a:spcAft>
                <a:spcPts val="0"/>
              </a:spcAft>
              <a:buClr>
                <a:schemeClr val="dk1"/>
              </a:buClr>
              <a:buSzPts val="1200"/>
              <a:buFont typeface="Arial"/>
              <a:buNone/>
            </a:pPr>
            <a:r>
              <a:rPr i="1" lang="en-US">
                <a:highlight>
                  <a:srgbClr val="FFFF00"/>
                </a:highlight>
              </a:rPr>
              <a:t>[Que el ejemplo vaya dentro de un cuadro de texto para resaltarlo]</a:t>
            </a:r>
            <a:endParaRPr i="1">
              <a:highlight>
                <a:srgbClr val="FFFF00"/>
              </a:highlight>
            </a:endParaRPr>
          </a:p>
          <a:p>
            <a:pPr indent="0" lvl="0" marL="0" marR="0" rtl="0" algn="l">
              <a:lnSpc>
                <a:spcPct val="100000"/>
              </a:lnSpc>
              <a:spcBef>
                <a:spcPts val="0"/>
              </a:spcBef>
              <a:spcAft>
                <a:spcPts val="0"/>
              </a:spcAft>
              <a:buClr>
                <a:schemeClr val="dk1"/>
              </a:buClr>
              <a:buSzPts val="1200"/>
              <a:buFont typeface="Arial"/>
              <a:buNone/>
            </a:pPr>
            <a:r>
              <a:rPr b="1" lang="en-US"/>
              <a:t>Ejemplo: </a:t>
            </a:r>
            <a:r>
              <a:rPr lang="en-US"/>
              <a:t>un ejecutivo de ventas que ha tenido tres trimestres de crecimiento en metas; asume viajes y presentaciones extras, duerme menos de 6 horas por noche, y los fines de semana no desconecta porque revisa correos y contesta mensajes de whatsapp de clientes y compañeros.</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i="1" lang="en-US"/>
              <a:t>BOTÓN:  Etapa 2: Apatía / Despersonalización</a:t>
            </a:r>
            <a:endParaRPr b="1" i="1"/>
          </a:p>
          <a:p>
            <a:pPr indent="-171450" lvl="0" marL="171450" marR="0" rtl="0" algn="l">
              <a:lnSpc>
                <a:spcPct val="100000"/>
              </a:lnSpc>
              <a:spcBef>
                <a:spcPts val="0"/>
              </a:spcBef>
              <a:spcAft>
                <a:spcPts val="0"/>
              </a:spcAft>
              <a:buClr>
                <a:schemeClr val="dk1"/>
              </a:buClr>
              <a:buSzPts val="1200"/>
              <a:buFont typeface="Arial"/>
              <a:buChar char="•"/>
            </a:pPr>
            <a:r>
              <a:rPr lang="en-US"/>
              <a:t>Una vez que el agotamiento persiste, la persona empieza a “desconectarse” emocionalmente del trabajo, de sus tareas y de sus compañeros. </a:t>
            </a:r>
            <a:endParaRPr/>
          </a:p>
          <a:p>
            <a:pPr indent="-171450" lvl="0" marL="171450" marR="0" rtl="0" algn="l">
              <a:lnSpc>
                <a:spcPct val="100000"/>
              </a:lnSpc>
              <a:spcBef>
                <a:spcPts val="0"/>
              </a:spcBef>
              <a:spcAft>
                <a:spcPts val="0"/>
              </a:spcAft>
              <a:buClr>
                <a:schemeClr val="dk1"/>
              </a:buClr>
              <a:buSzPts val="1200"/>
              <a:buFont typeface="Arial"/>
              <a:buChar char="•"/>
            </a:pPr>
            <a:r>
              <a:rPr lang="en-US"/>
              <a:t>Aparece una actitud de distanciamiento, apatía, “ya no me importa tanto”, “esto no vale la pena”.</a:t>
            </a:r>
            <a:endParaRPr/>
          </a:p>
          <a:p>
            <a:pPr indent="-171450" lvl="0" marL="171450" marR="0" rtl="0" algn="l">
              <a:lnSpc>
                <a:spcPct val="100000"/>
              </a:lnSpc>
              <a:spcBef>
                <a:spcPts val="0"/>
              </a:spcBef>
              <a:spcAft>
                <a:spcPts val="0"/>
              </a:spcAft>
              <a:buClr>
                <a:schemeClr val="dk1"/>
              </a:buClr>
              <a:buSzPts val="1200"/>
              <a:buFont typeface="Arial"/>
              <a:buChar char="•"/>
            </a:pPr>
            <a:r>
              <a:rPr lang="en-US"/>
              <a:t>La desconexión comienza a afectar la colaboración, innovación, clima laboral, y la persona ya no es “embajadora” sino “sobreviviente” del trabajo. </a:t>
            </a:r>
            <a:endParaRPr/>
          </a:p>
          <a:p>
            <a:pPr indent="-171450" lvl="0" marL="171450" marR="0" rtl="0" algn="l">
              <a:lnSpc>
                <a:spcPct val="100000"/>
              </a:lnSpc>
              <a:spcBef>
                <a:spcPts val="0"/>
              </a:spcBef>
              <a:spcAft>
                <a:spcPts val="0"/>
              </a:spcAft>
              <a:buClr>
                <a:schemeClr val="dk1"/>
              </a:buClr>
              <a:buSzPts val="1200"/>
              <a:buFont typeface="Arial"/>
              <a:buChar char="•"/>
            </a:pPr>
            <a:r>
              <a:rPr lang="en-US"/>
              <a:t>Aquí es clave que el colaborador y su líder detecten que la persona no solo está cansada, sino que su vínculo con el rol y el equipo está menguando.</a:t>
            </a:r>
            <a:endParaRPr/>
          </a:p>
          <a:p>
            <a:pPr indent="0" lvl="0" marL="0" marR="0" rtl="0" algn="l">
              <a:lnSpc>
                <a:spcPct val="100000"/>
              </a:lnSpc>
              <a:spcBef>
                <a:spcPts val="0"/>
              </a:spcBef>
              <a:spcAft>
                <a:spcPts val="0"/>
              </a:spcAft>
              <a:buClr>
                <a:schemeClr val="dk1"/>
              </a:buClr>
              <a:buSzPts val="1200"/>
              <a:buFont typeface="Arial"/>
              <a:buNone/>
            </a:pPr>
            <a:r>
              <a:t/>
            </a:r>
            <a:endParaRPr i="1"/>
          </a:p>
          <a:p>
            <a:pPr indent="0" lvl="0" marL="0" marR="0" rtl="0" algn="l">
              <a:lnSpc>
                <a:spcPct val="100000"/>
              </a:lnSpc>
              <a:spcBef>
                <a:spcPts val="0"/>
              </a:spcBef>
              <a:spcAft>
                <a:spcPts val="0"/>
              </a:spcAft>
              <a:buClr>
                <a:schemeClr val="dk1"/>
              </a:buClr>
              <a:buSzPts val="1200"/>
              <a:buFont typeface="Arial"/>
              <a:buNone/>
            </a:pPr>
            <a:r>
              <a:rPr i="1" lang="en-US">
                <a:highlight>
                  <a:srgbClr val="FFFF00"/>
                </a:highlight>
              </a:rPr>
              <a:t>[Que el ejemplo vaya dentro de un cuadro de texto para resaltarlo]</a:t>
            </a:r>
            <a:endParaRPr i="1">
              <a:highlight>
                <a:srgbClr val="FFFF00"/>
              </a:highlight>
            </a:endParaRPr>
          </a:p>
          <a:p>
            <a:pPr indent="0" lvl="0" marL="0" marR="0" rtl="0" algn="l">
              <a:lnSpc>
                <a:spcPct val="100000"/>
              </a:lnSpc>
              <a:spcBef>
                <a:spcPts val="0"/>
              </a:spcBef>
              <a:spcAft>
                <a:spcPts val="0"/>
              </a:spcAft>
              <a:buClr>
                <a:schemeClr val="dk1"/>
              </a:buClr>
              <a:buSzPts val="1200"/>
              <a:buFont typeface="Arial"/>
              <a:buNone/>
            </a:pPr>
            <a:r>
              <a:rPr b="1" lang="en-US"/>
              <a:t>Ejemplo: </a:t>
            </a:r>
            <a:r>
              <a:rPr lang="en-US"/>
              <a:t>el coordinador de marketing ya no propone ideas nuevas como antes, cuando el líder le pide opinión responde con apatía: “como digas”. Evita interactuar con otros departamentos y cumple lo mínimo.</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i="1" lang="en-US"/>
              <a:t>BOTÓN:   Etapa 3: Reducción de la eficacia profesional/baja realización personal</a:t>
            </a:r>
            <a:endParaRPr b="1" i="1"/>
          </a:p>
          <a:p>
            <a:pPr indent="-171450" lvl="0" marL="171450" marR="0" rtl="0" algn="l">
              <a:lnSpc>
                <a:spcPct val="100000"/>
              </a:lnSpc>
              <a:spcBef>
                <a:spcPts val="0"/>
              </a:spcBef>
              <a:spcAft>
                <a:spcPts val="0"/>
              </a:spcAft>
              <a:buClr>
                <a:schemeClr val="dk1"/>
              </a:buClr>
              <a:buSzPts val="1200"/>
              <a:buFont typeface="Arial"/>
              <a:buChar char="•"/>
            </a:pPr>
            <a:r>
              <a:rPr lang="en-US"/>
              <a:t>En esta fase la persona siente que: “no rinde como antes”,“no logro lo que debería”, “mi trabajo no tiene impacto”,“me cuesta concentrarme y tomar decisiones”</a:t>
            </a:r>
            <a:endParaRPr/>
          </a:p>
          <a:p>
            <a:pPr indent="-171450" lvl="0" marL="171450" marR="0" rtl="0" algn="l">
              <a:lnSpc>
                <a:spcPct val="100000"/>
              </a:lnSpc>
              <a:spcBef>
                <a:spcPts val="0"/>
              </a:spcBef>
              <a:spcAft>
                <a:spcPts val="0"/>
              </a:spcAft>
              <a:buClr>
                <a:schemeClr val="dk1"/>
              </a:buClr>
              <a:buSzPts val="1200"/>
              <a:buFont typeface="Arial"/>
              <a:buChar char="•"/>
            </a:pPr>
            <a:r>
              <a:rPr lang="en-US"/>
              <a:t>Siente que hay mayor retrabajo, falta de calidad, frustración, y el riesgo de salida del puesto, absentismo o sanciones. </a:t>
            </a:r>
            <a:endParaRPr/>
          </a:p>
          <a:p>
            <a:pPr indent="-171450" lvl="0" marL="171450" marR="0" rtl="0" algn="l">
              <a:lnSpc>
                <a:spcPct val="100000"/>
              </a:lnSpc>
              <a:spcBef>
                <a:spcPts val="0"/>
              </a:spcBef>
              <a:spcAft>
                <a:spcPts val="0"/>
              </a:spcAft>
              <a:buClr>
                <a:schemeClr val="dk1"/>
              </a:buClr>
              <a:buSzPts val="1200"/>
              <a:buFont typeface="Arial"/>
              <a:buChar char="•"/>
            </a:pPr>
            <a:r>
              <a:rPr lang="en-US"/>
              <a:t>Esta fase indica que el burnout está avanzado y que se necesitan acciones más estructurales, tanto a nivel de la organización como en el enfoque individual.</a:t>
            </a:r>
            <a:endParaRPr/>
          </a:p>
          <a:p>
            <a:pPr indent="0" lvl="0" marL="0" marR="0" rtl="0" algn="l">
              <a:lnSpc>
                <a:spcPct val="100000"/>
              </a:lnSpc>
              <a:spcBef>
                <a:spcPts val="0"/>
              </a:spcBef>
              <a:spcAft>
                <a:spcPts val="0"/>
              </a:spcAft>
              <a:buClr>
                <a:schemeClr val="dk1"/>
              </a:buClr>
              <a:buSzPts val="1200"/>
              <a:buFont typeface="Arial"/>
              <a:buNone/>
            </a:pPr>
            <a:r>
              <a:t/>
            </a:r>
            <a:endParaRPr i="1"/>
          </a:p>
          <a:p>
            <a:pPr indent="0" lvl="0" marL="0" marR="0" rtl="0" algn="l">
              <a:lnSpc>
                <a:spcPct val="100000"/>
              </a:lnSpc>
              <a:spcBef>
                <a:spcPts val="0"/>
              </a:spcBef>
              <a:spcAft>
                <a:spcPts val="0"/>
              </a:spcAft>
              <a:buClr>
                <a:schemeClr val="dk1"/>
              </a:buClr>
              <a:buSzPts val="1200"/>
              <a:buFont typeface="Arial"/>
              <a:buNone/>
            </a:pPr>
            <a:r>
              <a:rPr i="1" lang="en-US">
                <a:highlight>
                  <a:srgbClr val="FFFF00"/>
                </a:highlight>
              </a:rPr>
              <a:t>[Que el ejemplo vaya dentro de un cuadro de texto para resaltarlo]</a:t>
            </a:r>
            <a:endParaRPr i="1">
              <a:highlight>
                <a:srgbClr val="FFFF00"/>
              </a:highlight>
            </a:endParaRPr>
          </a:p>
          <a:p>
            <a:pPr indent="0" lvl="0" marL="0" marR="0" rtl="0" algn="l">
              <a:lnSpc>
                <a:spcPct val="100000"/>
              </a:lnSpc>
              <a:spcBef>
                <a:spcPts val="0"/>
              </a:spcBef>
              <a:spcAft>
                <a:spcPts val="0"/>
              </a:spcAft>
              <a:buClr>
                <a:schemeClr val="dk1"/>
              </a:buClr>
              <a:buSzPts val="1200"/>
              <a:buFont typeface="Arial"/>
              <a:buNone/>
            </a:pPr>
            <a:r>
              <a:rPr lang="en-US"/>
              <a:t>Ejemplo: un analista senior que antes entregaba informes impecables ahora recibe retroalimentación frecuente de errores, revisiones adicionales, y siente que “ya no soy el mismo”. Su autoestima profesional baja.</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i="1" lang="en-US"/>
              <a:t>BOTÓN:  Etapa 4: Automatismo / abandono</a:t>
            </a:r>
            <a:endParaRPr b="1" i="1"/>
          </a:p>
          <a:p>
            <a:pPr indent="0" lvl="0" marL="0" marR="0" rtl="0" algn="l">
              <a:lnSpc>
                <a:spcPct val="100000"/>
              </a:lnSpc>
              <a:spcBef>
                <a:spcPts val="0"/>
              </a:spcBef>
              <a:spcAft>
                <a:spcPts val="0"/>
              </a:spcAft>
              <a:buClr>
                <a:schemeClr val="dk1"/>
              </a:buClr>
              <a:buSzPts val="1200"/>
              <a:buFont typeface="Arial"/>
              <a:buNone/>
            </a:pPr>
            <a:r>
              <a:rPr lang="en-US"/>
              <a:t>Algunos autores amplían el modelo del proceso a una cuarta fase donde la persona ya opera en piloto automático, se desvincula totalmente, tiene alto riesgo de rotación, colapso o enfermedad. Aunque Maslach y Jackson enfatizan las tres dimensiones, la mayoría de los programas de intervención reconocen esta fase. Si bien queremos prevenir antes de llegar aquí, es útil conocerla para reconocer que un colaborador puede necesitar apoyo urgente. </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i="1" lang="en-US">
                <a:highlight>
                  <a:srgbClr val="FFFF00"/>
                </a:highlight>
              </a:rPr>
              <a:t>[Que el ejemplo vaya dentro de un cuadro de texto para resaltarlo]</a:t>
            </a:r>
            <a:endParaRPr i="1">
              <a:highlight>
                <a:srgbClr val="FFFF00"/>
              </a:highlight>
            </a:endParaRPr>
          </a:p>
          <a:p>
            <a:pPr indent="0" lvl="0" marL="0" marR="0" rtl="0" algn="l">
              <a:lnSpc>
                <a:spcPct val="100000"/>
              </a:lnSpc>
              <a:spcBef>
                <a:spcPts val="0"/>
              </a:spcBef>
              <a:spcAft>
                <a:spcPts val="0"/>
              </a:spcAft>
              <a:buClr>
                <a:schemeClr val="dk1"/>
              </a:buClr>
              <a:buSzPts val="1200"/>
              <a:buFont typeface="Arial"/>
              <a:buNone/>
            </a:pPr>
            <a:r>
              <a:rPr b="1" lang="en-US"/>
              <a:t>Ejemplo: </a:t>
            </a:r>
            <a:r>
              <a:rPr lang="en-US"/>
              <a:t>un gerente que ya “no aparece en las reuniones”, delega todo sin supervisión, no responde correos, y la empresa recibe quejas de clientes, pero no responde igual.</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t/>
            </a:r>
            <a:endParaRPr/>
          </a:p>
        </p:txBody>
      </p:sp>
      <p:sp>
        <p:nvSpPr>
          <p:cNvPr id="159" name="Google Shape;15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texto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instrucción</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los dos íconos con su título que serán botones que al hacer clic aparecerá el contenido correspondiente dentra de la caja de texto:</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i="1" lang="en-US"/>
              <a:t>BOTÓN: </a:t>
            </a:r>
            <a:r>
              <a:rPr b="1" i="1" lang="en-US">
                <a:solidFill>
                  <a:srgbClr val="3C3939"/>
                </a:solidFill>
                <a:latin typeface="Arial"/>
                <a:ea typeface="Arial"/>
                <a:cs typeface="Arial"/>
                <a:sym typeface="Arial"/>
              </a:rPr>
              <a:t>Estrés</a:t>
            </a:r>
            <a:endParaRPr b="1" i="1">
              <a:solidFill>
                <a:srgbClr val="3C3939"/>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lang="en-US"/>
              <a:t>El estrés es una respuesta a demandas elevadas y puede ser temporal; bien gestionado, incluso puede impulsar el desempeño por periodos cortos. </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i="1" lang="en-US">
                <a:solidFill>
                  <a:srgbClr val="3C3939"/>
                </a:solidFill>
                <a:latin typeface="Arial"/>
                <a:ea typeface="Arial"/>
                <a:cs typeface="Arial"/>
                <a:sym typeface="Arial"/>
              </a:rPr>
              <a:t>BOTÓN: Burnout</a:t>
            </a:r>
            <a:endParaRPr b="1" i="1">
              <a:solidFill>
                <a:srgbClr val="3C3939"/>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lang="en-US"/>
              <a:t>El burnout es la cronificación del estrés laboral sin manejo eficaz y con deterioro en energía, vínculo con el trabajo y eficacia. Suele estar precedido por episodios repetidos de estrés.</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i="1" lang="en-US">
                <a:solidFill>
                  <a:srgbClr val="3C3939"/>
                </a:solidFill>
              </a:rPr>
              <a:t>BOTÓN: Cuadro comparativo</a:t>
            </a:r>
            <a:endParaRPr b="1" i="1">
              <a:solidFill>
                <a:srgbClr val="3C3939"/>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i="1" lang="en-US">
                <a:solidFill>
                  <a:srgbClr val="3C3939"/>
                </a:solidFill>
              </a:rPr>
              <a:t>Al hacer clic en este botón, aparecerá en una ventana popup la tabla que se presenta en la diapositiva 9 de este guion</a:t>
            </a:r>
            <a:endParaRPr i="1">
              <a:solidFill>
                <a:srgbClr val="3C3939"/>
              </a:solidFill>
            </a:endParaRPr>
          </a:p>
          <a:p>
            <a:pPr indent="0" lvl="0" marL="0" marR="0" rtl="0" algn="l">
              <a:lnSpc>
                <a:spcPct val="100000"/>
              </a:lnSpc>
              <a:spcBef>
                <a:spcPts val="0"/>
              </a:spcBef>
              <a:spcAft>
                <a:spcPts val="0"/>
              </a:spcAft>
              <a:buClr>
                <a:schemeClr val="dk1"/>
              </a:buClr>
              <a:buSzPts val="1200"/>
              <a:buFont typeface="Arial"/>
              <a:buNone/>
            </a:pPr>
            <a:r>
              <a:t/>
            </a:r>
            <a:endParaRPr i="1">
              <a:solidFill>
                <a:srgbClr val="3C3939"/>
              </a:solidFill>
            </a:endParaRPr>
          </a:p>
          <a:p>
            <a:pPr indent="0" lvl="0" marL="0" marR="0" rtl="0" algn="l">
              <a:lnSpc>
                <a:spcPct val="100000"/>
              </a:lnSpc>
              <a:spcBef>
                <a:spcPts val="0"/>
              </a:spcBef>
              <a:spcAft>
                <a:spcPts val="0"/>
              </a:spcAft>
              <a:buClr>
                <a:schemeClr val="dk1"/>
              </a:buClr>
              <a:buSzPts val="1200"/>
              <a:buFont typeface="Arial"/>
              <a:buNone/>
            </a:pPr>
            <a:r>
              <a:rPr b="1" i="1" lang="en-US">
                <a:solidFill>
                  <a:srgbClr val="3C3939"/>
                </a:solidFill>
              </a:rPr>
              <a:t>BOTÓN: Revisa el ejemplo</a:t>
            </a:r>
            <a:endParaRPr b="1" i="1">
              <a:solidFill>
                <a:srgbClr val="3C3939"/>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i="1" lang="en-US">
                <a:solidFill>
                  <a:srgbClr val="3C3939"/>
                </a:solidFill>
              </a:rPr>
              <a:t>Al hacer clic en este botón, se reproducirá en una ventana popup lel video del </a:t>
            </a:r>
            <a:r>
              <a:rPr i="1" lang="en-US" u="sng"/>
              <a:t>guion_03_Burnout_video_ejemplo</a:t>
            </a:r>
            <a:endParaRPr i="1" u="sng"/>
          </a:p>
        </p:txBody>
      </p:sp>
      <p:sp>
        <p:nvSpPr>
          <p:cNvPr id="175" name="Google Shape;17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92" name="Google Shape;19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texto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instrucción</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los dos íconos con su título que serán botones que al hacer clic aparecerá el contenido correspondiente dentra de la caja de texto:</a:t>
            </a:r>
            <a:endParaRPr/>
          </a:p>
          <a:p>
            <a:pPr indent="0" lvl="0" marL="0" marR="0" rtl="0" algn="l">
              <a:lnSpc>
                <a:spcPct val="100000"/>
              </a:lnSpc>
              <a:spcBef>
                <a:spcPts val="0"/>
              </a:spcBef>
              <a:spcAft>
                <a:spcPts val="0"/>
              </a:spcAft>
              <a:buClr>
                <a:schemeClr val="dk1"/>
              </a:buClr>
              <a:buSzPts val="1200"/>
              <a:buFont typeface="Arial"/>
              <a:buNone/>
            </a:pPr>
            <a:r>
              <a:t/>
            </a:r>
            <a:endParaRPr b="1" i="1"/>
          </a:p>
          <a:p>
            <a:pPr indent="0" lvl="0" marL="0" marR="0" rtl="0" algn="l">
              <a:lnSpc>
                <a:spcPct val="100000"/>
              </a:lnSpc>
              <a:spcBef>
                <a:spcPts val="0"/>
              </a:spcBef>
              <a:spcAft>
                <a:spcPts val="0"/>
              </a:spcAft>
              <a:buClr>
                <a:schemeClr val="dk1"/>
              </a:buClr>
              <a:buSzPts val="1200"/>
              <a:buFont typeface="Arial"/>
              <a:buNone/>
            </a:pPr>
            <a:r>
              <a:rPr b="1" i="1" lang="en-US"/>
              <a:t>BOTÓN: </a:t>
            </a:r>
            <a:r>
              <a:rPr b="1" lang="en-US">
                <a:solidFill>
                  <a:srgbClr val="C55A11"/>
                </a:solidFill>
              </a:rPr>
              <a:t>Salud física y emocional</a:t>
            </a:r>
            <a:endParaRPr b="1">
              <a:solidFill>
                <a:srgbClr val="C55A11"/>
              </a:solidFill>
            </a:endParaRPr>
          </a:p>
          <a:p>
            <a:pPr indent="0" lvl="0" marL="0" marR="0" rtl="0" algn="l">
              <a:lnSpc>
                <a:spcPct val="100000"/>
              </a:lnSpc>
              <a:spcBef>
                <a:spcPts val="0"/>
              </a:spcBef>
              <a:spcAft>
                <a:spcPts val="0"/>
              </a:spcAft>
              <a:buClr>
                <a:schemeClr val="dk1"/>
              </a:buClr>
              <a:buSzPts val="1200"/>
              <a:buFont typeface="Arial"/>
              <a:buNone/>
            </a:pPr>
            <a:r>
              <a:rPr i="1" lang="en-US">
                <a:solidFill>
                  <a:srgbClr val="3C3939"/>
                </a:solidFill>
              </a:rPr>
              <a:t>Al hacer clic en este botón, aparecerá en una ventana popup la tabla que se presenta en la diapositiva 11 de este guion</a:t>
            </a:r>
            <a:endParaRPr i="1">
              <a:solidFill>
                <a:srgbClr val="3C3939"/>
              </a:solidFill>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lang="en-US">
                <a:solidFill>
                  <a:srgbClr val="3C3939"/>
                </a:solidFill>
                <a:latin typeface="Arial"/>
                <a:ea typeface="Arial"/>
                <a:cs typeface="Arial"/>
                <a:sym typeface="Arial"/>
              </a:rPr>
              <a:t>BOTÓN: </a:t>
            </a:r>
            <a:r>
              <a:rPr b="1" lang="en-US">
                <a:solidFill>
                  <a:srgbClr val="C55A11"/>
                </a:solidFill>
              </a:rPr>
              <a:t>Rendimiento y la forma de trabajar</a:t>
            </a:r>
            <a:endParaRPr b="1">
              <a:solidFill>
                <a:srgbClr val="3C3939"/>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i="1" lang="en-US">
                <a:solidFill>
                  <a:srgbClr val="3C3939"/>
                </a:solidFill>
              </a:rPr>
              <a:t>Al hacer clic en este botón, aparecerá en una ventana popup la tabla que se presenta en la diapositiva 12 de este guion</a:t>
            </a:r>
            <a:endParaRPr i="1">
              <a:solidFill>
                <a:srgbClr val="3C3939"/>
              </a:solidFill>
            </a:endParaRPr>
          </a:p>
          <a:p>
            <a:pPr indent="0" lvl="0" marL="0" marR="0" rtl="0" algn="l">
              <a:lnSpc>
                <a:spcPct val="100000"/>
              </a:lnSpc>
              <a:spcBef>
                <a:spcPts val="0"/>
              </a:spcBef>
              <a:spcAft>
                <a:spcPts val="0"/>
              </a:spcAft>
              <a:buClr>
                <a:schemeClr val="dk1"/>
              </a:buClr>
              <a:buSzPts val="1200"/>
              <a:buFont typeface="Arial"/>
              <a:buNone/>
            </a:pPr>
            <a:r>
              <a:t/>
            </a:r>
            <a:endParaRPr i="1">
              <a:solidFill>
                <a:srgbClr val="3C3939"/>
              </a:solidFill>
            </a:endParaRPr>
          </a:p>
          <a:p>
            <a:pPr indent="0" lvl="0" marL="0" marR="0" rtl="0" algn="l">
              <a:lnSpc>
                <a:spcPct val="100000"/>
              </a:lnSpc>
              <a:spcBef>
                <a:spcPts val="0"/>
              </a:spcBef>
              <a:spcAft>
                <a:spcPts val="0"/>
              </a:spcAft>
              <a:buClr>
                <a:schemeClr val="dk1"/>
              </a:buClr>
              <a:buSzPts val="1200"/>
              <a:buFont typeface="Arial"/>
              <a:buNone/>
            </a:pPr>
            <a:r>
              <a:rPr b="1" i="1" lang="en-US"/>
              <a:t>BOTÓN: </a:t>
            </a:r>
            <a:r>
              <a:rPr b="1" i="1" lang="en-US">
                <a:solidFill>
                  <a:schemeClr val="lt1"/>
                </a:solidFill>
              </a:rPr>
              <a:t>¿Por qué importa actuar ahora?</a:t>
            </a:r>
            <a:endParaRPr b="1" i="1">
              <a:solidFill>
                <a:schemeClr val="lt1"/>
              </a:solidFill>
            </a:endParaRPr>
          </a:p>
          <a:p>
            <a:pPr indent="0" lvl="0" marL="0" marR="0" rtl="0" algn="l">
              <a:lnSpc>
                <a:spcPct val="100000"/>
              </a:lnSpc>
              <a:spcBef>
                <a:spcPts val="0"/>
              </a:spcBef>
              <a:spcAft>
                <a:spcPts val="0"/>
              </a:spcAft>
              <a:buClr>
                <a:schemeClr val="dk1"/>
              </a:buClr>
              <a:buSzPts val="1200"/>
              <a:buFont typeface="Arial"/>
              <a:buNone/>
            </a:pPr>
            <a:r>
              <a:rPr lang="en-US"/>
              <a:t>Porque no sólo es un mal rato, es un problema que puede escalar: un bajo rendimiento hoy puede derivar en: </a:t>
            </a:r>
            <a:endParaRPr/>
          </a:p>
          <a:p>
            <a:pPr indent="-171450" lvl="0" marL="171450" marR="0" rtl="0" algn="l">
              <a:lnSpc>
                <a:spcPct val="100000"/>
              </a:lnSpc>
              <a:spcBef>
                <a:spcPts val="0"/>
              </a:spcBef>
              <a:spcAft>
                <a:spcPts val="0"/>
              </a:spcAft>
              <a:buClr>
                <a:schemeClr val="dk1"/>
              </a:buClr>
              <a:buSzPts val="1200"/>
              <a:buFont typeface="Arial"/>
              <a:buChar char="•"/>
            </a:pPr>
            <a:r>
              <a:rPr lang="en-US"/>
              <a:t>Incapacidad médica</a:t>
            </a:r>
            <a:endParaRPr/>
          </a:p>
          <a:p>
            <a:pPr indent="-171450" lvl="0" marL="171450" marR="0" rtl="0" algn="l">
              <a:lnSpc>
                <a:spcPct val="100000"/>
              </a:lnSpc>
              <a:spcBef>
                <a:spcPts val="0"/>
              </a:spcBef>
              <a:spcAft>
                <a:spcPts val="0"/>
              </a:spcAft>
              <a:buClr>
                <a:schemeClr val="dk1"/>
              </a:buClr>
              <a:buSzPts val="1200"/>
              <a:buFont typeface="Arial"/>
              <a:buChar char="•"/>
            </a:pPr>
            <a:r>
              <a:rPr lang="en-US"/>
              <a:t>Renuncia</a:t>
            </a:r>
            <a:endParaRPr/>
          </a:p>
          <a:p>
            <a:pPr indent="-171450" lvl="0" marL="171450" marR="0" rtl="0" algn="l">
              <a:lnSpc>
                <a:spcPct val="100000"/>
              </a:lnSpc>
              <a:spcBef>
                <a:spcPts val="0"/>
              </a:spcBef>
              <a:spcAft>
                <a:spcPts val="0"/>
              </a:spcAft>
              <a:buClr>
                <a:schemeClr val="dk1"/>
              </a:buClr>
              <a:buSzPts val="1200"/>
              <a:buFont typeface="Arial"/>
              <a:buChar char="•"/>
            </a:pPr>
            <a:r>
              <a:rPr lang="en-US"/>
              <a:t>Traslado forzoso </a:t>
            </a:r>
            <a:endParaRPr/>
          </a:p>
          <a:p>
            <a:pPr indent="-171450" lvl="0" marL="171450" marR="0" rtl="0" algn="l">
              <a:lnSpc>
                <a:spcPct val="100000"/>
              </a:lnSpc>
              <a:spcBef>
                <a:spcPts val="0"/>
              </a:spcBef>
              <a:spcAft>
                <a:spcPts val="0"/>
              </a:spcAft>
              <a:buClr>
                <a:schemeClr val="dk1"/>
              </a:buClr>
              <a:buSzPts val="1200"/>
              <a:buFont typeface="Arial"/>
              <a:buChar char="•"/>
            </a:pPr>
            <a:r>
              <a:rPr lang="en-US"/>
              <a:t>Situación de salud grave mañana</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lang="en-US"/>
              <a:t>Porque si actúas temprano, puedes recuperar bienestar, motivación y rendimiento. </a:t>
            </a:r>
            <a:endParaRPr/>
          </a:p>
          <a:p>
            <a:pPr indent="0" lvl="0" marL="0" marR="0" rtl="0" algn="l">
              <a:lnSpc>
                <a:spcPct val="100000"/>
              </a:lnSpc>
              <a:spcBef>
                <a:spcPts val="0"/>
              </a:spcBef>
              <a:spcAft>
                <a:spcPts val="0"/>
              </a:spcAft>
              <a:buClr>
                <a:schemeClr val="dk1"/>
              </a:buClr>
              <a:buSzPts val="1200"/>
              <a:buFont typeface="Arial"/>
              <a:buNone/>
            </a:pPr>
            <a:r>
              <a:rPr lang="en-US"/>
              <a:t>Como dice la normativa NOM-035-STPS-2018, es responsabilidad compartida: tanto tú como empresa pueden hacer ajustes para que esto no siga empeorando.</a:t>
            </a:r>
            <a:endParaRPr/>
          </a:p>
        </p:txBody>
      </p:sp>
      <p:sp>
        <p:nvSpPr>
          <p:cNvPr id="201" name="Google Shape;20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214" name="Google Shape;21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227" name="Google Shape;22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título  resaltarlo</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el contenido</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el ícono de quizz e incrustar el ejercicio interactivo del </a:t>
            </a:r>
            <a:r>
              <a:rPr b="0" i="1" lang="en-US" sz="1200" u="none" cap="none" strike="noStrike">
                <a:solidFill>
                  <a:schemeClr val="dk1"/>
                </a:solidFill>
                <a:latin typeface="Roboto"/>
                <a:ea typeface="Roboto"/>
                <a:cs typeface="Roboto"/>
                <a:sym typeface="Roboto"/>
              </a:rPr>
              <a:t>guion_04_Burnout_interactivo_test</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Recurso: Interactivo</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Formato: HT</a:t>
            </a:r>
            <a:r>
              <a:rPr b="0" lang="en-US" sz="1200" u="none" cap="none" strike="noStrike">
                <a:solidFill>
                  <a:schemeClr val="dk1"/>
                </a:solidFill>
                <a:latin typeface="Roboto"/>
                <a:ea typeface="Roboto"/>
                <a:cs typeface="Roboto"/>
                <a:sym typeface="Roboto"/>
              </a:rPr>
              <a:t>ML5 o SCORM / Genially</a:t>
            </a:r>
            <a:endParaRPr b="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200" u="none" cap="none" strike="noStrike">
                <a:solidFill>
                  <a:schemeClr val="dk1"/>
                </a:solidFill>
                <a:latin typeface="Roboto"/>
                <a:ea typeface="Roboto"/>
                <a:cs typeface="Roboto"/>
                <a:sym typeface="Roboto"/>
              </a:rPr>
              <a:t>Nomenclatura: </a:t>
            </a:r>
            <a:r>
              <a:rPr lang="en-US">
                <a:latin typeface="Roboto"/>
                <a:ea typeface="Roboto"/>
                <a:cs typeface="Roboto"/>
                <a:sym typeface="Roboto"/>
              </a:rPr>
              <a:t>guion_04_Burnout_interactivo_test</a:t>
            </a:r>
            <a:endParaRPr b="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Integración: Página</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Responsable: Gráfico y Programación</a:t>
            </a:r>
            <a:endParaRPr b="0" i="0" sz="1200" u="none" cap="none" strike="noStrike">
              <a:solidFill>
                <a:schemeClr val="dk1"/>
              </a:solidFill>
              <a:latin typeface="Roboto"/>
              <a:ea typeface="Roboto"/>
              <a:cs typeface="Roboto"/>
              <a:sym typeface="Roboto"/>
            </a:endParaRPr>
          </a:p>
        </p:txBody>
      </p:sp>
      <p:sp>
        <p:nvSpPr>
          <p:cNvPr id="240" name="Google Shape;24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Calibri"/>
                <a:ea typeface="Calibri"/>
                <a:cs typeface="Calibri"/>
                <a:sym typeface="Calibri"/>
              </a:rPr>
              <a:t>Utilizar imagen </a:t>
            </a:r>
            <a:r>
              <a:rPr b="0" i="1" lang="en-US" sz="1200" u="none" cap="none" strike="noStrike">
                <a:solidFill>
                  <a:schemeClr val="dk1"/>
                </a:solidFill>
                <a:latin typeface="Calibri"/>
                <a:ea typeface="Calibri"/>
                <a:cs typeface="Calibri"/>
                <a:sym typeface="Calibri"/>
              </a:rPr>
              <a:t>003_Burnout_GS1</a:t>
            </a:r>
            <a:endParaRPr b="0" i="1"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Arial"/>
              <a:buNone/>
            </a:pPr>
            <a:r>
              <a:t/>
            </a:r>
            <a:endParaRPr b="0" i="1" sz="1200" u="none" cap="none" strike="noStrike">
              <a:solidFill>
                <a:schemeClr val="dk1"/>
              </a:solidFill>
              <a:latin typeface="Calibri"/>
              <a:ea typeface="Calibri"/>
              <a:cs typeface="Calibri"/>
              <a:sym typeface="Calibri"/>
            </a:endParaRPr>
          </a:p>
        </p:txBody>
      </p:sp>
      <p:sp>
        <p:nvSpPr>
          <p:cNvPr id="249" name="Google Shape;24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317500" lvl="0" marL="457200" marR="0" rtl="0" algn="l">
              <a:lnSpc>
                <a:spcPct val="100000"/>
              </a:lnSpc>
              <a:spcBef>
                <a:spcPts val="0"/>
              </a:spcBef>
              <a:spcAft>
                <a:spcPts val="0"/>
              </a:spcAft>
              <a:buSzPts val="1400"/>
              <a:buFont typeface="Calibri"/>
              <a:buChar char="●"/>
            </a:pPr>
            <a:r>
              <a:rPr lang="en-US">
                <a:latin typeface="Calibri"/>
                <a:ea typeface="Calibri"/>
                <a:cs typeface="Calibri"/>
                <a:sym typeface="Calibri"/>
              </a:rPr>
              <a:t>Presentar el título</a:t>
            </a:r>
            <a:endParaRPr>
              <a:latin typeface="Calibri"/>
              <a:ea typeface="Calibri"/>
              <a:cs typeface="Calibri"/>
              <a:sym typeface="Calibri"/>
            </a:endParaRPr>
          </a:p>
          <a:p>
            <a:pPr indent="-317500" lvl="0" marL="457200" marR="0" rtl="0" algn="l">
              <a:lnSpc>
                <a:spcPct val="100000"/>
              </a:lnSpc>
              <a:spcBef>
                <a:spcPts val="0"/>
              </a:spcBef>
              <a:spcAft>
                <a:spcPts val="0"/>
              </a:spcAft>
              <a:buSzPts val="1400"/>
              <a:buFont typeface="Calibri"/>
              <a:buChar char="●"/>
            </a:pPr>
            <a:r>
              <a:rPr lang="en-US">
                <a:latin typeface="Calibri"/>
                <a:ea typeface="Calibri"/>
                <a:cs typeface="Calibri"/>
                <a:sym typeface="Calibri"/>
              </a:rPr>
              <a:t>Presentar el contenido</a:t>
            </a:r>
            <a:endParaRPr>
              <a:latin typeface="Calibri"/>
              <a:ea typeface="Calibri"/>
              <a:cs typeface="Calibri"/>
              <a:sym typeface="Calibri"/>
            </a:endParaRPr>
          </a:p>
          <a:p>
            <a:pPr indent="-317500" lvl="0" marL="457200" marR="0" rtl="0" algn="l">
              <a:lnSpc>
                <a:spcPct val="100000"/>
              </a:lnSpc>
              <a:spcBef>
                <a:spcPts val="0"/>
              </a:spcBef>
              <a:spcAft>
                <a:spcPts val="0"/>
              </a:spcAft>
              <a:buSzPts val="1400"/>
              <a:buFont typeface="Calibri"/>
              <a:buChar char="●"/>
            </a:pPr>
            <a:r>
              <a:rPr lang="en-US">
                <a:latin typeface="Calibri"/>
                <a:ea typeface="Calibri"/>
                <a:cs typeface="Calibri"/>
                <a:sym typeface="Calibri"/>
              </a:rPr>
              <a:t>Presentar un ícono o imagen que represente al contenido</a:t>
            </a:r>
            <a:endParaRPr>
              <a:latin typeface="Calibri"/>
              <a:ea typeface="Calibri"/>
              <a:cs typeface="Calibri"/>
              <a:sym typeface="Calibri"/>
            </a:endParaRPr>
          </a:p>
        </p:txBody>
      </p:sp>
      <p:sp>
        <p:nvSpPr>
          <p:cNvPr id="256" name="Google Shape;25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subtítulo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párrafo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instrucción</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Presentartres botones que al hacer clic aparecerá el contenido correspondiente dentro de la caja de texto</a:t>
            </a:r>
            <a:endParaRPr/>
          </a:p>
          <a:p>
            <a:pPr indent="0" lvl="0" marL="0" marR="0" rtl="0" algn="l">
              <a:lnSpc>
                <a:spcPct val="100000"/>
              </a:lnSpc>
              <a:spcBef>
                <a:spcPts val="0"/>
              </a:spcBef>
              <a:spcAft>
                <a:spcPts val="0"/>
              </a:spcAft>
              <a:buClr>
                <a:schemeClr val="dk1"/>
              </a:buClr>
              <a:buSzPts val="1200"/>
              <a:buFont typeface="Arial"/>
              <a:buNone/>
            </a:pPr>
            <a:r>
              <a:t/>
            </a:r>
            <a:endParaRPr b="1" i="1"/>
          </a:p>
          <a:p>
            <a:pPr indent="0" lvl="0" marL="0" marR="0" rtl="0" algn="l">
              <a:lnSpc>
                <a:spcPct val="100000"/>
              </a:lnSpc>
              <a:spcBef>
                <a:spcPts val="0"/>
              </a:spcBef>
              <a:spcAft>
                <a:spcPts val="0"/>
              </a:spcAft>
              <a:buClr>
                <a:schemeClr val="dk1"/>
              </a:buClr>
              <a:buSzPts val="1200"/>
              <a:buFont typeface="Arial"/>
              <a:buNone/>
            </a:pPr>
            <a:r>
              <a:rPr b="1" i="1" lang="en-US"/>
              <a:t>BOTÓN: Señales emocionales: Lo que ocurre con los sentimientos</a:t>
            </a:r>
            <a:endParaRPr b="1" i="1"/>
          </a:p>
          <a:p>
            <a:pPr indent="-171450" lvl="0" marL="171450" marR="0" rtl="0" algn="l">
              <a:lnSpc>
                <a:spcPct val="100000"/>
              </a:lnSpc>
              <a:spcBef>
                <a:spcPts val="0"/>
              </a:spcBef>
              <a:spcAft>
                <a:spcPts val="0"/>
              </a:spcAft>
              <a:buClr>
                <a:schemeClr val="dk1"/>
              </a:buClr>
              <a:buSzPts val="1200"/>
              <a:buFont typeface="Arial"/>
              <a:buChar char="•"/>
            </a:pPr>
            <a:r>
              <a:rPr lang="en-US"/>
              <a:t>Irritabilidad o mal humor constante</a:t>
            </a:r>
            <a:endParaRPr/>
          </a:p>
          <a:p>
            <a:pPr indent="-171450" lvl="0" marL="171450" marR="0" rtl="0" algn="l">
              <a:lnSpc>
                <a:spcPct val="100000"/>
              </a:lnSpc>
              <a:spcBef>
                <a:spcPts val="0"/>
              </a:spcBef>
              <a:spcAft>
                <a:spcPts val="0"/>
              </a:spcAft>
              <a:buClr>
                <a:schemeClr val="dk1"/>
              </a:buClr>
              <a:buSzPts val="1200"/>
              <a:buFont typeface="Arial"/>
              <a:buChar char="•"/>
            </a:pPr>
            <a:r>
              <a:rPr lang="en-US"/>
              <a:t>Tristeza, desánimo o sensación de vacío</a:t>
            </a:r>
            <a:endParaRPr/>
          </a:p>
          <a:p>
            <a:pPr indent="-171450" lvl="0" marL="171450" marR="0" rtl="0" algn="l">
              <a:lnSpc>
                <a:spcPct val="100000"/>
              </a:lnSpc>
              <a:spcBef>
                <a:spcPts val="0"/>
              </a:spcBef>
              <a:spcAft>
                <a:spcPts val="0"/>
              </a:spcAft>
              <a:buClr>
                <a:schemeClr val="dk1"/>
              </a:buClr>
              <a:buSzPts val="1200"/>
              <a:buFont typeface="Arial"/>
              <a:buChar char="•"/>
            </a:pPr>
            <a:r>
              <a:rPr lang="en-US"/>
              <a:t>Pérdida de motivación y entusiasmo por el trabajo</a:t>
            </a:r>
            <a:endParaRPr/>
          </a:p>
          <a:p>
            <a:pPr indent="-171450" lvl="0" marL="171450" marR="0" rtl="0" algn="l">
              <a:lnSpc>
                <a:spcPct val="100000"/>
              </a:lnSpc>
              <a:spcBef>
                <a:spcPts val="0"/>
              </a:spcBef>
              <a:spcAft>
                <a:spcPts val="0"/>
              </a:spcAft>
              <a:buClr>
                <a:schemeClr val="dk1"/>
              </a:buClr>
              <a:buSzPts val="1200"/>
              <a:buFont typeface="Arial"/>
              <a:buChar char="•"/>
            </a:pPr>
            <a:r>
              <a:rPr lang="en-US"/>
              <a:t>Sensación de estar “al límite”</a:t>
            </a:r>
            <a:endParaRPr/>
          </a:p>
          <a:p>
            <a:pPr indent="-171450" lvl="0" marL="171450" marR="0" rtl="0" algn="l">
              <a:lnSpc>
                <a:spcPct val="100000"/>
              </a:lnSpc>
              <a:spcBef>
                <a:spcPts val="0"/>
              </a:spcBef>
              <a:spcAft>
                <a:spcPts val="0"/>
              </a:spcAft>
              <a:buClr>
                <a:schemeClr val="dk1"/>
              </a:buClr>
              <a:buSzPts val="1200"/>
              <a:buFont typeface="Arial"/>
              <a:buChar char="•"/>
            </a:pPr>
            <a:r>
              <a:rPr lang="en-US"/>
              <a:t>Menor interés en convivir con el equipo o participar</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lang="en-US"/>
              <a:t>Ejemplo en la oficina: </a:t>
            </a:r>
            <a:r>
              <a:rPr lang="en-US"/>
              <a:t>Sentir molestia ante solicitudes simples, pensar “ya no me importa” o evitar reuniones porque “no tengo ánimo”.</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i="1" lang="en-US"/>
              <a:t>BOTÓN: Señales cognitivas: Lo que ocurre en nuestra mente</a:t>
            </a:r>
            <a:endParaRPr b="1" i="1"/>
          </a:p>
          <a:p>
            <a:pPr indent="-171450" lvl="0" marL="171450" marR="0" rtl="0" algn="l">
              <a:lnSpc>
                <a:spcPct val="100000"/>
              </a:lnSpc>
              <a:spcBef>
                <a:spcPts val="0"/>
              </a:spcBef>
              <a:spcAft>
                <a:spcPts val="0"/>
              </a:spcAft>
              <a:buClr>
                <a:schemeClr val="dk1"/>
              </a:buClr>
              <a:buSzPts val="1200"/>
              <a:buFont typeface="Arial"/>
              <a:buChar char="•"/>
            </a:pPr>
            <a:r>
              <a:rPr lang="en-US"/>
              <a:t>Dificultad para concentrarse o tomar decisiones</a:t>
            </a:r>
            <a:endParaRPr/>
          </a:p>
          <a:p>
            <a:pPr indent="-171450" lvl="0" marL="171450" marR="0" rtl="0" algn="l">
              <a:lnSpc>
                <a:spcPct val="100000"/>
              </a:lnSpc>
              <a:spcBef>
                <a:spcPts val="0"/>
              </a:spcBef>
              <a:spcAft>
                <a:spcPts val="0"/>
              </a:spcAft>
              <a:buClr>
                <a:schemeClr val="dk1"/>
              </a:buClr>
              <a:buSzPts val="1200"/>
              <a:buFont typeface="Arial"/>
              <a:buChar char="•"/>
            </a:pPr>
            <a:r>
              <a:rPr lang="en-US"/>
              <a:t>Memoria dispersa o frecuentes olvidos</a:t>
            </a:r>
            <a:endParaRPr/>
          </a:p>
          <a:p>
            <a:pPr indent="-171450" lvl="0" marL="171450" marR="0" rtl="0" algn="l">
              <a:lnSpc>
                <a:spcPct val="100000"/>
              </a:lnSpc>
              <a:spcBef>
                <a:spcPts val="0"/>
              </a:spcBef>
              <a:spcAft>
                <a:spcPts val="0"/>
              </a:spcAft>
              <a:buClr>
                <a:schemeClr val="dk1"/>
              </a:buClr>
              <a:buSzPts val="1200"/>
              <a:buFont typeface="Arial"/>
              <a:buChar char="•"/>
            </a:pPr>
            <a:r>
              <a:rPr lang="en-US"/>
              <a:t>Pensamientos negativos: “ya no rindo”, “no soy suficiente”</a:t>
            </a:r>
            <a:endParaRPr/>
          </a:p>
          <a:p>
            <a:pPr indent="-171450" lvl="0" marL="171450" marR="0" rtl="0" algn="l">
              <a:lnSpc>
                <a:spcPct val="100000"/>
              </a:lnSpc>
              <a:spcBef>
                <a:spcPts val="0"/>
              </a:spcBef>
              <a:spcAft>
                <a:spcPts val="0"/>
              </a:spcAft>
              <a:buClr>
                <a:schemeClr val="dk1"/>
              </a:buClr>
              <a:buSzPts val="1200"/>
              <a:buFont typeface="Arial"/>
              <a:buChar char="•"/>
            </a:pPr>
            <a:r>
              <a:rPr lang="en-US"/>
              <a:t>Sentir que el esfuerzo ya no vale la pena</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lang="en-US"/>
              <a:t>Ejemplo en la oficina: </a:t>
            </a:r>
            <a:r>
              <a:rPr lang="en-US"/>
              <a:t>Revisar varias veces un mismo correo antes de enviarlo o cometer errores en tareas que antes dominabas.</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i="1" lang="en-US"/>
              <a:t>BOTÓN: Señales conductuales:  Lo que se nota en nuestras acciones</a:t>
            </a:r>
            <a:endParaRPr b="1" i="1"/>
          </a:p>
          <a:p>
            <a:pPr indent="-171450" lvl="0" marL="171450" marR="0" rtl="0" algn="l">
              <a:lnSpc>
                <a:spcPct val="100000"/>
              </a:lnSpc>
              <a:spcBef>
                <a:spcPts val="0"/>
              </a:spcBef>
              <a:spcAft>
                <a:spcPts val="0"/>
              </a:spcAft>
              <a:buClr>
                <a:schemeClr val="dk1"/>
              </a:buClr>
              <a:buSzPts val="1200"/>
              <a:buFont typeface="Arial"/>
              <a:buChar char="•"/>
            </a:pPr>
            <a:r>
              <a:rPr lang="en-US"/>
              <a:t>Retrasar entregas o hacer solo lo mínimo</a:t>
            </a:r>
            <a:endParaRPr/>
          </a:p>
          <a:p>
            <a:pPr indent="-171450" lvl="0" marL="171450" marR="0" rtl="0" algn="l">
              <a:lnSpc>
                <a:spcPct val="100000"/>
              </a:lnSpc>
              <a:spcBef>
                <a:spcPts val="0"/>
              </a:spcBef>
              <a:spcAft>
                <a:spcPts val="0"/>
              </a:spcAft>
              <a:buClr>
                <a:schemeClr val="dk1"/>
              </a:buClr>
              <a:buSzPts val="1200"/>
              <a:buFont typeface="Arial"/>
              <a:buChar char="•"/>
            </a:pPr>
            <a:r>
              <a:rPr lang="en-US"/>
              <a:t>Aumentar el consumo de café, cigarros o comida rápida para “aguantar”</a:t>
            </a:r>
            <a:endParaRPr/>
          </a:p>
          <a:p>
            <a:pPr indent="-171450" lvl="0" marL="171450" marR="0" rtl="0" algn="l">
              <a:lnSpc>
                <a:spcPct val="100000"/>
              </a:lnSpc>
              <a:spcBef>
                <a:spcPts val="0"/>
              </a:spcBef>
              <a:spcAft>
                <a:spcPts val="0"/>
              </a:spcAft>
              <a:buClr>
                <a:schemeClr val="dk1"/>
              </a:buClr>
              <a:buSzPts val="1200"/>
              <a:buFont typeface="Arial"/>
              <a:buChar char="•"/>
            </a:pPr>
            <a:r>
              <a:rPr lang="en-US"/>
              <a:t>Alejarse del equipo, evitar llamadas o cámaras en reuniones</a:t>
            </a:r>
            <a:endParaRPr/>
          </a:p>
          <a:p>
            <a:pPr indent="-171450" lvl="0" marL="171450" marR="0" rtl="0" algn="l">
              <a:lnSpc>
                <a:spcPct val="100000"/>
              </a:lnSpc>
              <a:spcBef>
                <a:spcPts val="0"/>
              </a:spcBef>
              <a:spcAft>
                <a:spcPts val="0"/>
              </a:spcAft>
              <a:buClr>
                <a:schemeClr val="dk1"/>
              </a:buClr>
              <a:buSzPts val="1200"/>
              <a:buFont typeface="Arial"/>
              <a:buChar char="•"/>
            </a:pPr>
            <a:r>
              <a:rPr lang="en-US"/>
              <a:t>Micro-ausentismo: llegar tarde, salir antes, “desconectarse” durante la jornada</a:t>
            </a:r>
            <a:endParaRPr/>
          </a:p>
          <a:p>
            <a:pPr indent="-171450" lvl="0" marL="171450" marR="0" rtl="0" algn="l">
              <a:lnSpc>
                <a:spcPct val="100000"/>
              </a:lnSpc>
              <a:spcBef>
                <a:spcPts val="0"/>
              </a:spcBef>
              <a:spcAft>
                <a:spcPts val="0"/>
              </a:spcAft>
              <a:buClr>
                <a:schemeClr val="dk1"/>
              </a:buClr>
              <a:buSzPts val="1200"/>
              <a:buFont typeface="Arial"/>
              <a:buChar char="•"/>
            </a:pPr>
            <a:r>
              <a:rPr lang="en-US"/>
              <a:t>Menor cuidado en la calidad del trabajo</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lang="en-US"/>
              <a:t>Ejemplo en la oficina: </a:t>
            </a:r>
            <a:r>
              <a:rPr lang="en-US"/>
              <a:t>Apagar el micrófono y cámara para no participar durante una videoconferencia, contestar frío a clientes internos o no revisar reportes como se debe.</a:t>
            </a:r>
            <a:endParaRPr/>
          </a:p>
        </p:txBody>
      </p:sp>
      <p:sp>
        <p:nvSpPr>
          <p:cNvPr id="265" name="Google Shape;26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texto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instrucción</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6 botones numerados que la hacer clic sobre ellos, aparecerá dentro de la caja de texto el siguiente contenido, respectivamente:</a:t>
            </a:r>
            <a:endParaRPr/>
          </a:p>
          <a:p>
            <a:pPr indent="-95250" lvl="0" marL="171450" marR="0" rtl="0" algn="l">
              <a:lnSpc>
                <a:spcPct val="100000"/>
              </a:lnSpc>
              <a:spcBef>
                <a:spcPts val="0"/>
              </a:spcBef>
              <a:spcAft>
                <a:spcPts val="0"/>
              </a:spcAft>
              <a:buClr>
                <a:schemeClr val="dk1"/>
              </a:buClr>
              <a:buSzPts val="1200"/>
              <a:buFont typeface="Arial"/>
              <a:buNone/>
            </a:pPr>
            <a:r>
              <a:t/>
            </a:r>
            <a:endParaRPr b="1" i="1"/>
          </a:p>
          <a:p>
            <a:pPr indent="0" lvl="0" marL="0" marR="0" rtl="0" algn="l">
              <a:lnSpc>
                <a:spcPct val="100000"/>
              </a:lnSpc>
              <a:spcBef>
                <a:spcPts val="0"/>
              </a:spcBef>
              <a:spcAft>
                <a:spcPts val="0"/>
              </a:spcAft>
              <a:buClr>
                <a:schemeClr val="dk1"/>
              </a:buClr>
              <a:buSzPts val="1200"/>
              <a:buFont typeface="Arial"/>
              <a:buNone/>
            </a:pPr>
            <a:r>
              <a:rPr b="1" i="1" lang="en-US"/>
              <a:t>Botones y contenido:</a:t>
            </a:r>
            <a:endParaRPr b="1" i="1"/>
          </a:p>
          <a:p>
            <a:pPr indent="-228600" lvl="0" marL="228600" rtl="0" algn="just">
              <a:lnSpc>
                <a:spcPct val="100000"/>
              </a:lnSpc>
              <a:spcBef>
                <a:spcPts val="0"/>
              </a:spcBef>
              <a:spcAft>
                <a:spcPts val="0"/>
              </a:spcAft>
              <a:buSzPts val="1400"/>
              <a:buAutoNum type="arabicPeriod"/>
            </a:pPr>
            <a:r>
              <a:rPr lang="en-US"/>
              <a:t>Cargas excesivas y picos crónicos, plazos irreales, “urgencias” continuas.</a:t>
            </a:r>
            <a:endParaRPr>
              <a:latin typeface="Arial"/>
              <a:ea typeface="Arial"/>
              <a:cs typeface="Arial"/>
              <a:sym typeface="Arial"/>
            </a:endParaRPr>
          </a:p>
          <a:p>
            <a:pPr indent="-228600" lvl="0" marL="228600" rtl="0" algn="just">
              <a:lnSpc>
                <a:spcPct val="100000"/>
              </a:lnSpc>
              <a:spcBef>
                <a:spcPts val="0"/>
              </a:spcBef>
              <a:spcAft>
                <a:spcPts val="0"/>
              </a:spcAft>
              <a:buSzPts val="1400"/>
              <a:buAutoNum type="arabicPeriod"/>
            </a:pPr>
            <a:r>
              <a:rPr lang="en-US"/>
              <a:t>Ambigüedad o conflicto de rol, prioridades cambiantes sin criterios.</a:t>
            </a:r>
            <a:endParaRPr>
              <a:latin typeface="Arial"/>
              <a:ea typeface="Arial"/>
              <a:cs typeface="Arial"/>
              <a:sym typeface="Arial"/>
            </a:endParaRPr>
          </a:p>
          <a:p>
            <a:pPr indent="-228600" lvl="0" marL="228600" rtl="0" algn="just">
              <a:lnSpc>
                <a:spcPct val="100000"/>
              </a:lnSpc>
              <a:spcBef>
                <a:spcPts val="0"/>
              </a:spcBef>
              <a:spcAft>
                <a:spcPts val="0"/>
              </a:spcAft>
              <a:buSzPts val="1400"/>
              <a:buAutoNum type="arabicPeriod"/>
            </a:pPr>
            <a:r>
              <a:rPr lang="en-US"/>
              <a:t>Poco control/autonomía para organizar el trabajo y tiempos de concentración.</a:t>
            </a:r>
            <a:endParaRPr>
              <a:latin typeface="Arial"/>
              <a:ea typeface="Arial"/>
              <a:cs typeface="Arial"/>
              <a:sym typeface="Arial"/>
            </a:endParaRPr>
          </a:p>
          <a:p>
            <a:pPr indent="-228600" lvl="0" marL="228600" rtl="0" algn="just">
              <a:lnSpc>
                <a:spcPct val="100000"/>
              </a:lnSpc>
              <a:spcBef>
                <a:spcPts val="0"/>
              </a:spcBef>
              <a:spcAft>
                <a:spcPts val="0"/>
              </a:spcAft>
              <a:buSzPts val="1400"/>
              <a:buAutoNum type="arabicPeriod"/>
            </a:pPr>
            <a:r>
              <a:rPr lang="en-US"/>
              <a:t>Liderazgo y comunicación deficientes (feedback sólo correctivo, trato hostil).</a:t>
            </a:r>
            <a:endParaRPr>
              <a:latin typeface="Arial"/>
              <a:ea typeface="Arial"/>
              <a:cs typeface="Arial"/>
              <a:sym typeface="Arial"/>
            </a:endParaRPr>
          </a:p>
          <a:p>
            <a:pPr indent="-228600" lvl="0" marL="228600" rtl="0" algn="just">
              <a:lnSpc>
                <a:spcPct val="100000"/>
              </a:lnSpc>
              <a:spcBef>
                <a:spcPts val="0"/>
              </a:spcBef>
              <a:spcAft>
                <a:spcPts val="0"/>
              </a:spcAft>
              <a:buSzPts val="1400"/>
              <a:buAutoNum type="arabicPeriod"/>
            </a:pPr>
            <a:r>
              <a:rPr lang="en-US"/>
              <a:t>Falta de reconocimiento y de retroalimentación clara.</a:t>
            </a:r>
            <a:endParaRPr>
              <a:latin typeface="Arial"/>
              <a:ea typeface="Arial"/>
              <a:cs typeface="Arial"/>
              <a:sym typeface="Arial"/>
            </a:endParaRPr>
          </a:p>
          <a:p>
            <a:pPr indent="-228600" lvl="0" marL="228600" rtl="0" algn="just">
              <a:lnSpc>
                <a:spcPct val="100000"/>
              </a:lnSpc>
              <a:spcBef>
                <a:spcPts val="0"/>
              </a:spcBef>
              <a:spcAft>
                <a:spcPts val="0"/>
              </a:spcAft>
              <a:buSzPts val="1400"/>
              <a:buAutoNum type="arabicPeriod"/>
            </a:pPr>
            <a:r>
              <a:rPr lang="en-US"/>
              <a:t>Interferencia trabajo-vida (mensajes fuera de horario como regla).</a:t>
            </a:r>
            <a:endParaRPr>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t/>
            </a:r>
            <a:endParaRPr/>
          </a:p>
        </p:txBody>
      </p:sp>
      <p:sp>
        <p:nvSpPr>
          <p:cNvPr id="278" name="Google Shape;27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subtítulo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primer párrafo </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el resto del contenido en un organizador gráfico</a:t>
            </a:r>
            <a:endParaRPr b="1" i="1"/>
          </a:p>
          <a:p>
            <a:pPr indent="0" lvl="0" marL="0" marR="0" rtl="0" algn="l">
              <a:lnSpc>
                <a:spcPct val="100000"/>
              </a:lnSpc>
              <a:spcBef>
                <a:spcPts val="0"/>
              </a:spcBef>
              <a:spcAft>
                <a:spcPts val="0"/>
              </a:spcAft>
              <a:buClr>
                <a:schemeClr val="dk1"/>
              </a:buClr>
              <a:buSzPts val="1200"/>
              <a:buFont typeface="Arial"/>
              <a:buNone/>
            </a:pPr>
            <a:r>
              <a:t/>
            </a:r>
            <a:endParaRPr/>
          </a:p>
        </p:txBody>
      </p:sp>
      <p:sp>
        <p:nvSpPr>
          <p:cNvPr id="294" name="Google Shape;29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subsubtítulo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el contenido en bullets </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el Cuestionario sobre Burnout con diseño e imagen corporativa del cliente: </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ícono de descarga de documento en formato PDF, que al hacer clic sobre este, se abrirá </a:t>
            </a:r>
            <a:r>
              <a:rPr i="1" lang="en-US"/>
              <a:t>guion_05_Burnout_documento_cuestionario</a:t>
            </a:r>
            <a:r>
              <a:rPr lang="en-US"/>
              <a:t>d es una página independiente, mismo que se encuentra en: https://docs.google.com/document/d/1NA5Fvdyb5V-F_aILa1ND9sj7JGC5VAPq/edit?usp=sharing&amp;ouid=116603665363033030583&amp;rtpof=true&amp;sd=true </a:t>
            </a:r>
            <a:endParaRPr/>
          </a:p>
        </p:txBody>
      </p:sp>
      <p:sp>
        <p:nvSpPr>
          <p:cNvPr id="304" name="Google Shape;30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Calibri"/>
                <a:ea typeface="Calibri"/>
                <a:cs typeface="Calibri"/>
                <a:sym typeface="Calibri"/>
              </a:rPr>
              <a:t>Utilizar imagen </a:t>
            </a:r>
            <a:r>
              <a:rPr b="0" i="1" lang="en-US" sz="1200" u="none" cap="none" strike="noStrike">
                <a:solidFill>
                  <a:schemeClr val="dk1"/>
                </a:solidFill>
                <a:latin typeface="Calibri"/>
                <a:ea typeface="Calibri"/>
                <a:cs typeface="Calibri"/>
                <a:sym typeface="Calibri"/>
              </a:rPr>
              <a:t>004_Burnout_GS1</a:t>
            </a:r>
            <a:endParaRPr b="0" i="1" sz="1200" u="none" cap="none" strike="noStrike">
              <a:solidFill>
                <a:schemeClr val="dk1"/>
              </a:solidFill>
              <a:latin typeface="Calibri"/>
              <a:ea typeface="Calibri"/>
              <a:cs typeface="Calibri"/>
              <a:sym typeface="Calibri"/>
            </a:endParaRPr>
          </a:p>
        </p:txBody>
      </p:sp>
      <p:sp>
        <p:nvSpPr>
          <p:cNvPr id="312" name="Google Shape;31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título  resaltado</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párrafo </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una imagen iconográfica que represente el contenido y abajo ula frase que se indica de manera resaltada.</a:t>
            </a:r>
            <a:endParaRPr b="0" i="0" sz="1200" u="none" cap="none" strike="noStrike">
              <a:solidFill>
                <a:schemeClr val="dk1"/>
              </a:solidFill>
              <a:latin typeface="Roboto"/>
              <a:ea typeface="Roboto"/>
              <a:cs typeface="Roboto"/>
              <a:sym typeface="Roboto"/>
            </a:endParaRPr>
          </a:p>
        </p:txBody>
      </p:sp>
      <p:sp>
        <p:nvSpPr>
          <p:cNvPr id="319" name="Google Shape;31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subtítulo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contenido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instrucción</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tres botones que al hacer clic aparecerá el contenido correspondiente dentro de la caja de texto</a:t>
            </a:r>
            <a:endParaRPr/>
          </a:p>
          <a:p>
            <a:pPr indent="-171450" lvl="0" marL="171450" marR="0" rtl="0" algn="l">
              <a:lnSpc>
                <a:spcPct val="100000"/>
              </a:lnSpc>
              <a:spcBef>
                <a:spcPts val="0"/>
              </a:spcBef>
              <a:spcAft>
                <a:spcPts val="0"/>
              </a:spcAft>
              <a:buClr>
                <a:schemeClr val="dk1"/>
              </a:buClr>
              <a:buSzPts val="1200"/>
              <a:buFont typeface="Arial"/>
              <a:buChar char="•"/>
            </a:pPr>
            <a:r>
              <a:rPr lang="en-US"/>
              <a:t>Cada botón se presentará con un ícono que represente el nombre del botón</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i="1" lang="en-US"/>
              <a:t>BOTÓN: Autocuidado emocional</a:t>
            </a:r>
            <a:endParaRPr b="1" i="1"/>
          </a:p>
          <a:p>
            <a:pPr indent="-171450" lvl="0" marL="171450" marR="0" rtl="0" algn="l">
              <a:lnSpc>
                <a:spcPct val="100000"/>
              </a:lnSpc>
              <a:spcBef>
                <a:spcPts val="0"/>
              </a:spcBef>
              <a:spcAft>
                <a:spcPts val="0"/>
              </a:spcAft>
              <a:buClr>
                <a:schemeClr val="dk1"/>
              </a:buClr>
              <a:buSzPts val="1200"/>
              <a:buFont typeface="Arial"/>
              <a:buChar char="•"/>
            </a:pPr>
            <a:r>
              <a:rPr lang="en-US"/>
              <a:t>Se trata de gestionar cómo nos sentimos y evitar que el estrés se vuelva crónico. Ejemplos claros en oficina:</a:t>
            </a:r>
            <a:endParaRPr/>
          </a:p>
          <a:p>
            <a:pPr indent="-171450" lvl="0" marL="171450" marR="0" rtl="0" algn="l">
              <a:lnSpc>
                <a:spcPct val="100000"/>
              </a:lnSpc>
              <a:spcBef>
                <a:spcPts val="0"/>
              </a:spcBef>
              <a:spcAft>
                <a:spcPts val="0"/>
              </a:spcAft>
              <a:buClr>
                <a:schemeClr val="dk1"/>
              </a:buClr>
              <a:buSzPts val="1200"/>
              <a:buFont typeface="Arial"/>
              <a:buChar char="•"/>
            </a:pPr>
            <a:r>
              <a:rPr lang="en-US"/>
              <a:t>Después de una junta tensa, toma 3 minutos para respirar en lugar de “brincar” directo a otra reunión.</a:t>
            </a:r>
            <a:endParaRPr/>
          </a:p>
          <a:p>
            <a:pPr indent="-171450" lvl="0" marL="171450" marR="0" rtl="0" algn="l">
              <a:lnSpc>
                <a:spcPct val="100000"/>
              </a:lnSpc>
              <a:spcBef>
                <a:spcPts val="0"/>
              </a:spcBef>
              <a:spcAft>
                <a:spcPts val="0"/>
              </a:spcAft>
              <a:buClr>
                <a:schemeClr val="dk1"/>
              </a:buClr>
              <a:buSzPts val="1200"/>
              <a:buFont typeface="Arial"/>
              <a:buChar char="•"/>
            </a:pPr>
            <a:r>
              <a:rPr lang="en-US"/>
              <a:t>Pedir aclaraciones cuando la retro sea confusa para evitar frustración acumulada.</a:t>
            </a:r>
            <a:endParaRPr/>
          </a:p>
          <a:p>
            <a:pPr indent="-171450" lvl="0" marL="171450" marR="0" rtl="0" algn="l">
              <a:lnSpc>
                <a:spcPct val="100000"/>
              </a:lnSpc>
              <a:spcBef>
                <a:spcPts val="0"/>
              </a:spcBef>
              <a:spcAft>
                <a:spcPts val="0"/>
              </a:spcAft>
              <a:buClr>
                <a:schemeClr val="dk1"/>
              </a:buClr>
              <a:buSzPts val="1200"/>
              <a:buFont typeface="Arial"/>
              <a:buChar char="•"/>
            </a:pPr>
            <a:r>
              <a:rPr lang="en-US"/>
              <a:t>Practicar la gratitud laboral: reconocer algo positivo del día antes de cerrar la computadora.</a:t>
            </a:r>
            <a:endParaRPr/>
          </a:p>
          <a:p>
            <a:pPr indent="-95250" lvl="0" marL="17145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lang="en-US"/>
              <a:t>Micro acción recomendada: </a:t>
            </a:r>
            <a:r>
              <a:rPr lang="en-US"/>
              <a:t>Para fomentar el autocuidado emocional te recomendamos que escribas 1 logro del día en tu agenda, por pequeño que sea.</a:t>
            </a:r>
            <a:endParaRPr/>
          </a:p>
          <a:p>
            <a:pPr indent="-95250" lvl="0" marL="17145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i="1" lang="en-US"/>
              <a:t>BOTÓN: Autocuidado físico</a:t>
            </a:r>
            <a:endParaRPr b="1" i="1"/>
          </a:p>
          <a:p>
            <a:pPr indent="-171450" lvl="0" marL="171450" marR="0" rtl="0" algn="l">
              <a:lnSpc>
                <a:spcPct val="100000"/>
              </a:lnSpc>
              <a:spcBef>
                <a:spcPts val="0"/>
              </a:spcBef>
              <a:spcAft>
                <a:spcPts val="0"/>
              </a:spcAft>
              <a:buClr>
                <a:schemeClr val="dk1"/>
              </a:buClr>
              <a:buSzPts val="1200"/>
              <a:buFont typeface="Arial"/>
              <a:buChar char="•"/>
            </a:pPr>
            <a:r>
              <a:rPr lang="en-US"/>
              <a:t>En oficina solemos estar sentados 6–10 horas, con snacks rápidos y alta tensión muscular. Para contrarrestar esta situación:</a:t>
            </a:r>
            <a:endParaRPr/>
          </a:p>
          <a:p>
            <a:pPr indent="-171450" lvl="0" marL="171450" marR="0" rtl="0" algn="l">
              <a:lnSpc>
                <a:spcPct val="100000"/>
              </a:lnSpc>
              <a:spcBef>
                <a:spcPts val="0"/>
              </a:spcBef>
              <a:spcAft>
                <a:spcPts val="0"/>
              </a:spcAft>
              <a:buClr>
                <a:schemeClr val="dk1"/>
              </a:buClr>
              <a:buSzPts val="1200"/>
              <a:buFont typeface="Arial"/>
              <a:buChar char="•"/>
            </a:pPr>
            <a:r>
              <a:rPr lang="en-US"/>
              <a:t>Cambia de postura o realiza estiramientos de cuello y hombros cada 60–90 minutos.</a:t>
            </a:r>
            <a:endParaRPr/>
          </a:p>
          <a:p>
            <a:pPr indent="-171450" lvl="0" marL="171450" marR="0" rtl="0" algn="l">
              <a:lnSpc>
                <a:spcPct val="100000"/>
              </a:lnSpc>
              <a:spcBef>
                <a:spcPts val="0"/>
              </a:spcBef>
              <a:spcAft>
                <a:spcPts val="0"/>
              </a:spcAft>
              <a:buClr>
                <a:schemeClr val="dk1"/>
              </a:buClr>
              <a:buSzPts val="1200"/>
              <a:buFont typeface="Arial"/>
              <a:buChar char="•"/>
            </a:pPr>
            <a:r>
              <a:rPr lang="en-US"/>
              <a:t>Bebe agua constantemente</a:t>
            </a:r>
            <a:endParaRPr/>
          </a:p>
          <a:p>
            <a:pPr indent="-171450" lvl="0" marL="171450" marR="0" rtl="0" algn="l">
              <a:lnSpc>
                <a:spcPct val="100000"/>
              </a:lnSpc>
              <a:spcBef>
                <a:spcPts val="0"/>
              </a:spcBef>
              <a:spcAft>
                <a:spcPts val="0"/>
              </a:spcAft>
              <a:buClr>
                <a:schemeClr val="dk1"/>
              </a:buClr>
              <a:buSzPts val="1200"/>
              <a:buFont typeface="Arial"/>
              <a:buChar char="•"/>
            </a:pPr>
            <a:r>
              <a:rPr lang="en-US"/>
              <a:t>Oblígate a levantarte cada determinado tiempo.</a:t>
            </a:r>
            <a:endParaRPr/>
          </a:p>
          <a:p>
            <a:pPr indent="-171450" lvl="0" marL="171450" marR="0" rtl="0" algn="l">
              <a:lnSpc>
                <a:spcPct val="100000"/>
              </a:lnSpc>
              <a:spcBef>
                <a:spcPts val="0"/>
              </a:spcBef>
              <a:spcAft>
                <a:spcPts val="0"/>
              </a:spcAft>
              <a:buClr>
                <a:schemeClr val="dk1"/>
              </a:buClr>
              <a:buSzPts val="1200"/>
              <a:buFont typeface="Arial"/>
              <a:buChar char="•"/>
            </a:pPr>
            <a:r>
              <a:rPr lang="en-US"/>
              <a:t>Come lejos del escritorio (evita mezclar trabajo y descanso).</a:t>
            </a:r>
            <a:endParaRPr/>
          </a:p>
          <a:p>
            <a:pPr indent="-95250" lvl="0" marL="17145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lang="en-US"/>
              <a:t>Microacción recomendada: </a:t>
            </a:r>
            <a:r>
              <a:rPr lang="en-US"/>
              <a:t>programa alarmas de “pausa activa” en tu calendario (2 por mañana, 2 por tarde) y vuélvelas un hábito.</a:t>
            </a:r>
            <a:endParaRPr/>
          </a:p>
          <a:p>
            <a:pPr indent="-95250" lvl="0" marL="17145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i="1" lang="en-US"/>
              <a:t>BOTÓN: Autocuidado social</a:t>
            </a:r>
            <a:endParaRPr b="1" i="1"/>
          </a:p>
          <a:p>
            <a:pPr indent="-171450" lvl="0" marL="171450" marR="0" rtl="0" algn="l">
              <a:lnSpc>
                <a:spcPct val="100000"/>
              </a:lnSpc>
              <a:spcBef>
                <a:spcPts val="0"/>
              </a:spcBef>
              <a:spcAft>
                <a:spcPts val="0"/>
              </a:spcAft>
              <a:buClr>
                <a:schemeClr val="dk1"/>
              </a:buClr>
              <a:buSzPts val="1200"/>
              <a:buFont typeface="Arial"/>
              <a:buChar char="•"/>
            </a:pPr>
            <a:r>
              <a:rPr lang="en-US"/>
              <a:t>El trabajo remoto o híbrido puede generar aislamiento sin que nos demos cuenta. Algunas acciones que pueden ayudarte son:</a:t>
            </a:r>
            <a:endParaRPr/>
          </a:p>
          <a:p>
            <a:pPr indent="-171450" lvl="0" marL="171450" marR="0" rtl="0" algn="l">
              <a:lnSpc>
                <a:spcPct val="100000"/>
              </a:lnSpc>
              <a:spcBef>
                <a:spcPts val="0"/>
              </a:spcBef>
              <a:spcAft>
                <a:spcPts val="0"/>
              </a:spcAft>
              <a:buClr>
                <a:schemeClr val="dk1"/>
              </a:buClr>
              <a:buSzPts val="1200"/>
              <a:buFont typeface="Arial"/>
              <a:buChar char="•"/>
            </a:pPr>
            <a:r>
              <a:rPr lang="en-US"/>
              <a:t>Conectar con un colega 10 minutos al día para compartir avances o dudas.</a:t>
            </a:r>
            <a:endParaRPr/>
          </a:p>
          <a:p>
            <a:pPr indent="-171450" lvl="0" marL="171450" marR="0" rtl="0" algn="l">
              <a:lnSpc>
                <a:spcPct val="100000"/>
              </a:lnSpc>
              <a:spcBef>
                <a:spcPts val="0"/>
              </a:spcBef>
              <a:spcAft>
                <a:spcPts val="0"/>
              </a:spcAft>
              <a:buClr>
                <a:schemeClr val="dk1"/>
              </a:buClr>
              <a:buSzPts val="1200"/>
              <a:buFont typeface="Arial"/>
              <a:buChar char="•"/>
            </a:pPr>
            <a:r>
              <a:rPr lang="en-US"/>
              <a:t>Participar activamente en una reunión al menos una vez: una pregunta o propuesta.</a:t>
            </a:r>
            <a:endParaRPr/>
          </a:p>
          <a:p>
            <a:pPr indent="-171450" lvl="0" marL="171450" marR="0" rtl="0" algn="l">
              <a:lnSpc>
                <a:spcPct val="100000"/>
              </a:lnSpc>
              <a:spcBef>
                <a:spcPts val="0"/>
              </a:spcBef>
              <a:spcAft>
                <a:spcPts val="0"/>
              </a:spcAft>
              <a:buClr>
                <a:schemeClr val="dk1"/>
              </a:buClr>
              <a:buSzPts val="1200"/>
              <a:buFont typeface="Arial"/>
              <a:buChar char="•"/>
            </a:pPr>
            <a:r>
              <a:rPr lang="en-US"/>
              <a:t>Salir a comer con el equipo una vez cada dos semanas.</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lang="en-US"/>
              <a:t>Microacción recomendada:</a:t>
            </a:r>
            <a:r>
              <a:rPr lang="en-US"/>
              <a:t> agenda un café virtual de 15 minutos con alguien del equipo para reconectar. Verás que es divertido y conocerás aspectos de tus compañeros que tal vez n tenía sin idea. </a:t>
            </a:r>
            <a:endParaRPr/>
          </a:p>
          <a:p>
            <a:pPr indent="-95250" lvl="0" marL="171450" marR="0" rtl="0" algn="l">
              <a:lnSpc>
                <a:spcPct val="100000"/>
              </a:lnSpc>
              <a:spcBef>
                <a:spcPts val="0"/>
              </a:spcBef>
              <a:spcAft>
                <a:spcPts val="0"/>
              </a:spcAft>
              <a:buClr>
                <a:schemeClr val="dk1"/>
              </a:buClr>
              <a:buSzPts val="1200"/>
              <a:buFont typeface="Arial"/>
              <a:buNone/>
            </a:pPr>
            <a:r>
              <a:t/>
            </a:r>
            <a:endParaRPr/>
          </a:p>
        </p:txBody>
      </p:sp>
      <p:sp>
        <p:nvSpPr>
          <p:cNvPr id="327" name="Google Shape;32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subtítulo resaltado</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contenido junto con una imagen iconográfica que represente el contenido</a:t>
            </a:r>
            <a:endParaRPr>
              <a:latin typeface="Roboto"/>
              <a:ea typeface="Roboto"/>
              <a:cs typeface="Roboto"/>
              <a:sym typeface="Roboto"/>
            </a:endParaRPr>
          </a:p>
        </p:txBody>
      </p:sp>
      <p:sp>
        <p:nvSpPr>
          <p:cNvPr id="346" name="Google Shape;34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contenido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gráfico en imagen, la cual debe ir con los colores corportivos (en la pantalla 25 de este guion se presenta la imagen editable)</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la imagen de la Matriz de Einsenhower, la cual al hacer clic sobre esta, aparecerá el siguiente contenido en una caja popup:</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i="1" lang="en-US"/>
              <a:t>BOTÓN: Paso 1</a:t>
            </a:r>
            <a:endParaRPr b="1" i="1"/>
          </a:p>
          <a:p>
            <a:pPr indent="0" lvl="0" marL="0" marR="0" rtl="0" algn="l">
              <a:lnSpc>
                <a:spcPct val="100000"/>
              </a:lnSpc>
              <a:spcBef>
                <a:spcPts val="0"/>
              </a:spcBef>
              <a:spcAft>
                <a:spcPts val="0"/>
              </a:spcAft>
              <a:buClr>
                <a:schemeClr val="dk1"/>
              </a:buClr>
              <a:buSzPts val="1200"/>
              <a:buFont typeface="Arial"/>
              <a:buNone/>
            </a:pPr>
            <a:r>
              <a:rPr lang="en-US"/>
              <a:t>Primero, identifica lo urgente y distínguelo de lo importante. </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i="1" lang="en-US"/>
              <a:t>BOTÓN: Paso 2</a:t>
            </a:r>
            <a:endParaRPr b="1" i="1"/>
          </a:p>
          <a:p>
            <a:pPr indent="0" lvl="0" marL="0" marR="0" rtl="0" algn="l">
              <a:lnSpc>
                <a:spcPct val="100000"/>
              </a:lnSpc>
              <a:spcBef>
                <a:spcPts val="0"/>
              </a:spcBef>
              <a:spcAft>
                <a:spcPts val="0"/>
              </a:spcAft>
              <a:buClr>
                <a:schemeClr val="dk1"/>
              </a:buClr>
              <a:buSzPts val="1200"/>
              <a:buFont typeface="Arial"/>
              <a:buNone/>
            </a:pPr>
            <a:r>
              <a:rPr lang="en-US"/>
              <a:t>Al finalizar la ubicación de tus tareas y responsabilidades en la matriz, al inicio del día (o la noche anterior), define las tres prioridades clave de acuerdo con:</a:t>
            </a:r>
            <a:endParaRPr/>
          </a:p>
          <a:p>
            <a:pPr indent="-228600" lvl="0" marL="228600" marR="0" rtl="0" algn="l">
              <a:lnSpc>
                <a:spcPct val="100000"/>
              </a:lnSpc>
              <a:spcBef>
                <a:spcPts val="0"/>
              </a:spcBef>
              <a:spcAft>
                <a:spcPts val="0"/>
              </a:spcAft>
              <a:buClr>
                <a:schemeClr val="dk1"/>
              </a:buClr>
              <a:buSzPts val="1200"/>
              <a:buFont typeface="Arial"/>
              <a:buAutoNum type="alphaLcParenR"/>
            </a:pPr>
            <a:r>
              <a:rPr lang="en-US"/>
              <a:t>Lo que impacta resultados del negocio.</a:t>
            </a:r>
            <a:endParaRPr/>
          </a:p>
          <a:p>
            <a:pPr indent="-228600" lvl="0" marL="228600" marR="0" rtl="0" algn="l">
              <a:lnSpc>
                <a:spcPct val="100000"/>
              </a:lnSpc>
              <a:spcBef>
                <a:spcPts val="0"/>
              </a:spcBef>
              <a:spcAft>
                <a:spcPts val="0"/>
              </a:spcAft>
              <a:buClr>
                <a:schemeClr val="dk1"/>
              </a:buClr>
              <a:buSzPts val="1200"/>
              <a:buFont typeface="Arial"/>
              <a:buAutoNum type="alphaLcParenR"/>
            </a:pPr>
            <a:r>
              <a:rPr lang="en-US"/>
              <a:t>Lo que evita problemas mayores.</a:t>
            </a:r>
            <a:endParaRPr/>
          </a:p>
          <a:p>
            <a:pPr indent="-228600" lvl="0" marL="228600" marR="0" rtl="0" algn="l">
              <a:lnSpc>
                <a:spcPct val="100000"/>
              </a:lnSpc>
              <a:spcBef>
                <a:spcPts val="0"/>
              </a:spcBef>
              <a:spcAft>
                <a:spcPts val="0"/>
              </a:spcAft>
              <a:buClr>
                <a:schemeClr val="dk1"/>
              </a:buClr>
              <a:buSzPts val="1200"/>
              <a:buFont typeface="Arial"/>
              <a:buAutoNum type="alphaLcParenR"/>
            </a:pPr>
            <a:r>
              <a:rPr lang="en-US"/>
              <a:t>Lo que contribuye a tu bienestar o desarrollo.</a:t>
            </a:r>
            <a:endParaRPr>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b="1" i="1" lang="en-US"/>
              <a:t>BOTÓN: Paso 3</a:t>
            </a:r>
            <a:endParaRPr b="1" i="1"/>
          </a:p>
          <a:p>
            <a:pPr indent="0" lvl="0" marL="0" marR="0" rtl="0" algn="l">
              <a:lnSpc>
                <a:spcPct val="100000"/>
              </a:lnSpc>
              <a:spcBef>
                <a:spcPts val="0"/>
              </a:spcBef>
              <a:spcAft>
                <a:spcPts val="0"/>
              </a:spcAft>
              <a:buClr>
                <a:schemeClr val="dk1"/>
              </a:buClr>
              <a:buSzPts val="1200"/>
              <a:buFont typeface="Arial"/>
              <a:buNone/>
            </a:pPr>
            <a:r>
              <a:rPr lang="en-US"/>
              <a:t>Luego, agenda tu día alrededor de esas tres metas, dejando espacios para imprevistos, por ejemplo:</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marR="0" rtl="0" algn="l">
              <a:lnSpc>
                <a:spcPct val="100000"/>
              </a:lnSpc>
              <a:spcBef>
                <a:spcPts val="0"/>
              </a:spcBef>
              <a:spcAft>
                <a:spcPts val="0"/>
              </a:spcAft>
              <a:buClr>
                <a:schemeClr val="dk1"/>
              </a:buClr>
              <a:buSzPts val="1200"/>
              <a:buFont typeface="Arial"/>
              <a:buNone/>
            </a:pPr>
            <a:r>
              <a:rPr lang="en-US"/>
              <a:t>09:00 a 10:30 - Análisis de ventas trimestrales (meta del área)</a:t>
            </a:r>
            <a:endParaRPr/>
          </a:p>
          <a:p>
            <a:pPr indent="0" lvl="0" marL="0" marR="0" rtl="0" algn="l">
              <a:lnSpc>
                <a:spcPct val="100000"/>
              </a:lnSpc>
              <a:spcBef>
                <a:spcPts val="0"/>
              </a:spcBef>
              <a:spcAft>
                <a:spcPts val="0"/>
              </a:spcAft>
              <a:buClr>
                <a:schemeClr val="dk1"/>
              </a:buClr>
              <a:buSzPts val="1200"/>
              <a:buFont typeface="Arial"/>
              <a:buNone/>
            </a:pPr>
            <a:r>
              <a:rPr lang="en-US"/>
              <a:t>11:00 a 12:00 - Revisión con equipo (previene errores)</a:t>
            </a:r>
            <a:endParaRPr/>
          </a:p>
          <a:p>
            <a:pPr indent="0" lvl="0" marL="0" marR="0" rtl="0" algn="l">
              <a:lnSpc>
                <a:spcPct val="100000"/>
              </a:lnSpc>
              <a:spcBef>
                <a:spcPts val="0"/>
              </a:spcBef>
              <a:spcAft>
                <a:spcPts val="0"/>
              </a:spcAft>
              <a:buClr>
                <a:schemeClr val="dk1"/>
              </a:buClr>
              <a:buSzPts val="1200"/>
              <a:buFont typeface="Arial"/>
              <a:buNone/>
            </a:pPr>
            <a:r>
              <a:rPr lang="en-US"/>
              <a:t>16:30 a 17:00 - Capacitación breve o lectura (crecimiento personal)</a:t>
            </a:r>
            <a:endParaRPr/>
          </a:p>
          <a:p>
            <a:pPr indent="0" lvl="0" marL="0" marR="0" rtl="0" algn="l">
              <a:lnSpc>
                <a:spcPct val="100000"/>
              </a:lnSpc>
              <a:spcBef>
                <a:spcPts val="0"/>
              </a:spcBef>
              <a:spcAft>
                <a:spcPts val="0"/>
              </a:spcAft>
              <a:buClr>
                <a:schemeClr val="dk1"/>
              </a:buClr>
              <a:buSzPts val="1200"/>
              <a:buFont typeface="Arial"/>
              <a:buNone/>
            </a:pPr>
            <a:r>
              <a:t/>
            </a:r>
            <a:endParaRPr/>
          </a:p>
        </p:txBody>
      </p:sp>
      <p:sp>
        <p:nvSpPr>
          <p:cNvPr id="355" name="Google Shape;35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gráfico en imagen deberá ir con los colores corportivos </a:t>
            </a:r>
            <a:endParaRPr/>
          </a:p>
        </p:txBody>
      </p:sp>
      <p:sp>
        <p:nvSpPr>
          <p:cNvPr id="367" name="Google Shape;36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contenido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gráfico con los colores corportivos y el contenido que se indica</a:t>
            </a:r>
            <a:endParaRPr/>
          </a:p>
        </p:txBody>
      </p:sp>
      <p:sp>
        <p:nvSpPr>
          <p:cNvPr id="389" name="Google Shape;38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contenido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imagen, que acompañe al contenido</a:t>
            </a:r>
            <a:endParaRPr/>
          </a:p>
        </p:txBody>
      </p:sp>
      <p:sp>
        <p:nvSpPr>
          <p:cNvPr id="402" name="Google Shape;40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contenido organizado graficamente</a:t>
            </a:r>
            <a:endParaRPr/>
          </a:p>
        </p:txBody>
      </p:sp>
      <p:sp>
        <p:nvSpPr>
          <p:cNvPr id="412" name="Google Shape;412;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título resaltarlo</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el contenido</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el ícono de quizz e incrustar el ejercicio interactivo del </a:t>
            </a:r>
            <a:r>
              <a:rPr b="0" i="1" lang="en-US" sz="1200" u="none" cap="none" strike="noStrike">
                <a:solidFill>
                  <a:schemeClr val="dk1"/>
                </a:solidFill>
                <a:latin typeface="Roboto"/>
                <a:ea typeface="Roboto"/>
                <a:cs typeface="Roboto"/>
                <a:sym typeface="Roboto"/>
              </a:rPr>
              <a:t>guion_06_Burnout_interactivo_caso</a:t>
            </a:r>
            <a:endParaRPr b="0" i="1"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Recurso: Interactivo</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Formato: HTML5 o SCORM / Genially</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Nomenclatura: </a:t>
            </a:r>
            <a:r>
              <a:rPr lang="en-US">
                <a:latin typeface="Roboto"/>
                <a:ea typeface="Roboto"/>
                <a:cs typeface="Roboto"/>
                <a:sym typeface="Roboto"/>
              </a:rPr>
              <a:t>guion_06_Burnout_interactivo_caso</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Integración: Página</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Responsable: Gráfico y Programación</a:t>
            </a:r>
            <a:endParaRPr b="0" i="0" sz="1200" u="none" cap="none" strike="noStrike">
              <a:solidFill>
                <a:schemeClr val="dk1"/>
              </a:solidFill>
              <a:latin typeface="Roboto"/>
              <a:ea typeface="Roboto"/>
              <a:cs typeface="Roboto"/>
              <a:sym typeface="Roboto"/>
            </a:endParaRPr>
          </a:p>
        </p:txBody>
      </p:sp>
      <p:sp>
        <p:nvSpPr>
          <p:cNvPr id="425" name="Google Shape;425;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subtítulo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contenido</a:t>
            </a:r>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contenido junto con una imagen iconográfica que represente el contenido</a:t>
            </a:r>
            <a:endParaRPr/>
          </a:p>
        </p:txBody>
      </p:sp>
      <p:sp>
        <p:nvSpPr>
          <p:cNvPr id="434" name="Google Shape;434;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subtítulo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contenido</a:t>
            </a:r>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tres botones que la hacer clic sobre ellos aparecerá el contenido que se indica:</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b="1" i="1" lang="en-US"/>
              <a:t>BOTÓN: La importancia de respirar bien</a:t>
            </a:r>
            <a:endParaRPr b="1" i="1"/>
          </a:p>
          <a:p>
            <a:pPr indent="0" lvl="0" marL="0" marR="0" rtl="0" algn="l">
              <a:lnSpc>
                <a:spcPct val="100000"/>
              </a:lnSpc>
              <a:spcBef>
                <a:spcPts val="0"/>
              </a:spcBef>
              <a:spcAft>
                <a:spcPts val="0"/>
              </a:spcAft>
              <a:buClr>
                <a:srgbClr val="000000"/>
              </a:buClr>
              <a:buSzPts val="1400"/>
              <a:buFont typeface="Arial"/>
              <a:buNone/>
            </a:pPr>
            <a:r>
              <a:rPr i="1" lang="en-US"/>
              <a:t>Al hacer clic en este botón aparecerá la infografía en PDF en una ventana independiente, con posilibidad de descargarse, con base al guion_07_Burnout_infografia</a:t>
            </a:r>
            <a:endParaRPr i="1"/>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b="1" i="1" lang="en-US"/>
              <a:t>BOTÓN: Prácticas aplicables en reuniones</a:t>
            </a:r>
            <a:endParaRPr b="1" i="1"/>
          </a:p>
          <a:p>
            <a:pPr indent="0" lvl="0" marL="0" marR="0" rtl="0" algn="l">
              <a:lnSpc>
                <a:spcPct val="100000"/>
              </a:lnSpc>
              <a:spcBef>
                <a:spcPts val="0"/>
              </a:spcBef>
              <a:spcAft>
                <a:spcPts val="0"/>
              </a:spcAft>
              <a:buClr>
                <a:srgbClr val="000000"/>
              </a:buClr>
              <a:buSzPts val="1400"/>
              <a:buFont typeface="Arial"/>
              <a:buNone/>
            </a:pPr>
            <a:r>
              <a:rPr lang="en-US"/>
              <a:t>Existen tres acciones concretas para aplicar en tus reuniones y reducir el agotamiento laboral. Estas son:</a:t>
            </a:r>
            <a:endParaRPr/>
          </a:p>
          <a:p>
            <a:pPr indent="-171450" lvl="0" marL="171450" marR="0" rtl="0" algn="l">
              <a:lnSpc>
                <a:spcPct val="100000"/>
              </a:lnSpc>
              <a:spcBef>
                <a:spcPts val="0"/>
              </a:spcBef>
              <a:spcAft>
                <a:spcPts val="0"/>
              </a:spcAft>
              <a:buClr>
                <a:srgbClr val="000000"/>
              </a:buClr>
              <a:buSzPts val="1400"/>
              <a:buFont typeface="Arial"/>
              <a:buChar char="•"/>
            </a:pPr>
            <a:r>
              <a:rPr lang="en-US"/>
              <a:t>Respira profundo antes de hablar → mejora claridad y tono</a:t>
            </a:r>
            <a:endParaRPr/>
          </a:p>
          <a:p>
            <a:pPr indent="-171450" lvl="0" marL="171450" marR="0" rtl="0" algn="l">
              <a:lnSpc>
                <a:spcPct val="100000"/>
              </a:lnSpc>
              <a:spcBef>
                <a:spcPts val="0"/>
              </a:spcBef>
              <a:spcAft>
                <a:spcPts val="0"/>
              </a:spcAft>
              <a:buClr>
                <a:srgbClr val="000000"/>
              </a:buClr>
              <a:buSzPts val="1400"/>
              <a:buFont typeface="Arial"/>
              <a:buChar char="•"/>
            </a:pPr>
            <a:r>
              <a:rPr lang="en-US"/>
              <a:t>Mira un punto fijo 3 segundos para relajar ojos y mente</a:t>
            </a:r>
            <a:endParaRPr/>
          </a:p>
          <a:p>
            <a:pPr indent="-171450" lvl="0" marL="171450" marR="0" rtl="0" algn="l">
              <a:lnSpc>
                <a:spcPct val="100000"/>
              </a:lnSpc>
              <a:spcBef>
                <a:spcPts val="0"/>
              </a:spcBef>
              <a:spcAft>
                <a:spcPts val="0"/>
              </a:spcAft>
              <a:buClr>
                <a:srgbClr val="000000"/>
              </a:buClr>
              <a:buSzPts val="1400"/>
              <a:buFont typeface="Arial"/>
              <a:buChar char="•"/>
            </a:pPr>
            <a:r>
              <a:rPr lang="en-US"/>
              <a:t>Antes del cierre, agradece mentalmente un logro de la reunión</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b="1" i="1" lang="en-US"/>
              <a:t>BOTÓN: Haz pausas conscientes</a:t>
            </a:r>
            <a:endParaRPr b="1"/>
          </a:p>
          <a:p>
            <a:pPr indent="0" lvl="0" marL="0" marR="0" rtl="0" algn="l">
              <a:lnSpc>
                <a:spcPct val="100000"/>
              </a:lnSpc>
              <a:spcBef>
                <a:spcPts val="0"/>
              </a:spcBef>
              <a:spcAft>
                <a:spcPts val="0"/>
              </a:spcAft>
              <a:buClr>
                <a:srgbClr val="000000"/>
              </a:buClr>
              <a:buSzPts val="1400"/>
              <a:buFont typeface="Arial"/>
              <a:buNone/>
            </a:pPr>
            <a:r>
              <a:rPr i="1" lang="en-US"/>
              <a:t>Al hacer clic en este botón aparecerá en caja de texto en popup la tabla que se presenta en la diapositiva 32 de este guion.</a:t>
            </a:r>
            <a:endParaRPr i="1"/>
          </a:p>
          <a:p>
            <a:pPr indent="0" lvl="0" marL="0" marR="0" rtl="0" algn="l">
              <a:lnSpc>
                <a:spcPct val="100000"/>
              </a:lnSpc>
              <a:spcBef>
                <a:spcPts val="0"/>
              </a:spcBef>
              <a:spcAft>
                <a:spcPts val="0"/>
              </a:spcAft>
              <a:buClr>
                <a:srgbClr val="000000"/>
              </a:buClr>
              <a:buSzPts val="1400"/>
              <a:buFont typeface="Arial"/>
              <a:buNone/>
            </a:pPr>
            <a:r>
              <a:t/>
            </a:r>
            <a:endParaRPr b="1"/>
          </a:p>
          <a:p>
            <a:pPr indent="0" lvl="0" marL="0" marR="0" rtl="0" algn="l">
              <a:lnSpc>
                <a:spcPct val="100000"/>
              </a:lnSpc>
              <a:spcBef>
                <a:spcPts val="0"/>
              </a:spcBef>
              <a:spcAft>
                <a:spcPts val="0"/>
              </a:spcAft>
              <a:buClr>
                <a:srgbClr val="000000"/>
              </a:buClr>
              <a:buSzPts val="1400"/>
              <a:buFont typeface="Arial"/>
              <a:buNone/>
            </a:pPr>
            <a:r>
              <a:t/>
            </a:r>
            <a:endParaRPr b="1"/>
          </a:p>
        </p:txBody>
      </p:sp>
      <p:sp>
        <p:nvSpPr>
          <p:cNvPr id="444" name="Google Shape;44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gráfico en imagen deberá ir con los colores corportivos </a:t>
            </a:r>
            <a:endParaRPr/>
          </a:p>
        </p:txBody>
      </p:sp>
      <p:sp>
        <p:nvSpPr>
          <p:cNvPr id="456" name="Google Shape;456;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subtítulo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contenido</a:t>
            </a:r>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contenido junto con una imagen iconográfica que represente el contenido</a:t>
            </a:r>
            <a:endParaRPr/>
          </a:p>
        </p:txBody>
      </p:sp>
      <p:sp>
        <p:nvSpPr>
          <p:cNvPr id="464" name="Google Shape;46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subtítulo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contenido en un organizador gráfico</a:t>
            </a:r>
            <a:endParaRPr/>
          </a:p>
        </p:txBody>
      </p:sp>
      <p:sp>
        <p:nvSpPr>
          <p:cNvPr id="473" name="Google Shape;473;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subtítulo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contenido e imagen alusiva al contenido</a:t>
            </a:r>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botón que al hacer clic se reproducirá en una ventana independiente el video del </a:t>
            </a:r>
            <a:r>
              <a:rPr i="1" lang="en-US">
                <a:latin typeface="Roboto"/>
                <a:ea typeface="Roboto"/>
                <a:cs typeface="Roboto"/>
                <a:sym typeface="Roboto"/>
              </a:rPr>
              <a:t>guion_08_Burnout_video</a:t>
            </a:r>
            <a:endParaRPr i="1">
              <a:latin typeface="Roboto"/>
              <a:ea typeface="Roboto"/>
              <a:cs typeface="Roboto"/>
              <a:sym typeface="Roboto"/>
            </a:endParaRPr>
          </a:p>
        </p:txBody>
      </p:sp>
      <p:sp>
        <p:nvSpPr>
          <p:cNvPr id="486" name="Google Shape;486;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título  resaltarlo</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el párrafo</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el ícono de quizz e incrustar el ejercicio interactivo del </a:t>
            </a:r>
            <a:r>
              <a:rPr b="0" i="1" lang="en-US" sz="1200" u="none" cap="none" strike="noStrike">
                <a:solidFill>
                  <a:schemeClr val="dk1"/>
                </a:solidFill>
                <a:latin typeface="Roboto"/>
                <a:ea typeface="Roboto"/>
                <a:cs typeface="Roboto"/>
                <a:sym typeface="Roboto"/>
              </a:rPr>
              <a:t>guion_09_Burnout_interactivo_caso</a:t>
            </a:r>
            <a:endParaRPr b="0" i="1"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Recurso: Interactivo</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Formato: HTML5 o SCORM / Genially</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Nomenclatura: guion_09_Burnout_interactivo_caso</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Integración: Página</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Responsable: Gráfico y Programación</a:t>
            </a:r>
            <a:endParaRPr b="0" i="0" sz="1200" u="none" cap="none" strike="noStrike">
              <a:solidFill>
                <a:schemeClr val="dk1"/>
              </a:solidFill>
              <a:latin typeface="Roboto"/>
              <a:ea typeface="Roboto"/>
              <a:cs typeface="Roboto"/>
              <a:sym typeface="Roboto"/>
            </a:endParaRPr>
          </a:p>
        </p:txBody>
      </p:sp>
      <p:sp>
        <p:nvSpPr>
          <p:cNvPr id="498" name="Google Shape;498;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Calibri"/>
                <a:ea typeface="Calibri"/>
                <a:cs typeface="Calibri"/>
                <a:sym typeface="Calibri"/>
              </a:rPr>
              <a:t>Utilizar imagen </a:t>
            </a:r>
            <a:r>
              <a:rPr b="0" i="1" lang="en-US" sz="1200" u="none" cap="none" strike="noStrike">
                <a:solidFill>
                  <a:schemeClr val="dk1"/>
                </a:solidFill>
                <a:latin typeface="Calibri"/>
                <a:ea typeface="Calibri"/>
                <a:cs typeface="Calibri"/>
                <a:sym typeface="Calibri"/>
              </a:rPr>
              <a:t>005_Burnout_GS1</a:t>
            </a:r>
            <a:endParaRPr b="0" i="1" sz="1200" u="none" cap="none" strike="noStrike">
              <a:solidFill>
                <a:schemeClr val="dk1"/>
              </a:solidFill>
              <a:latin typeface="Calibri"/>
              <a:ea typeface="Calibri"/>
              <a:cs typeface="Calibri"/>
              <a:sym typeface="Calibri"/>
            </a:endParaRPr>
          </a:p>
        </p:txBody>
      </p:sp>
      <p:sp>
        <p:nvSpPr>
          <p:cNvPr id="507" name="Google Shape;507;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317500" lvl="0" marL="457200" marR="0" rtl="0" algn="l">
              <a:lnSpc>
                <a:spcPct val="100000"/>
              </a:lnSpc>
              <a:spcBef>
                <a:spcPts val="0"/>
              </a:spcBef>
              <a:spcAft>
                <a:spcPts val="0"/>
              </a:spcAft>
              <a:buSzPts val="1400"/>
              <a:buFont typeface="Calibri"/>
              <a:buChar char="●"/>
            </a:pPr>
            <a:r>
              <a:rPr lang="en-US">
                <a:latin typeface="Calibri"/>
                <a:ea typeface="Calibri"/>
                <a:cs typeface="Calibri"/>
                <a:sym typeface="Calibri"/>
              </a:rPr>
              <a:t>Presentar el título</a:t>
            </a:r>
            <a:endParaRPr>
              <a:latin typeface="Calibri"/>
              <a:ea typeface="Calibri"/>
              <a:cs typeface="Calibri"/>
              <a:sym typeface="Calibri"/>
            </a:endParaRPr>
          </a:p>
          <a:p>
            <a:pPr indent="-317500" lvl="0" marL="457200" marR="0" rtl="0" algn="l">
              <a:lnSpc>
                <a:spcPct val="100000"/>
              </a:lnSpc>
              <a:spcBef>
                <a:spcPts val="0"/>
              </a:spcBef>
              <a:spcAft>
                <a:spcPts val="0"/>
              </a:spcAft>
              <a:buSzPts val="1400"/>
              <a:buFont typeface="Calibri"/>
              <a:buChar char="●"/>
            </a:pPr>
            <a:r>
              <a:rPr lang="en-US">
                <a:latin typeface="Calibri"/>
                <a:ea typeface="Calibri"/>
                <a:cs typeface="Calibri"/>
                <a:sym typeface="Calibri"/>
              </a:rPr>
              <a:t>Presentar el contenido</a:t>
            </a:r>
            <a:endParaRPr>
              <a:latin typeface="Calibri"/>
              <a:ea typeface="Calibri"/>
              <a:cs typeface="Calibri"/>
              <a:sym typeface="Calibri"/>
            </a:endParaRPr>
          </a:p>
          <a:p>
            <a:pPr indent="-317500" lvl="0" marL="457200" marR="0" rtl="0" algn="l">
              <a:lnSpc>
                <a:spcPct val="100000"/>
              </a:lnSpc>
              <a:spcBef>
                <a:spcPts val="0"/>
              </a:spcBef>
              <a:spcAft>
                <a:spcPts val="0"/>
              </a:spcAft>
              <a:buSzPts val="1400"/>
              <a:buFont typeface="Calibri"/>
              <a:buChar char="●"/>
            </a:pPr>
            <a:r>
              <a:rPr lang="en-US">
                <a:latin typeface="Calibri"/>
                <a:ea typeface="Calibri"/>
                <a:cs typeface="Calibri"/>
                <a:sym typeface="Calibri"/>
              </a:rPr>
              <a:t>Presentar un ícono o imagen que represente al contenido</a:t>
            </a:r>
            <a:endParaRPr>
              <a:latin typeface="Calibri"/>
              <a:ea typeface="Calibri"/>
              <a:cs typeface="Calibri"/>
              <a:sym typeface="Calibri"/>
            </a:endParaRPr>
          </a:p>
        </p:txBody>
      </p:sp>
      <p:sp>
        <p:nvSpPr>
          <p:cNvPr id="514" name="Google Shape;514;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subtítulo</a:t>
            </a:r>
            <a:endParaRPr/>
          </a:p>
          <a:p>
            <a:pPr indent="-171450" lvl="0" marL="171450" marR="0" rtl="0" algn="l">
              <a:lnSpc>
                <a:spcPct val="100000"/>
              </a:lnSpc>
              <a:spcBef>
                <a:spcPts val="0"/>
              </a:spcBef>
              <a:spcAft>
                <a:spcPts val="0"/>
              </a:spcAft>
              <a:buClr>
                <a:schemeClr val="dk1"/>
              </a:buClr>
              <a:buSzPts val="1200"/>
              <a:buFont typeface="Arial"/>
              <a:buChar char="•"/>
            </a:pPr>
            <a:r>
              <a:rPr lang="en-US">
                <a:latin typeface="Calibri"/>
                <a:ea typeface="Calibri"/>
                <a:cs typeface="Calibri"/>
                <a:sym typeface="Calibri"/>
              </a:rPr>
              <a:t>Presentar el contenido</a:t>
            </a:r>
            <a:endParaRPr>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latin typeface="Calibri"/>
                <a:ea typeface="Calibri"/>
                <a:cs typeface="Calibri"/>
                <a:sym typeface="Calibri"/>
              </a:rPr>
              <a:t>Presentar un ícono o imagen que represente al contenido</a:t>
            </a:r>
            <a:endParaRPr i="1">
              <a:latin typeface="Roboto"/>
              <a:ea typeface="Roboto"/>
              <a:cs typeface="Roboto"/>
              <a:sym typeface="Roboto"/>
            </a:endParaRPr>
          </a:p>
        </p:txBody>
      </p:sp>
      <p:sp>
        <p:nvSpPr>
          <p:cNvPr id="523" name="Google Shape;523;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contenido</a:t>
            </a:r>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botón que al hacer clic se reproducirá en una ventana independiente</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Finalmente aparece el resto del contenido, incluyendo los bullets</a:t>
            </a:r>
            <a:endParaRPr>
              <a:latin typeface="Roboto"/>
              <a:ea typeface="Roboto"/>
              <a:cs typeface="Roboto"/>
              <a:sym typeface="Roboto"/>
            </a:endParaRPr>
          </a:p>
          <a:p>
            <a:pPr indent="-82550" lvl="0" marL="171450" marR="0" rtl="0" algn="l">
              <a:lnSpc>
                <a:spcPct val="100000"/>
              </a:lnSpc>
              <a:spcBef>
                <a:spcPts val="0"/>
              </a:spcBef>
              <a:spcAft>
                <a:spcPts val="0"/>
              </a:spcAft>
              <a:buClr>
                <a:srgbClr val="000000"/>
              </a:buClr>
              <a:buSzPts val="1400"/>
              <a:buFont typeface="Arial"/>
              <a:buNone/>
            </a:pPr>
            <a:r>
              <a:t/>
            </a:r>
            <a:endParaRPr i="1">
              <a:latin typeface="Roboto"/>
              <a:ea typeface="Roboto"/>
              <a:cs typeface="Roboto"/>
              <a:sym typeface="Roboto"/>
            </a:endParaRPr>
          </a:p>
          <a:p>
            <a:pPr indent="-82550" lvl="0" marL="171450" marR="0" rtl="0" algn="l">
              <a:lnSpc>
                <a:spcPct val="100000"/>
              </a:lnSpc>
              <a:spcBef>
                <a:spcPts val="0"/>
              </a:spcBef>
              <a:spcAft>
                <a:spcPts val="0"/>
              </a:spcAft>
              <a:buClr>
                <a:srgbClr val="000000"/>
              </a:buClr>
              <a:buSzPts val="1400"/>
              <a:buFont typeface="Arial"/>
              <a:buNone/>
            </a:pPr>
            <a:r>
              <a:t/>
            </a:r>
            <a:endParaRPr i="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i="1" lang="en-US">
                <a:latin typeface="Roboto"/>
                <a:ea typeface="Roboto"/>
                <a:cs typeface="Roboto"/>
                <a:sym typeface="Roboto"/>
              </a:rPr>
              <a:t>BOTÓN: Ejemplo</a:t>
            </a:r>
            <a:endParaRPr b="1" i="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En un corporativo de moda, los equipos que cerraron proyectos clave son reconocidos públicamente en una reunión mensual. Además, se promueve el descanso real: los líderes evitan enviar mensajes fuera de horario.</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El resultado: </a:t>
            </a:r>
            <a:r>
              <a:rPr lang="en-US">
                <a:latin typeface="Roboto"/>
                <a:ea typeface="Roboto"/>
                <a:cs typeface="Roboto"/>
                <a:sym typeface="Roboto"/>
              </a:rPr>
              <a:t>mayor motivación, compromiso y retención del talento.</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a:latin typeface="Roboto"/>
              <a:ea typeface="Roboto"/>
              <a:cs typeface="Roboto"/>
              <a:sym typeface="Roboto"/>
            </a:endParaRPr>
          </a:p>
        </p:txBody>
      </p:sp>
      <p:sp>
        <p:nvSpPr>
          <p:cNvPr id="533" name="Google Shape;533;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 name="Google Shape;542;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subtítulo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contenido organizado graficamente</a:t>
            </a:r>
            <a:endParaRPr i="1">
              <a:latin typeface="Roboto"/>
              <a:ea typeface="Roboto"/>
              <a:cs typeface="Roboto"/>
              <a:sym typeface="Roboto"/>
            </a:endParaRPr>
          </a:p>
        </p:txBody>
      </p:sp>
      <p:sp>
        <p:nvSpPr>
          <p:cNvPr id="543" name="Google Shape;543;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contenido</a:t>
            </a:r>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botón que al hacer clic se reproducirá en una ventana independiente</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Finalmente aparece el resto del contenido dentro de una caja de texto para resaltarlo</a:t>
            </a:r>
            <a:endParaRPr i="1">
              <a:latin typeface="Roboto"/>
              <a:ea typeface="Roboto"/>
              <a:cs typeface="Roboto"/>
              <a:sym typeface="Roboto"/>
            </a:endParaRPr>
          </a:p>
          <a:p>
            <a:pPr indent="-82550" lvl="0" marL="171450" marR="0" rtl="0" algn="l">
              <a:lnSpc>
                <a:spcPct val="100000"/>
              </a:lnSpc>
              <a:spcBef>
                <a:spcPts val="0"/>
              </a:spcBef>
              <a:spcAft>
                <a:spcPts val="0"/>
              </a:spcAft>
              <a:buClr>
                <a:srgbClr val="000000"/>
              </a:buClr>
              <a:buSzPts val="1400"/>
              <a:buFont typeface="Arial"/>
              <a:buNone/>
            </a:pPr>
            <a:r>
              <a:t/>
            </a:r>
            <a:endParaRPr i="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i="1" lang="en-US">
                <a:latin typeface="Roboto"/>
                <a:ea typeface="Roboto"/>
                <a:cs typeface="Roboto"/>
                <a:sym typeface="Roboto"/>
              </a:rPr>
              <a:t>BOTÓN: Ejemplo</a:t>
            </a:r>
            <a:endParaRPr b="1" i="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Ejemplo: </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Un jefe de área nota que una analista, antes muy proactiva, comienza a cometer errores y participar menos.</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En lugar de sancionarla, el líder se reúne con ella para preguntar cómo se siente y revisar juntos su carga de trabajo.</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Con un pequeño ajuste de tareas y apoyo del equipo, la colaboradora recupera energía y rendimiento.</a:t>
            </a:r>
            <a:endParaRPr>
              <a:latin typeface="Roboto"/>
              <a:ea typeface="Roboto"/>
              <a:cs typeface="Roboto"/>
              <a:sym typeface="Roboto"/>
            </a:endParaRPr>
          </a:p>
        </p:txBody>
      </p:sp>
      <p:sp>
        <p:nvSpPr>
          <p:cNvPr id="553" name="Google Shape;553;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subtítulo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contenido</a:t>
            </a:r>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botón que al hacer clic se reproducirá en una ventana independiente</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i="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i="1" lang="en-US">
                <a:latin typeface="Roboto"/>
                <a:ea typeface="Roboto"/>
                <a:cs typeface="Roboto"/>
                <a:sym typeface="Roboto"/>
              </a:rPr>
              <a:t>BOTÓN: Prácticas saludables de equipo</a:t>
            </a:r>
            <a:endParaRPr b="1" i="1">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Distribuir las tareas de manera equilibrada.</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Compartir aprendizajes y buenas prácticas (no competir por reconocimiento).</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Cuidar el tono en chats y correos: evitar ironías o mensajes pasivo-agresivos.</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Fomentar espacios de conexión humana: pausas grupales, celebraciones, revisiones semanales, aperturas o cierres diarias. </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i="1" lang="en-US">
                <a:latin typeface="Roboto"/>
                <a:ea typeface="Roboto"/>
                <a:cs typeface="Roboto"/>
                <a:sym typeface="Roboto"/>
              </a:rPr>
              <a:t>BOTÓN: Ejemplo</a:t>
            </a:r>
            <a:endParaRPr b="1" i="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El equipo de contabilidad implementa “miércoles de foco”: una hora sin interrupciones ni reuniones, donde todos trabajan concentrados. Al final, comparten un logro de la semana. El clima mejora y los errores bajan. ¡Un equipo que se apoya, se protege del desgaste!</a:t>
            </a:r>
            <a:endParaRPr>
              <a:latin typeface="Roboto"/>
              <a:ea typeface="Roboto"/>
              <a:cs typeface="Roboto"/>
              <a:sym typeface="Roboto"/>
            </a:endParaRPr>
          </a:p>
        </p:txBody>
      </p:sp>
      <p:sp>
        <p:nvSpPr>
          <p:cNvPr id="563" name="Google Shape;563;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subtítulo</a:t>
            </a:r>
            <a:endParaRPr/>
          </a:p>
          <a:p>
            <a:pPr indent="-171450" lvl="0" marL="171450" marR="0" rtl="0" algn="l">
              <a:lnSpc>
                <a:spcPct val="100000"/>
              </a:lnSpc>
              <a:spcBef>
                <a:spcPts val="0"/>
              </a:spcBef>
              <a:spcAft>
                <a:spcPts val="0"/>
              </a:spcAft>
              <a:buClr>
                <a:schemeClr val="dk1"/>
              </a:buClr>
              <a:buSzPts val="1200"/>
              <a:buFont typeface="Arial"/>
              <a:buChar char="•"/>
            </a:pPr>
            <a:r>
              <a:rPr lang="en-US"/>
              <a:t>Presentar contenido</a:t>
            </a:r>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7 íconos en forma de botón que al hacer clic se reproducirá en una ventana independiente</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Cada icono-botón deberá alusivo al contenido </a:t>
            </a:r>
            <a:endParaRPr i="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i="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i="1" lang="en-US">
                <a:latin typeface="Roboto"/>
                <a:ea typeface="Roboto"/>
                <a:cs typeface="Roboto"/>
                <a:sym typeface="Roboto"/>
              </a:rPr>
              <a:t>ÍCONO-BOTÓN 1</a:t>
            </a:r>
            <a:endParaRPr b="1" i="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Ajuste continuo de cargas</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Evaluar y ajustar cargas de trabajo regularmente.</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i="1" lang="en-US">
                <a:latin typeface="Roboto"/>
                <a:ea typeface="Roboto"/>
                <a:cs typeface="Roboto"/>
                <a:sym typeface="Roboto"/>
              </a:rPr>
              <a:t>ÍCONO-BOTÓN 2</a:t>
            </a:r>
            <a:endParaRPr b="1" i="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Capacitación para el bienestar</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Ofrecer capacitaciones sobre manejo del estrés, liderazgo y comunicación efectiva.</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i="1" lang="en-US">
                <a:latin typeface="Roboto"/>
                <a:ea typeface="Roboto"/>
                <a:cs typeface="Roboto"/>
                <a:sym typeface="Roboto"/>
              </a:rPr>
              <a:t>ÍCONO-BOTÓN 3</a:t>
            </a:r>
            <a:endParaRPr b="1" i="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Participación activa del equipo</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Fomentar la participación en decisiones y mejora continua.</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i="1" lang="en-US">
                <a:latin typeface="Roboto"/>
                <a:ea typeface="Roboto"/>
                <a:cs typeface="Roboto"/>
                <a:sym typeface="Roboto"/>
              </a:rPr>
              <a:t>ÍCONO-BOTÓN 4</a:t>
            </a:r>
            <a:endParaRPr b="1" i="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Política de desconexión digital</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Establecer políticas de desconexión digital: sin correos, llamadas o mensajes fuera de horario.</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i="1" lang="en-US">
                <a:latin typeface="Roboto"/>
                <a:ea typeface="Roboto"/>
                <a:cs typeface="Roboto"/>
                <a:sym typeface="Roboto"/>
              </a:rPr>
              <a:t>ÍCONO-BOTÓN 5</a:t>
            </a:r>
            <a:endParaRPr b="1" i="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Flexibilidad laboral efectiva</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Promover flexibilidad laboral: home office, horarios escalonados, permisos familiares.</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i="1" lang="en-US">
                <a:latin typeface="Roboto"/>
                <a:ea typeface="Roboto"/>
                <a:cs typeface="Roboto"/>
                <a:sym typeface="Roboto"/>
              </a:rPr>
              <a:t>ÍCONO-BOTÓN 6</a:t>
            </a:r>
            <a:endParaRPr b="1" i="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Canales seguros de apoyo</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Contar con canales de atención confidenciales para apoyo psicológico o quejas de clima laboral.</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i="1" lang="en-US">
                <a:latin typeface="Roboto"/>
                <a:ea typeface="Roboto"/>
                <a:cs typeface="Roboto"/>
                <a:sym typeface="Roboto"/>
              </a:rPr>
              <a:t>ÍCONO-BOTÓN 7</a:t>
            </a:r>
            <a:endParaRPr b="1" i="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Reconocimiento significativo</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Reconocer públicamente logros y contribuciones.</a:t>
            </a:r>
            <a:endParaRPr>
              <a:latin typeface="Roboto"/>
              <a:ea typeface="Roboto"/>
              <a:cs typeface="Roboto"/>
              <a:sym typeface="Roboto"/>
            </a:endParaRPr>
          </a:p>
        </p:txBody>
      </p:sp>
      <p:sp>
        <p:nvSpPr>
          <p:cNvPr id="575" name="Google Shape;575;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 name="Google Shape;596;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lang="en-US"/>
              <a:t>Presentar contenido y bullets</a:t>
            </a:r>
            <a:endParaRPr/>
          </a:p>
          <a:p>
            <a:pPr indent="-171450" lvl="0" marL="171450" marR="0" rtl="0" algn="l">
              <a:lnSpc>
                <a:spcPct val="100000"/>
              </a:lnSpc>
              <a:spcBef>
                <a:spcPts val="0"/>
              </a:spcBef>
              <a:spcAft>
                <a:spcPts val="0"/>
              </a:spcAft>
              <a:buClr>
                <a:schemeClr val="dk1"/>
              </a:buClr>
              <a:buSzPts val="1200"/>
              <a:buFont typeface="Arial"/>
              <a:buChar char="•"/>
            </a:pPr>
            <a:r>
              <a:rPr lang="en-US">
                <a:latin typeface="Roboto"/>
                <a:ea typeface="Roboto"/>
                <a:cs typeface="Roboto"/>
                <a:sym typeface="Roboto"/>
              </a:rPr>
              <a:t>Presentar íconos sobre el estrés y Burnout que acompañen al contenido</a:t>
            </a:r>
            <a:endParaRPr>
              <a:latin typeface="Roboto"/>
              <a:ea typeface="Roboto"/>
              <a:cs typeface="Roboto"/>
              <a:sym typeface="Roboto"/>
            </a:endParaRPr>
          </a:p>
        </p:txBody>
      </p:sp>
      <p:sp>
        <p:nvSpPr>
          <p:cNvPr id="597" name="Google Shape;597;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Calibri"/>
                <a:ea typeface="Calibri"/>
                <a:cs typeface="Calibri"/>
                <a:sym typeface="Calibri"/>
              </a:rPr>
              <a:t>Elaborar un collage con las imágenes: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Arial"/>
              <a:buNone/>
            </a:pPr>
            <a:r>
              <a:rPr b="0" i="1" lang="en-US" sz="1200" u="none" cap="none" strike="noStrike">
                <a:solidFill>
                  <a:schemeClr val="dk1"/>
                </a:solidFill>
                <a:latin typeface="Calibri"/>
                <a:ea typeface="Calibri"/>
                <a:cs typeface="Calibri"/>
                <a:sym typeface="Calibri"/>
              </a:rPr>
              <a:t>001_Burnout_GS1 </a:t>
            </a:r>
            <a:endParaRPr b="0" i="1"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Arial"/>
              <a:buNone/>
            </a:pPr>
            <a:r>
              <a:rPr b="0" i="1" lang="en-US" sz="1200" u="none" cap="none" strike="noStrike">
                <a:solidFill>
                  <a:schemeClr val="dk1"/>
                </a:solidFill>
                <a:latin typeface="Calibri"/>
                <a:ea typeface="Calibri"/>
                <a:cs typeface="Calibri"/>
                <a:sym typeface="Calibri"/>
              </a:rPr>
              <a:t>002_Burnout_GS1</a:t>
            </a:r>
            <a:endParaRPr b="0" i="1"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Arial"/>
              <a:buNone/>
            </a:pPr>
            <a:r>
              <a:rPr b="0" i="1" lang="en-US" sz="1200" u="none" cap="none" strike="noStrike">
                <a:solidFill>
                  <a:schemeClr val="dk1"/>
                </a:solidFill>
                <a:latin typeface="Calibri"/>
                <a:ea typeface="Calibri"/>
                <a:cs typeface="Calibri"/>
                <a:sym typeface="Calibri"/>
              </a:rPr>
              <a:t>003_Burnout_GS1</a:t>
            </a:r>
            <a:endParaRPr b="0" i="1"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Arial"/>
              <a:buNone/>
            </a:pPr>
            <a:r>
              <a:rPr b="0" i="1" lang="en-US" sz="1200" u="none" cap="none" strike="noStrike">
                <a:solidFill>
                  <a:schemeClr val="dk1"/>
                </a:solidFill>
                <a:latin typeface="Calibri"/>
                <a:ea typeface="Calibri"/>
                <a:cs typeface="Calibri"/>
                <a:sym typeface="Calibri"/>
              </a:rPr>
              <a:t>004_Burnout_GS1</a:t>
            </a:r>
            <a:endParaRPr b="0" i="1"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Arial"/>
              <a:buNone/>
            </a:pPr>
            <a:r>
              <a:rPr b="0" i="1" lang="en-US" sz="1200" u="none" cap="none" strike="noStrike">
                <a:solidFill>
                  <a:schemeClr val="dk1"/>
                </a:solidFill>
                <a:latin typeface="Calibri"/>
                <a:ea typeface="Calibri"/>
                <a:cs typeface="Calibri"/>
                <a:sym typeface="Calibri"/>
              </a:rPr>
              <a:t>005_Burnout_GC1</a:t>
            </a:r>
            <a:endParaRPr b="0" i="1" sz="1200" u="none" cap="none" strike="noStrike">
              <a:solidFill>
                <a:schemeClr val="dk1"/>
              </a:solidFill>
              <a:latin typeface="Calibri"/>
              <a:ea typeface="Calibri"/>
              <a:cs typeface="Calibri"/>
              <a:sym typeface="Calibri"/>
            </a:endParaRPr>
          </a:p>
        </p:txBody>
      </p:sp>
      <p:sp>
        <p:nvSpPr>
          <p:cNvPr id="611" name="Google Shape;611;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el título resaltado</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contenido</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el ícono de video e incrustar el video del </a:t>
            </a:r>
            <a:r>
              <a:rPr i="1" lang="en-US">
                <a:latin typeface="Roboto"/>
                <a:ea typeface="Roboto"/>
                <a:cs typeface="Roboto"/>
                <a:sym typeface="Roboto"/>
              </a:rPr>
              <a:t>guion_10_Burnout_video</a:t>
            </a:r>
            <a:endParaRPr>
              <a:latin typeface="Roboto"/>
              <a:ea typeface="Roboto"/>
              <a:cs typeface="Roboto"/>
              <a:sym typeface="Roboto"/>
            </a:endParaRPr>
          </a:p>
          <a:p>
            <a:pPr indent="-82550" lvl="0" marL="171450" marR="0" rtl="0" algn="l">
              <a:lnSpc>
                <a:spcPct val="100000"/>
              </a:lnSpc>
              <a:spcBef>
                <a:spcPts val="0"/>
              </a:spcBef>
              <a:spcAft>
                <a:spcPts val="0"/>
              </a:spcAft>
              <a:buClr>
                <a:srgbClr val="000000"/>
              </a:buClr>
              <a:buSzPts val="1400"/>
              <a:buFont typeface="Arial"/>
              <a:buNone/>
            </a:pPr>
            <a:r>
              <a:t/>
            </a:r>
            <a:endParaRPr>
              <a:latin typeface="Roboto"/>
              <a:ea typeface="Roboto"/>
              <a:cs typeface="Roboto"/>
              <a:sym typeface="Roboto"/>
            </a:endParaRPr>
          </a:p>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Recurso: Video estilo Motion Graphic</a:t>
            </a:r>
            <a:endParaRPr>
              <a:latin typeface="Roboto"/>
              <a:ea typeface="Roboto"/>
              <a:cs typeface="Roboto"/>
              <a:sym typeface="Roboto"/>
            </a:endParaRPr>
          </a:p>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Formato: MP4</a:t>
            </a:r>
            <a:endParaRPr>
              <a:latin typeface="Roboto"/>
              <a:ea typeface="Roboto"/>
              <a:cs typeface="Roboto"/>
              <a:sym typeface="Roboto"/>
            </a:endParaRPr>
          </a:p>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Nomenclatura: guion_10_Burnout_video</a:t>
            </a:r>
            <a:endParaRPr>
              <a:latin typeface="Roboto"/>
              <a:ea typeface="Roboto"/>
              <a:cs typeface="Roboto"/>
              <a:sym typeface="Roboto"/>
            </a:endParaRPr>
          </a:p>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Integración: Página</a:t>
            </a:r>
            <a:endParaRPr>
              <a:latin typeface="Roboto"/>
              <a:ea typeface="Roboto"/>
              <a:cs typeface="Roboto"/>
              <a:sym typeface="Roboto"/>
            </a:endParaRPr>
          </a:p>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Responsable: Gráfico</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a:latin typeface="Roboto"/>
              <a:ea typeface="Roboto"/>
              <a:cs typeface="Roboto"/>
              <a:sym typeface="Roboto"/>
            </a:endParaRPr>
          </a:p>
        </p:txBody>
      </p:sp>
      <p:sp>
        <p:nvSpPr>
          <p:cNvPr id="623" name="Google Shape;623;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0" name="Google Shape;630;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lang="en-US">
                <a:highlight>
                  <a:srgbClr val="FFFF00"/>
                </a:highlight>
                <a:latin typeface="Calibri"/>
                <a:ea typeface="Calibri"/>
                <a:cs typeface="Calibri"/>
                <a:sym typeface="Calibri"/>
              </a:rPr>
              <a:t>Instrucciones para programación:</a:t>
            </a:r>
            <a:endParaRPr>
              <a:highlight>
                <a:srgbClr val="FFFF00"/>
              </a:highlight>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título resaltarlo</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el párrafo</a:t>
            </a:r>
            <a:endParaRPr>
              <a:latin typeface="Roboto"/>
              <a:ea typeface="Roboto"/>
              <a:cs typeface="Roboto"/>
              <a:sym typeface="Roboto"/>
            </a:endParaRPr>
          </a:p>
          <a:p>
            <a:pPr indent="-171450" lvl="0" marL="171450" marR="0" rtl="0" algn="l">
              <a:lnSpc>
                <a:spcPct val="100000"/>
              </a:lnSpc>
              <a:spcBef>
                <a:spcPts val="0"/>
              </a:spcBef>
              <a:spcAft>
                <a:spcPts val="0"/>
              </a:spcAft>
              <a:buClr>
                <a:srgbClr val="000000"/>
              </a:buClr>
              <a:buSzPts val="1400"/>
              <a:buFont typeface="Arial"/>
              <a:buChar char="•"/>
            </a:pPr>
            <a:r>
              <a:rPr lang="en-US">
                <a:latin typeface="Roboto"/>
                <a:ea typeface="Roboto"/>
                <a:cs typeface="Roboto"/>
                <a:sym typeface="Roboto"/>
              </a:rPr>
              <a:t>Presentar el ícono de quizz e incrustar el ejercicio interactivo del </a:t>
            </a:r>
            <a:r>
              <a:rPr b="0" i="1" lang="en-US" sz="1200" u="none" cap="none" strike="noStrike">
                <a:solidFill>
                  <a:schemeClr val="dk1"/>
                </a:solidFill>
                <a:latin typeface="Roboto"/>
                <a:ea typeface="Roboto"/>
                <a:cs typeface="Roboto"/>
                <a:sym typeface="Roboto"/>
              </a:rPr>
              <a:t>guion_11_Burnout_interactivo_evaluacion</a:t>
            </a:r>
            <a:endParaRPr b="0" i="1"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Recurso: Interactivo</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Formato: HTML5 o SCORM / Genially</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Nomenclatura: guion_11_Burnout_interactivo_evaluacion</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Integración: Página</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Responsable: Gráfico y Programación</a:t>
            </a:r>
            <a:endParaRPr b="0" i="0" sz="1200" u="none" cap="none" strike="noStrike">
              <a:solidFill>
                <a:schemeClr val="dk1"/>
              </a:solidFill>
              <a:latin typeface="Roboto"/>
              <a:ea typeface="Roboto"/>
              <a:cs typeface="Roboto"/>
              <a:sym typeface="Roboto"/>
            </a:endParaRPr>
          </a:p>
        </p:txBody>
      </p:sp>
      <p:sp>
        <p:nvSpPr>
          <p:cNvPr id="631" name="Google Shape;631;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Recurso: Gif animado</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Formato: PDF y PNG</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Nomenclatura: gif animado</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Integración: Página</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Roboto"/>
                <a:ea typeface="Roboto"/>
                <a:cs typeface="Roboto"/>
                <a:sym typeface="Roboto"/>
              </a:rPr>
              <a:t>Responsable: Gráfico</a:t>
            </a:r>
            <a:endParaRPr b="0" i="0" sz="1200" u="none" cap="none" strike="noStrike">
              <a:solidFill>
                <a:schemeClr val="dk1"/>
              </a:solidFill>
              <a:latin typeface="Roboto"/>
              <a:ea typeface="Roboto"/>
              <a:cs typeface="Roboto"/>
              <a:sym typeface="Roboto"/>
            </a:endParaRPr>
          </a:p>
          <a:p>
            <a:pPr indent="0" lvl="0" marL="0" rtl="0" algn="l">
              <a:lnSpc>
                <a:spcPct val="100000"/>
              </a:lnSpc>
              <a:spcBef>
                <a:spcPts val="0"/>
              </a:spcBef>
              <a:spcAft>
                <a:spcPts val="0"/>
              </a:spcAft>
              <a:buSzPts val="1400"/>
              <a:buNone/>
            </a:pPr>
            <a:r>
              <a:t/>
            </a:r>
            <a:endParaRPr b="0">
              <a:highlight>
                <a:schemeClr val="lt1"/>
              </a:highlight>
            </a:endParaRPr>
          </a:p>
        </p:txBody>
      </p:sp>
      <p:sp>
        <p:nvSpPr>
          <p:cNvPr id="640" name="Google Shape;640;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6"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7" name="Shape 17"/>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54"/>
          <p:cNvSpPr/>
          <p:nvPr/>
        </p:nvSpPr>
        <p:spPr>
          <a:xfrm>
            <a:off x="0" y="0"/>
            <a:ext cx="12192000" cy="68580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54"/>
          <p:cNvSpPr/>
          <p:nvPr/>
        </p:nvSpPr>
        <p:spPr>
          <a:xfrm>
            <a:off x="0" y="0"/>
            <a:ext cx="12192000" cy="68580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GS1_Mexico_Large_RGB_2014-12-17" id="21" name="Google Shape;21;p54"/>
          <p:cNvPicPr preferRelativeResize="0"/>
          <p:nvPr/>
        </p:nvPicPr>
        <p:blipFill rotWithShape="1">
          <a:blip r:embed="rId2">
            <a:alphaModFix/>
          </a:blip>
          <a:srcRect b="0" l="0" r="0" t="0"/>
          <a:stretch/>
        </p:blipFill>
        <p:spPr>
          <a:xfrm>
            <a:off x="10673080" y="121920"/>
            <a:ext cx="1379855" cy="810260"/>
          </a:xfrm>
          <a:prstGeom prst="rect">
            <a:avLst/>
          </a:prstGeom>
          <a:noFill/>
          <a:ln>
            <a:noFill/>
          </a:ln>
        </p:spPr>
      </p:pic>
      <p:grpSp>
        <p:nvGrpSpPr>
          <p:cNvPr id="22" name="Google Shape;22;p54"/>
          <p:cNvGrpSpPr/>
          <p:nvPr/>
        </p:nvGrpSpPr>
        <p:grpSpPr>
          <a:xfrm>
            <a:off x="295911" y="6182361"/>
            <a:ext cx="11583035" cy="551815"/>
            <a:chOff x="467" y="9521"/>
            <a:chExt cx="18241" cy="869"/>
          </a:xfrm>
        </p:grpSpPr>
        <p:sp>
          <p:nvSpPr>
            <p:cNvPr id="23" name="Google Shape;23;p54"/>
            <p:cNvSpPr/>
            <p:nvPr/>
          </p:nvSpPr>
          <p:spPr>
            <a:xfrm rot="-5400000">
              <a:off x="372" y="9615"/>
              <a:ext cx="869" cy="680"/>
            </a:xfrm>
            <a:prstGeom prst="triangle">
              <a:avLst>
                <a:gd fmla="val 50000" name="adj"/>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4" name="Google Shape;24;p54"/>
            <p:cNvSpPr txBox="1"/>
            <p:nvPr/>
          </p:nvSpPr>
          <p:spPr>
            <a:xfrm>
              <a:off x="1223" y="9671"/>
              <a:ext cx="1713" cy="57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Arial"/>
                  <a:ea typeface="Arial"/>
                  <a:cs typeface="Arial"/>
                  <a:sym typeface="Arial"/>
                </a:rPr>
                <a:t>Anterior</a:t>
              </a:r>
              <a:endParaRPr b="0" i="0" sz="1800" u="none" cap="none" strike="noStrike">
                <a:solidFill>
                  <a:srgbClr val="000000"/>
                </a:solidFill>
                <a:latin typeface="Arial"/>
                <a:ea typeface="Arial"/>
                <a:cs typeface="Arial"/>
                <a:sym typeface="Arial"/>
              </a:endParaRPr>
            </a:p>
          </p:txBody>
        </p:sp>
        <p:sp>
          <p:nvSpPr>
            <p:cNvPr id="25" name="Google Shape;25;p54"/>
            <p:cNvSpPr/>
            <p:nvPr/>
          </p:nvSpPr>
          <p:spPr>
            <a:xfrm rot="5400000">
              <a:off x="17933" y="9615"/>
              <a:ext cx="869" cy="680"/>
            </a:xfrm>
            <a:prstGeom prst="triangle">
              <a:avLst>
                <a:gd fmla="val 50000" name="adj"/>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 name="Google Shape;26;p54"/>
            <p:cNvSpPr txBox="1"/>
            <p:nvPr/>
          </p:nvSpPr>
          <p:spPr>
            <a:xfrm>
              <a:off x="15685" y="9671"/>
              <a:ext cx="2263" cy="57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Arial"/>
                  <a:ea typeface="Arial"/>
                  <a:cs typeface="Arial"/>
                  <a:sym typeface="Arial"/>
                </a:rPr>
                <a:t>Siguiente</a:t>
              </a:r>
              <a:endParaRPr b="0" i="0" sz="18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7" name="Shape 27"/>
        <p:cNvGrpSpPr/>
        <p:nvPr/>
      </p:nvGrpSpPr>
      <p:grpSpPr>
        <a:xfrm>
          <a:off x="0" y="0"/>
          <a:ext cx="0" cy="0"/>
          <a:chOff x="0" y="0"/>
          <a:chExt cx="0" cy="0"/>
        </a:xfrm>
      </p:grpSpPr>
      <p:sp>
        <p:nvSpPr>
          <p:cNvPr id="28" name="Google Shape;28;p55"/>
          <p:cNvSpPr/>
          <p:nvPr/>
        </p:nvSpPr>
        <p:spPr>
          <a:xfrm>
            <a:off x="0" y="0"/>
            <a:ext cx="12192000" cy="68580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5"/>
          <p:cNvSpPr/>
          <p:nvPr/>
        </p:nvSpPr>
        <p:spPr>
          <a:xfrm>
            <a:off x="0" y="0"/>
            <a:ext cx="12192000" cy="68580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GS1_Mexico_Large_RGB_2014-12-17" id="30" name="Google Shape;30;p55"/>
          <p:cNvPicPr preferRelativeResize="0"/>
          <p:nvPr/>
        </p:nvPicPr>
        <p:blipFill rotWithShape="1">
          <a:blip r:embed="rId2">
            <a:alphaModFix/>
          </a:blip>
          <a:srcRect b="0" l="0" r="0" t="0"/>
          <a:stretch/>
        </p:blipFill>
        <p:spPr>
          <a:xfrm>
            <a:off x="10673080" y="121920"/>
            <a:ext cx="1379855" cy="810260"/>
          </a:xfrm>
          <a:prstGeom prst="rect">
            <a:avLst/>
          </a:prstGeom>
          <a:noFill/>
          <a:ln>
            <a:noFill/>
          </a:ln>
        </p:spPr>
      </p:pic>
      <p:grpSp>
        <p:nvGrpSpPr>
          <p:cNvPr id="31" name="Google Shape;31;p55"/>
          <p:cNvGrpSpPr/>
          <p:nvPr/>
        </p:nvGrpSpPr>
        <p:grpSpPr>
          <a:xfrm>
            <a:off x="295911" y="6182361"/>
            <a:ext cx="11583035" cy="551815"/>
            <a:chOff x="467" y="9521"/>
            <a:chExt cx="18241" cy="869"/>
          </a:xfrm>
        </p:grpSpPr>
        <p:sp>
          <p:nvSpPr>
            <p:cNvPr id="32" name="Google Shape;32;p55"/>
            <p:cNvSpPr/>
            <p:nvPr/>
          </p:nvSpPr>
          <p:spPr>
            <a:xfrm rot="-5400000">
              <a:off x="372" y="9615"/>
              <a:ext cx="869" cy="680"/>
            </a:xfrm>
            <a:prstGeom prst="triangle">
              <a:avLst>
                <a:gd fmla="val 50000" name="adj"/>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3" name="Google Shape;33;p55"/>
            <p:cNvSpPr txBox="1"/>
            <p:nvPr/>
          </p:nvSpPr>
          <p:spPr>
            <a:xfrm>
              <a:off x="1223" y="9671"/>
              <a:ext cx="1713" cy="57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Arial"/>
                  <a:ea typeface="Arial"/>
                  <a:cs typeface="Arial"/>
                  <a:sym typeface="Arial"/>
                </a:rPr>
                <a:t>Anterior</a:t>
              </a:r>
              <a:endParaRPr b="0" i="0" sz="1800" u="none" cap="none" strike="noStrike">
                <a:solidFill>
                  <a:srgbClr val="000000"/>
                </a:solidFill>
                <a:latin typeface="Arial"/>
                <a:ea typeface="Arial"/>
                <a:cs typeface="Arial"/>
                <a:sym typeface="Arial"/>
              </a:endParaRPr>
            </a:p>
          </p:txBody>
        </p:sp>
        <p:sp>
          <p:nvSpPr>
            <p:cNvPr id="34" name="Google Shape;34;p55"/>
            <p:cNvSpPr/>
            <p:nvPr/>
          </p:nvSpPr>
          <p:spPr>
            <a:xfrm rot="5400000">
              <a:off x="17933" y="9615"/>
              <a:ext cx="869" cy="680"/>
            </a:xfrm>
            <a:prstGeom prst="triangle">
              <a:avLst>
                <a:gd fmla="val 50000" name="adj"/>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 name="Google Shape;35;p55"/>
            <p:cNvSpPr txBox="1"/>
            <p:nvPr/>
          </p:nvSpPr>
          <p:spPr>
            <a:xfrm>
              <a:off x="15685" y="9671"/>
              <a:ext cx="2263" cy="57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Arial"/>
                  <a:ea typeface="Arial"/>
                  <a:cs typeface="Arial"/>
                  <a:sym typeface="Arial"/>
                </a:rPr>
                <a:t>Siguiente</a:t>
              </a:r>
              <a:endParaRPr b="0" i="0" sz="18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6" name="Shape 36"/>
        <p:cNvGrpSpPr/>
        <p:nvPr/>
      </p:nvGrpSpPr>
      <p:grpSpPr>
        <a:xfrm>
          <a:off x="0" y="0"/>
          <a:ext cx="0" cy="0"/>
          <a:chOff x="0" y="0"/>
          <a:chExt cx="0" cy="0"/>
        </a:xfrm>
      </p:grpSpPr>
      <p:sp>
        <p:nvSpPr>
          <p:cNvPr id="37" name="Google Shape;37;p56"/>
          <p:cNvSpPr/>
          <p:nvPr/>
        </p:nvSpPr>
        <p:spPr>
          <a:xfrm>
            <a:off x="0" y="0"/>
            <a:ext cx="12192000" cy="68580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56"/>
          <p:cNvSpPr/>
          <p:nvPr/>
        </p:nvSpPr>
        <p:spPr>
          <a:xfrm>
            <a:off x="0" y="0"/>
            <a:ext cx="12192000" cy="68580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GS1_Mexico_Large_RGB_2014-12-17" id="39" name="Google Shape;39;p56"/>
          <p:cNvPicPr preferRelativeResize="0"/>
          <p:nvPr/>
        </p:nvPicPr>
        <p:blipFill rotWithShape="1">
          <a:blip r:embed="rId2">
            <a:alphaModFix/>
          </a:blip>
          <a:srcRect b="0" l="0" r="0" t="0"/>
          <a:stretch/>
        </p:blipFill>
        <p:spPr>
          <a:xfrm>
            <a:off x="10673080" y="121920"/>
            <a:ext cx="1379855" cy="810260"/>
          </a:xfrm>
          <a:prstGeom prst="rect">
            <a:avLst/>
          </a:prstGeom>
          <a:noFill/>
          <a:ln>
            <a:noFill/>
          </a:ln>
        </p:spPr>
      </p:pic>
      <p:grpSp>
        <p:nvGrpSpPr>
          <p:cNvPr id="40" name="Google Shape;40;p56"/>
          <p:cNvGrpSpPr/>
          <p:nvPr/>
        </p:nvGrpSpPr>
        <p:grpSpPr>
          <a:xfrm>
            <a:off x="295911" y="6182361"/>
            <a:ext cx="11583035" cy="551815"/>
            <a:chOff x="467" y="9521"/>
            <a:chExt cx="18241" cy="869"/>
          </a:xfrm>
        </p:grpSpPr>
        <p:sp>
          <p:nvSpPr>
            <p:cNvPr id="41" name="Google Shape;41;p56"/>
            <p:cNvSpPr/>
            <p:nvPr/>
          </p:nvSpPr>
          <p:spPr>
            <a:xfrm rot="-5400000">
              <a:off x="372" y="9615"/>
              <a:ext cx="869" cy="680"/>
            </a:xfrm>
            <a:prstGeom prst="triangle">
              <a:avLst>
                <a:gd fmla="val 50000" name="adj"/>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2" name="Google Shape;42;p56"/>
            <p:cNvSpPr txBox="1"/>
            <p:nvPr/>
          </p:nvSpPr>
          <p:spPr>
            <a:xfrm>
              <a:off x="1223" y="9671"/>
              <a:ext cx="1713" cy="57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Arial"/>
                  <a:ea typeface="Arial"/>
                  <a:cs typeface="Arial"/>
                  <a:sym typeface="Arial"/>
                </a:rPr>
                <a:t>Anterior</a:t>
              </a:r>
              <a:endParaRPr b="0" i="0" sz="1800" u="none" cap="none" strike="noStrike">
                <a:solidFill>
                  <a:srgbClr val="000000"/>
                </a:solidFill>
                <a:latin typeface="Arial"/>
                <a:ea typeface="Arial"/>
                <a:cs typeface="Arial"/>
                <a:sym typeface="Arial"/>
              </a:endParaRPr>
            </a:p>
          </p:txBody>
        </p:sp>
        <p:sp>
          <p:nvSpPr>
            <p:cNvPr id="43" name="Google Shape;43;p56"/>
            <p:cNvSpPr/>
            <p:nvPr/>
          </p:nvSpPr>
          <p:spPr>
            <a:xfrm rot="5400000">
              <a:off x="17933" y="9615"/>
              <a:ext cx="869" cy="680"/>
            </a:xfrm>
            <a:prstGeom prst="triangle">
              <a:avLst>
                <a:gd fmla="val 50000" name="adj"/>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 name="Google Shape;44;p56"/>
            <p:cNvSpPr txBox="1"/>
            <p:nvPr/>
          </p:nvSpPr>
          <p:spPr>
            <a:xfrm>
              <a:off x="15685" y="9671"/>
              <a:ext cx="2263" cy="57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Arial"/>
                  <a:ea typeface="Arial"/>
                  <a:cs typeface="Arial"/>
                  <a:sym typeface="Arial"/>
                </a:rPr>
                <a:t>Siguiente</a:t>
              </a:r>
              <a:endParaRPr b="0" i="0" sz="18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45" name="Shape 45"/>
        <p:cNvGrpSpPr/>
        <p:nvPr/>
      </p:nvGrpSpPr>
      <p:grpSpPr>
        <a:xfrm>
          <a:off x="0" y="0"/>
          <a:ext cx="0" cy="0"/>
          <a:chOff x="0" y="0"/>
          <a:chExt cx="0" cy="0"/>
        </a:xfrm>
      </p:grpSpPr>
      <p:sp>
        <p:nvSpPr>
          <p:cNvPr id="46" name="Google Shape;46;p57"/>
          <p:cNvSpPr/>
          <p:nvPr/>
        </p:nvSpPr>
        <p:spPr>
          <a:xfrm>
            <a:off x="0" y="0"/>
            <a:ext cx="12192000" cy="68580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57"/>
          <p:cNvSpPr/>
          <p:nvPr/>
        </p:nvSpPr>
        <p:spPr>
          <a:xfrm>
            <a:off x="0" y="0"/>
            <a:ext cx="12192000" cy="68580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GS1_Mexico_Large_RGB_2014-12-17" id="48" name="Google Shape;48;p57"/>
          <p:cNvPicPr preferRelativeResize="0"/>
          <p:nvPr/>
        </p:nvPicPr>
        <p:blipFill rotWithShape="1">
          <a:blip r:embed="rId2">
            <a:alphaModFix/>
          </a:blip>
          <a:srcRect b="0" l="0" r="0" t="0"/>
          <a:stretch/>
        </p:blipFill>
        <p:spPr>
          <a:xfrm>
            <a:off x="10673080" y="121920"/>
            <a:ext cx="1379855" cy="810260"/>
          </a:xfrm>
          <a:prstGeom prst="rect">
            <a:avLst/>
          </a:prstGeom>
          <a:noFill/>
          <a:ln>
            <a:noFill/>
          </a:ln>
        </p:spPr>
      </p:pic>
      <p:grpSp>
        <p:nvGrpSpPr>
          <p:cNvPr id="49" name="Google Shape;49;p57"/>
          <p:cNvGrpSpPr/>
          <p:nvPr/>
        </p:nvGrpSpPr>
        <p:grpSpPr>
          <a:xfrm>
            <a:off x="295911" y="6182361"/>
            <a:ext cx="11583035" cy="551815"/>
            <a:chOff x="467" y="9521"/>
            <a:chExt cx="18241" cy="869"/>
          </a:xfrm>
        </p:grpSpPr>
        <p:sp>
          <p:nvSpPr>
            <p:cNvPr id="50" name="Google Shape;50;p57"/>
            <p:cNvSpPr/>
            <p:nvPr/>
          </p:nvSpPr>
          <p:spPr>
            <a:xfrm rot="-5400000">
              <a:off x="372" y="9615"/>
              <a:ext cx="869" cy="680"/>
            </a:xfrm>
            <a:prstGeom prst="triangle">
              <a:avLst>
                <a:gd fmla="val 50000" name="adj"/>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 name="Google Shape;51;p57"/>
            <p:cNvSpPr txBox="1"/>
            <p:nvPr/>
          </p:nvSpPr>
          <p:spPr>
            <a:xfrm>
              <a:off x="1223" y="9671"/>
              <a:ext cx="1713" cy="57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Arial"/>
                  <a:ea typeface="Arial"/>
                  <a:cs typeface="Arial"/>
                  <a:sym typeface="Arial"/>
                </a:rPr>
                <a:t>Anterior</a:t>
              </a:r>
              <a:endParaRPr b="0" i="0" sz="1800" u="none" cap="none" strike="noStrike">
                <a:solidFill>
                  <a:srgbClr val="000000"/>
                </a:solidFill>
                <a:latin typeface="Arial"/>
                <a:ea typeface="Arial"/>
                <a:cs typeface="Arial"/>
                <a:sym typeface="Arial"/>
              </a:endParaRPr>
            </a:p>
          </p:txBody>
        </p:sp>
        <p:sp>
          <p:nvSpPr>
            <p:cNvPr id="52" name="Google Shape;52;p57"/>
            <p:cNvSpPr/>
            <p:nvPr/>
          </p:nvSpPr>
          <p:spPr>
            <a:xfrm rot="5400000">
              <a:off x="17933" y="9615"/>
              <a:ext cx="869" cy="680"/>
            </a:xfrm>
            <a:prstGeom prst="triangle">
              <a:avLst>
                <a:gd fmla="val 50000" name="adj"/>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3" name="Google Shape;53;p57"/>
            <p:cNvSpPr txBox="1"/>
            <p:nvPr/>
          </p:nvSpPr>
          <p:spPr>
            <a:xfrm>
              <a:off x="15685" y="9671"/>
              <a:ext cx="2263" cy="57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Arial"/>
                  <a:ea typeface="Arial"/>
                  <a:cs typeface="Arial"/>
                  <a:sym typeface="Arial"/>
                </a:rPr>
                <a:t>Siguiente</a:t>
              </a:r>
              <a:endParaRPr b="0" i="0" sz="18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54" name="Shape 54"/>
        <p:cNvGrpSpPr/>
        <p:nvPr/>
      </p:nvGrpSpPr>
      <p:grpSpPr>
        <a:xfrm>
          <a:off x="0" y="0"/>
          <a:ext cx="0" cy="0"/>
          <a:chOff x="0" y="0"/>
          <a:chExt cx="0" cy="0"/>
        </a:xfrm>
      </p:grpSpPr>
      <p:sp>
        <p:nvSpPr>
          <p:cNvPr id="55" name="Google Shape;55;p58"/>
          <p:cNvSpPr/>
          <p:nvPr/>
        </p:nvSpPr>
        <p:spPr>
          <a:xfrm>
            <a:off x="0" y="0"/>
            <a:ext cx="12192000" cy="68580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58"/>
          <p:cNvSpPr/>
          <p:nvPr/>
        </p:nvSpPr>
        <p:spPr>
          <a:xfrm>
            <a:off x="0" y="0"/>
            <a:ext cx="12192000" cy="68580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GS1_Mexico_Large_RGB_2014-12-17" id="57" name="Google Shape;57;p58"/>
          <p:cNvPicPr preferRelativeResize="0"/>
          <p:nvPr/>
        </p:nvPicPr>
        <p:blipFill rotWithShape="1">
          <a:blip r:embed="rId2">
            <a:alphaModFix/>
          </a:blip>
          <a:srcRect b="0" l="0" r="0" t="0"/>
          <a:stretch/>
        </p:blipFill>
        <p:spPr>
          <a:xfrm>
            <a:off x="10673080" y="121920"/>
            <a:ext cx="1379855" cy="810260"/>
          </a:xfrm>
          <a:prstGeom prst="rect">
            <a:avLst/>
          </a:prstGeom>
          <a:noFill/>
          <a:ln>
            <a:noFill/>
          </a:ln>
        </p:spPr>
      </p:pic>
      <p:grpSp>
        <p:nvGrpSpPr>
          <p:cNvPr id="58" name="Google Shape;58;p58"/>
          <p:cNvGrpSpPr/>
          <p:nvPr/>
        </p:nvGrpSpPr>
        <p:grpSpPr>
          <a:xfrm>
            <a:off x="295911" y="6182361"/>
            <a:ext cx="11583035" cy="551815"/>
            <a:chOff x="467" y="9521"/>
            <a:chExt cx="18241" cy="869"/>
          </a:xfrm>
        </p:grpSpPr>
        <p:sp>
          <p:nvSpPr>
            <p:cNvPr id="59" name="Google Shape;59;p58"/>
            <p:cNvSpPr/>
            <p:nvPr/>
          </p:nvSpPr>
          <p:spPr>
            <a:xfrm rot="-5400000">
              <a:off x="372" y="9615"/>
              <a:ext cx="869" cy="680"/>
            </a:xfrm>
            <a:prstGeom prst="triangle">
              <a:avLst>
                <a:gd fmla="val 50000" name="adj"/>
              </a:avLst>
            </a:prstGeom>
            <a:solidFill>
              <a:schemeClr val="accent1"/>
            </a:solidFill>
            <a:ln cap="flat" cmpd="sng" w="25400">
              <a:solidFill>
                <a:srgbClr val="2F549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0" name="Google Shape;60;p58"/>
            <p:cNvSpPr txBox="1"/>
            <p:nvPr/>
          </p:nvSpPr>
          <p:spPr>
            <a:xfrm>
              <a:off x="1223" y="9671"/>
              <a:ext cx="1324" cy="57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Arial"/>
                  <a:ea typeface="Arial"/>
                  <a:cs typeface="Arial"/>
                  <a:sym typeface="Arial"/>
                </a:rPr>
                <a:t>Atrás</a:t>
              </a:r>
              <a:endParaRPr b="0" i="0" sz="1800" u="none" cap="none" strike="noStrike">
                <a:solidFill>
                  <a:srgbClr val="000000"/>
                </a:solidFill>
                <a:latin typeface="Arial"/>
                <a:ea typeface="Arial"/>
                <a:cs typeface="Arial"/>
                <a:sym typeface="Arial"/>
              </a:endParaRPr>
            </a:p>
          </p:txBody>
        </p:sp>
        <p:sp>
          <p:nvSpPr>
            <p:cNvPr id="61" name="Google Shape;61;p58"/>
            <p:cNvSpPr/>
            <p:nvPr/>
          </p:nvSpPr>
          <p:spPr>
            <a:xfrm rot="5400000">
              <a:off x="17933" y="9615"/>
              <a:ext cx="869" cy="680"/>
            </a:xfrm>
            <a:prstGeom prst="triangle">
              <a:avLst>
                <a:gd fmla="val 50000" name="adj"/>
              </a:avLst>
            </a:prstGeom>
            <a:solidFill>
              <a:schemeClr val="accent1"/>
            </a:solidFill>
            <a:ln cap="flat" cmpd="sng" w="25400">
              <a:solidFill>
                <a:srgbClr val="2F549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2" name="Google Shape;62;p58"/>
            <p:cNvSpPr txBox="1"/>
            <p:nvPr/>
          </p:nvSpPr>
          <p:spPr>
            <a:xfrm>
              <a:off x="16165" y="9671"/>
              <a:ext cx="1783" cy="57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Arial"/>
                  <a:ea typeface="Arial"/>
                  <a:cs typeface="Arial"/>
                  <a:sym typeface="Arial"/>
                </a:rPr>
                <a:t>Avanzar</a:t>
              </a:r>
              <a:endParaRPr b="0" i="0" sz="18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63" name="Shape 63"/>
        <p:cNvGrpSpPr/>
        <p:nvPr/>
      </p:nvGrpSpPr>
      <p:grpSpPr>
        <a:xfrm>
          <a:off x="0" y="0"/>
          <a:ext cx="0" cy="0"/>
          <a:chOff x="0" y="0"/>
          <a:chExt cx="0" cy="0"/>
        </a:xfrm>
      </p:grpSpPr>
      <p:sp>
        <p:nvSpPr>
          <p:cNvPr id="64" name="Google Shape;64;p59"/>
          <p:cNvSpPr/>
          <p:nvPr/>
        </p:nvSpPr>
        <p:spPr>
          <a:xfrm>
            <a:off x="0" y="0"/>
            <a:ext cx="12192000" cy="68580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59"/>
          <p:cNvSpPr/>
          <p:nvPr/>
        </p:nvSpPr>
        <p:spPr>
          <a:xfrm>
            <a:off x="0" y="0"/>
            <a:ext cx="12192000" cy="68580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GS1_Mexico_Large_RGB_2014-12-17" id="66" name="Google Shape;66;p59"/>
          <p:cNvPicPr preferRelativeResize="0"/>
          <p:nvPr/>
        </p:nvPicPr>
        <p:blipFill rotWithShape="1">
          <a:blip r:embed="rId2">
            <a:alphaModFix/>
          </a:blip>
          <a:srcRect b="0" l="0" r="0" t="0"/>
          <a:stretch/>
        </p:blipFill>
        <p:spPr>
          <a:xfrm>
            <a:off x="10673080" y="121920"/>
            <a:ext cx="1379855" cy="810260"/>
          </a:xfrm>
          <a:prstGeom prst="rect">
            <a:avLst/>
          </a:prstGeom>
          <a:noFill/>
          <a:ln>
            <a:noFill/>
          </a:ln>
        </p:spPr>
      </p:pic>
      <p:grpSp>
        <p:nvGrpSpPr>
          <p:cNvPr id="67" name="Google Shape;67;p59"/>
          <p:cNvGrpSpPr/>
          <p:nvPr/>
        </p:nvGrpSpPr>
        <p:grpSpPr>
          <a:xfrm>
            <a:off x="295911" y="6182361"/>
            <a:ext cx="11583035" cy="551815"/>
            <a:chOff x="467" y="9521"/>
            <a:chExt cx="18241" cy="869"/>
          </a:xfrm>
        </p:grpSpPr>
        <p:sp>
          <p:nvSpPr>
            <p:cNvPr id="68" name="Google Shape;68;p59"/>
            <p:cNvSpPr/>
            <p:nvPr/>
          </p:nvSpPr>
          <p:spPr>
            <a:xfrm rot="-5400000">
              <a:off x="372" y="9615"/>
              <a:ext cx="869" cy="680"/>
            </a:xfrm>
            <a:prstGeom prst="triangle">
              <a:avLst>
                <a:gd fmla="val 50000" name="adj"/>
              </a:avLst>
            </a:prstGeom>
            <a:solidFill>
              <a:schemeClr val="accent1"/>
            </a:solidFill>
            <a:ln cap="flat" cmpd="sng" w="25400">
              <a:solidFill>
                <a:srgbClr val="2F549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9" name="Google Shape;69;p59"/>
            <p:cNvSpPr txBox="1"/>
            <p:nvPr/>
          </p:nvSpPr>
          <p:spPr>
            <a:xfrm>
              <a:off x="1223" y="9671"/>
              <a:ext cx="1324" cy="57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Arial"/>
                  <a:ea typeface="Arial"/>
                  <a:cs typeface="Arial"/>
                  <a:sym typeface="Arial"/>
                </a:rPr>
                <a:t>Atrás</a:t>
              </a:r>
              <a:endParaRPr b="0" i="0" sz="1800" u="none" cap="none" strike="noStrike">
                <a:solidFill>
                  <a:srgbClr val="000000"/>
                </a:solidFill>
                <a:latin typeface="Arial"/>
                <a:ea typeface="Arial"/>
                <a:cs typeface="Arial"/>
                <a:sym typeface="Arial"/>
              </a:endParaRPr>
            </a:p>
          </p:txBody>
        </p:sp>
        <p:sp>
          <p:nvSpPr>
            <p:cNvPr id="70" name="Google Shape;70;p59"/>
            <p:cNvSpPr/>
            <p:nvPr/>
          </p:nvSpPr>
          <p:spPr>
            <a:xfrm rot="5400000">
              <a:off x="17933" y="9615"/>
              <a:ext cx="869" cy="680"/>
            </a:xfrm>
            <a:prstGeom prst="triangle">
              <a:avLst>
                <a:gd fmla="val 50000" name="adj"/>
              </a:avLst>
            </a:prstGeom>
            <a:solidFill>
              <a:schemeClr val="accent1"/>
            </a:solidFill>
            <a:ln cap="flat" cmpd="sng" w="25400">
              <a:solidFill>
                <a:srgbClr val="2F549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1" name="Google Shape;71;p59"/>
            <p:cNvSpPr txBox="1"/>
            <p:nvPr/>
          </p:nvSpPr>
          <p:spPr>
            <a:xfrm>
              <a:off x="16165" y="9671"/>
              <a:ext cx="1783" cy="57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Arial"/>
                  <a:ea typeface="Arial"/>
                  <a:cs typeface="Arial"/>
                  <a:sym typeface="Arial"/>
                </a:rPr>
                <a:t>Avanzar</a:t>
              </a:r>
              <a:endParaRPr b="0" i="0" sz="18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72" name="Shape 72"/>
        <p:cNvGrpSpPr/>
        <p:nvPr/>
      </p:nvGrpSpPr>
      <p:grpSpPr>
        <a:xfrm>
          <a:off x="0" y="0"/>
          <a:ext cx="0" cy="0"/>
          <a:chOff x="0" y="0"/>
          <a:chExt cx="0" cy="0"/>
        </a:xfrm>
      </p:grpSpPr>
      <p:sp>
        <p:nvSpPr>
          <p:cNvPr id="73" name="Google Shape;73;p60"/>
          <p:cNvSpPr/>
          <p:nvPr/>
        </p:nvSpPr>
        <p:spPr>
          <a:xfrm>
            <a:off x="0" y="0"/>
            <a:ext cx="12192000" cy="68580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60"/>
          <p:cNvSpPr/>
          <p:nvPr/>
        </p:nvSpPr>
        <p:spPr>
          <a:xfrm>
            <a:off x="0" y="0"/>
            <a:ext cx="12192000" cy="68580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GS1_Mexico_Large_RGB_2014-12-17" id="75" name="Google Shape;75;p60"/>
          <p:cNvPicPr preferRelativeResize="0"/>
          <p:nvPr/>
        </p:nvPicPr>
        <p:blipFill rotWithShape="1">
          <a:blip r:embed="rId2">
            <a:alphaModFix/>
          </a:blip>
          <a:srcRect b="0" l="0" r="0" t="0"/>
          <a:stretch/>
        </p:blipFill>
        <p:spPr>
          <a:xfrm>
            <a:off x="10673080" y="121920"/>
            <a:ext cx="1379855" cy="810260"/>
          </a:xfrm>
          <a:prstGeom prst="rect">
            <a:avLst/>
          </a:prstGeom>
          <a:noFill/>
          <a:ln>
            <a:noFill/>
          </a:ln>
        </p:spPr>
      </p:pic>
      <p:grpSp>
        <p:nvGrpSpPr>
          <p:cNvPr id="76" name="Google Shape;76;p60"/>
          <p:cNvGrpSpPr/>
          <p:nvPr/>
        </p:nvGrpSpPr>
        <p:grpSpPr>
          <a:xfrm>
            <a:off x="295911" y="6182361"/>
            <a:ext cx="11583035" cy="551815"/>
            <a:chOff x="467" y="9521"/>
            <a:chExt cx="18241" cy="869"/>
          </a:xfrm>
        </p:grpSpPr>
        <p:sp>
          <p:nvSpPr>
            <p:cNvPr id="77" name="Google Shape;77;p60"/>
            <p:cNvSpPr/>
            <p:nvPr/>
          </p:nvSpPr>
          <p:spPr>
            <a:xfrm rot="-5400000">
              <a:off x="372" y="9615"/>
              <a:ext cx="869" cy="680"/>
            </a:xfrm>
            <a:prstGeom prst="triangle">
              <a:avLst>
                <a:gd fmla="val 50000" name="adj"/>
              </a:avLst>
            </a:prstGeom>
            <a:solidFill>
              <a:schemeClr val="accent1"/>
            </a:solidFill>
            <a:ln cap="flat" cmpd="sng" w="25400">
              <a:solidFill>
                <a:srgbClr val="2F549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8" name="Google Shape;78;p60"/>
            <p:cNvSpPr txBox="1"/>
            <p:nvPr/>
          </p:nvSpPr>
          <p:spPr>
            <a:xfrm>
              <a:off x="1223" y="9671"/>
              <a:ext cx="1324" cy="57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Arial"/>
                  <a:ea typeface="Arial"/>
                  <a:cs typeface="Arial"/>
                  <a:sym typeface="Arial"/>
                </a:rPr>
                <a:t>Atrás</a:t>
              </a:r>
              <a:endParaRPr b="0" i="0" sz="1800" u="none" cap="none" strike="noStrike">
                <a:solidFill>
                  <a:srgbClr val="000000"/>
                </a:solidFill>
                <a:latin typeface="Arial"/>
                <a:ea typeface="Arial"/>
                <a:cs typeface="Arial"/>
                <a:sym typeface="Arial"/>
              </a:endParaRPr>
            </a:p>
          </p:txBody>
        </p:sp>
        <p:sp>
          <p:nvSpPr>
            <p:cNvPr id="79" name="Google Shape;79;p60"/>
            <p:cNvSpPr/>
            <p:nvPr/>
          </p:nvSpPr>
          <p:spPr>
            <a:xfrm rot="5400000">
              <a:off x="17933" y="9615"/>
              <a:ext cx="869" cy="680"/>
            </a:xfrm>
            <a:prstGeom prst="triangle">
              <a:avLst>
                <a:gd fmla="val 50000" name="adj"/>
              </a:avLst>
            </a:prstGeom>
            <a:solidFill>
              <a:schemeClr val="accent1"/>
            </a:solidFill>
            <a:ln cap="flat" cmpd="sng" w="25400">
              <a:solidFill>
                <a:srgbClr val="2F549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0" name="Google Shape;80;p60"/>
            <p:cNvSpPr txBox="1"/>
            <p:nvPr/>
          </p:nvSpPr>
          <p:spPr>
            <a:xfrm>
              <a:off x="16165" y="9671"/>
              <a:ext cx="1783" cy="57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Arial"/>
                  <a:ea typeface="Arial"/>
                  <a:cs typeface="Arial"/>
                  <a:sym typeface="Arial"/>
                </a:rPr>
                <a:t>Avanzar</a:t>
              </a:r>
              <a:endParaRPr b="0" i="0" sz="18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81" name="Shape 81"/>
        <p:cNvGrpSpPr/>
        <p:nvPr/>
      </p:nvGrpSpPr>
      <p:grpSpPr>
        <a:xfrm>
          <a:off x="0" y="0"/>
          <a:ext cx="0" cy="0"/>
          <a:chOff x="0" y="0"/>
          <a:chExt cx="0" cy="0"/>
        </a:xfrm>
      </p:grpSpPr>
      <p:sp>
        <p:nvSpPr>
          <p:cNvPr id="82" name="Google Shape;82;p61"/>
          <p:cNvSpPr/>
          <p:nvPr/>
        </p:nvSpPr>
        <p:spPr>
          <a:xfrm>
            <a:off x="0" y="0"/>
            <a:ext cx="12192000" cy="6858000"/>
          </a:xfrm>
          <a:prstGeom prst="rect">
            <a:avLst/>
          </a:prstGeom>
          <a:solidFill>
            <a:srgbClr val="ECEC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61"/>
          <p:cNvSpPr/>
          <p:nvPr/>
        </p:nvSpPr>
        <p:spPr>
          <a:xfrm>
            <a:off x="0" y="0"/>
            <a:ext cx="12192000" cy="6858000"/>
          </a:xfrm>
          <a:prstGeom prst="rect">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GS1_Mexico_Large_RGB_2014-12-17" id="84" name="Google Shape;84;p61"/>
          <p:cNvPicPr preferRelativeResize="0"/>
          <p:nvPr/>
        </p:nvPicPr>
        <p:blipFill rotWithShape="1">
          <a:blip r:embed="rId2">
            <a:alphaModFix/>
          </a:blip>
          <a:srcRect b="0" l="0" r="0" t="0"/>
          <a:stretch/>
        </p:blipFill>
        <p:spPr>
          <a:xfrm>
            <a:off x="10673080" y="121920"/>
            <a:ext cx="1379855" cy="810260"/>
          </a:xfrm>
          <a:prstGeom prst="rect">
            <a:avLst/>
          </a:prstGeom>
          <a:noFill/>
          <a:ln>
            <a:noFill/>
          </a:ln>
        </p:spPr>
      </p:pic>
      <p:grpSp>
        <p:nvGrpSpPr>
          <p:cNvPr id="85" name="Google Shape;85;p61"/>
          <p:cNvGrpSpPr/>
          <p:nvPr/>
        </p:nvGrpSpPr>
        <p:grpSpPr>
          <a:xfrm>
            <a:off x="295911" y="6182361"/>
            <a:ext cx="11583035" cy="551815"/>
            <a:chOff x="467" y="9521"/>
            <a:chExt cx="18241" cy="869"/>
          </a:xfrm>
        </p:grpSpPr>
        <p:sp>
          <p:nvSpPr>
            <p:cNvPr id="86" name="Google Shape;86;p61"/>
            <p:cNvSpPr/>
            <p:nvPr/>
          </p:nvSpPr>
          <p:spPr>
            <a:xfrm rot="-5400000">
              <a:off x="372" y="9615"/>
              <a:ext cx="869" cy="680"/>
            </a:xfrm>
            <a:prstGeom prst="triangle">
              <a:avLst>
                <a:gd fmla="val 50000" name="adj"/>
              </a:avLst>
            </a:prstGeom>
            <a:solidFill>
              <a:schemeClr val="accent1"/>
            </a:solidFill>
            <a:ln cap="flat" cmpd="sng" w="25400">
              <a:solidFill>
                <a:srgbClr val="2F549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 name="Google Shape;87;p61"/>
            <p:cNvSpPr txBox="1"/>
            <p:nvPr/>
          </p:nvSpPr>
          <p:spPr>
            <a:xfrm>
              <a:off x="1223" y="9671"/>
              <a:ext cx="1324" cy="57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Arial"/>
                  <a:ea typeface="Arial"/>
                  <a:cs typeface="Arial"/>
                  <a:sym typeface="Arial"/>
                </a:rPr>
                <a:t>Atrás</a:t>
              </a:r>
              <a:endParaRPr b="0" i="0" sz="1800" u="none" cap="none" strike="noStrike">
                <a:solidFill>
                  <a:srgbClr val="000000"/>
                </a:solidFill>
                <a:latin typeface="Arial"/>
                <a:ea typeface="Arial"/>
                <a:cs typeface="Arial"/>
                <a:sym typeface="Arial"/>
              </a:endParaRPr>
            </a:p>
          </p:txBody>
        </p:sp>
        <p:sp>
          <p:nvSpPr>
            <p:cNvPr id="88" name="Google Shape;88;p61"/>
            <p:cNvSpPr/>
            <p:nvPr/>
          </p:nvSpPr>
          <p:spPr>
            <a:xfrm rot="5400000">
              <a:off x="17933" y="9615"/>
              <a:ext cx="869" cy="680"/>
            </a:xfrm>
            <a:prstGeom prst="triangle">
              <a:avLst>
                <a:gd fmla="val 50000" name="adj"/>
              </a:avLst>
            </a:prstGeom>
            <a:solidFill>
              <a:schemeClr val="accent1"/>
            </a:solidFill>
            <a:ln cap="flat" cmpd="sng" w="25400">
              <a:solidFill>
                <a:srgbClr val="2F549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9" name="Google Shape;89;p61"/>
            <p:cNvSpPr txBox="1"/>
            <p:nvPr/>
          </p:nvSpPr>
          <p:spPr>
            <a:xfrm>
              <a:off x="16165" y="9671"/>
              <a:ext cx="1783" cy="57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Arial"/>
                  <a:ea typeface="Arial"/>
                  <a:cs typeface="Arial"/>
                  <a:sym typeface="Arial"/>
                </a:rPr>
                <a:t>Avanzar</a:t>
              </a:r>
              <a:endParaRPr b="0" i="0" sz="1800" u="none" cap="none"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7.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GS1_Mexico_Large_RGB_2014-12-17" id="10" name="Google Shape;10;p50"/>
          <p:cNvPicPr preferRelativeResize="0"/>
          <p:nvPr/>
        </p:nvPicPr>
        <p:blipFill rotWithShape="1">
          <a:blip r:embed="rId1">
            <a:alphaModFix/>
          </a:blip>
          <a:srcRect b="0" l="0" r="0" t="0"/>
          <a:stretch/>
        </p:blipFill>
        <p:spPr>
          <a:xfrm>
            <a:off x="10673080" y="121920"/>
            <a:ext cx="1379855" cy="810260"/>
          </a:xfrm>
          <a:prstGeom prst="rect">
            <a:avLst/>
          </a:prstGeom>
          <a:noFill/>
          <a:ln>
            <a:noFill/>
          </a:ln>
        </p:spPr>
      </p:pic>
      <p:sp>
        <p:nvSpPr>
          <p:cNvPr id="11" name="Google Shape;11;p50"/>
          <p:cNvSpPr/>
          <p:nvPr/>
        </p:nvSpPr>
        <p:spPr>
          <a:xfrm rot="-5400000">
            <a:off x="236220" y="6242685"/>
            <a:ext cx="551815" cy="431800"/>
          </a:xfrm>
          <a:prstGeom prst="triangle">
            <a:avLst>
              <a:gd fmla="val 50000" name="adj"/>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 name="Google Shape;12;p50"/>
          <p:cNvSpPr txBox="1"/>
          <p:nvPr/>
        </p:nvSpPr>
        <p:spPr>
          <a:xfrm>
            <a:off x="776605" y="6278245"/>
            <a:ext cx="1087755" cy="3670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Arial"/>
                <a:ea typeface="Arial"/>
                <a:cs typeface="Arial"/>
                <a:sym typeface="Arial"/>
              </a:rPr>
              <a:t>Anterior</a:t>
            </a:r>
            <a:endParaRPr b="0" i="0" sz="1800" u="none" cap="none" strike="noStrike">
              <a:solidFill>
                <a:srgbClr val="000000"/>
              </a:solidFill>
              <a:latin typeface="Arial"/>
              <a:ea typeface="Arial"/>
              <a:cs typeface="Arial"/>
              <a:sym typeface="Arial"/>
            </a:endParaRPr>
          </a:p>
        </p:txBody>
      </p:sp>
      <p:sp>
        <p:nvSpPr>
          <p:cNvPr id="13" name="Google Shape;13;p50"/>
          <p:cNvSpPr/>
          <p:nvPr/>
        </p:nvSpPr>
        <p:spPr>
          <a:xfrm rot="5400000">
            <a:off x="11387455" y="6242685"/>
            <a:ext cx="551815" cy="431800"/>
          </a:xfrm>
          <a:prstGeom prst="triangle">
            <a:avLst>
              <a:gd fmla="val 50000" name="adj"/>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 name="Google Shape;14;p50"/>
          <p:cNvSpPr txBox="1"/>
          <p:nvPr/>
        </p:nvSpPr>
        <p:spPr>
          <a:xfrm>
            <a:off x="9959975" y="6278245"/>
            <a:ext cx="1437005" cy="36703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US" sz="1800" u="none" cap="none" strike="noStrike">
                <a:solidFill>
                  <a:srgbClr val="000000"/>
                </a:solidFill>
                <a:latin typeface="Arial"/>
                <a:ea typeface="Arial"/>
                <a:cs typeface="Arial"/>
                <a:sym typeface="Arial"/>
              </a:rPr>
              <a:t>Siguiente</a:t>
            </a:r>
            <a:endParaRPr b="0" i="0" sz="18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4.jp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4.png"/><Relationship Id="rId8"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12.png"/><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7.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30.jpg"/><Relationship Id="rId4" Type="http://schemas.openxmlformats.org/officeDocument/2006/relationships/image" Target="../media/image27.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4.jpg"/><Relationship Id="rId4" Type="http://schemas.openxmlformats.org/officeDocument/2006/relationships/image" Target="../media/image38.png"/><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image" Target="../media/image37.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5.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descr="001_Burnout_GS1" id="95" name="Google Shape;95;p1"/>
          <p:cNvPicPr preferRelativeResize="0"/>
          <p:nvPr/>
        </p:nvPicPr>
        <p:blipFill rotWithShape="1">
          <a:blip r:embed="rId3">
            <a:alphaModFix/>
          </a:blip>
          <a:srcRect b="0" l="0" r="0" t="13745"/>
          <a:stretch/>
        </p:blipFill>
        <p:spPr>
          <a:xfrm>
            <a:off x="0" y="0"/>
            <a:ext cx="12215495" cy="7024370"/>
          </a:xfrm>
          <a:prstGeom prst="rect">
            <a:avLst/>
          </a:prstGeom>
          <a:noFill/>
          <a:ln>
            <a:noFill/>
          </a:ln>
        </p:spPr>
      </p:pic>
      <p:pic>
        <p:nvPicPr>
          <p:cNvPr id="96" name="Google Shape;96;p1"/>
          <p:cNvPicPr preferRelativeResize="0"/>
          <p:nvPr/>
        </p:nvPicPr>
        <p:blipFill rotWithShape="1">
          <a:blip r:embed="rId4">
            <a:alphaModFix/>
          </a:blip>
          <a:srcRect b="0" l="0" r="0" t="0"/>
          <a:stretch/>
        </p:blipFill>
        <p:spPr>
          <a:xfrm>
            <a:off x="815340" y="427355"/>
            <a:ext cx="852170" cy="597535"/>
          </a:xfrm>
          <a:prstGeom prst="rect">
            <a:avLst/>
          </a:prstGeom>
          <a:noFill/>
          <a:ln>
            <a:noFill/>
          </a:ln>
        </p:spPr>
      </p:pic>
      <p:pic>
        <p:nvPicPr>
          <p:cNvPr id="97" name="Google Shape;97;p1"/>
          <p:cNvPicPr preferRelativeResize="0"/>
          <p:nvPr/>
        </p:nvPicPr>
        <p:blipFill rotWithShape="1">
          <a:blip r:embed="rId5">
            <a:alphaModFix/>
          </a:blip>
          <a:srcRect b="0" l="0" r="0" t="0"/>
          <a:stretch/>
        </p:blipFill>
        <p:spPr>
          <a:xfrm>
            <a:off x="10504170" y="5156200"/>
            <a:ext cx="843915" cy="601980"/>
          </a:xfrm>
          <a:prstGeom prst="rect">
            <a:avLst/>
          </a:prstGeom>
          <a:noFill/>
          <a:ln>
            <a:noFill/>
          </a:ln>
        </p:spPr>
      </p:pic>
      <p:sp>
        <p:nvSpPr>
          <p:cNvPr id="98" name="Google Shape;98;p1"/>
          <p:cNvSpPr txBox="1"/>
          <p:nvPr/>
        </p:nvSpPr>
        <p:spPr>
          <a:xfrm>
            <a:off x="-20681" y="1024912"/>
            <a:ext cx="844200" cy="615600"/>
          </a:xfrm>
          <a:prstGeom prst="rect">
            <a:avLst/>
          </a:prstGeom>
          <a:solidFill>
            <a:schemeClr val="accent2"/>
          </a:solidFill>
          <a:ln>
            <a:noFill/>
          </a:ln>
        </p:spPr>
        <p:txBody>
          <a:bodyPr anchorCtr="0" anchor="ctr" bIns="60925" lIns="121900" spcFirstLastPara="1" rIns="121900" wrap="square" tIns="60925">
            <a:noAutofit/>
          </a:bodyPr>
          <a:lstStyle/>
          <a:p>
            <a:pPr indent="0" lvl="0" marL="0" marR="0" rtl="0" algn="ctr">
              <a:lnSpc>
                <a:spcPct val="90000"/>
              </a:lnSpc>
              <a:spcBef>
                <a:spcPts val="0"/>
              </a:spcBef>
              <a:spcAft>
                <a:spcPts val="0"/>
              </a:spcAft>
              <a:buClr>
                <a:schemeClr val="lt1"/>
              </a:buClr>
              <a:buSzPts val="2000"/>
              <a:buFont typeface="Arial"/>
              <a:buNone/>
            </a:pPr>
            <a:r>
              <a:t/>
            </a:r>
            <a:endParaRPr b="0" i="0" sz="2400" u="none" cap="none" strike="noStrike">
              <a:solidFill>
                <a:schemeClr val="dk1"/>
              </a:solidFill>
              <a:latin typeface="Arial"/>
              <a:ea typeface="Arial"/>
              <a:cs typeface="Arial"/>
              <a:sym typeface="Arial"/>
            </a:endParaRPr>
          </a:p>
        </p:txBody>
      </p:sp>
      <p:sp>
        <p:nvSpPr>
          <p:cNvPr id="99" name="Google Shape;99;p1"/>
          <p:cNvSpPr txBox="1"/>
          <p:nvPr/>
        </p:nvSpPr>
        <p:spPr>
          <a:xfrm>
            <a:off x="849833" y="6408770"/>
            <a:ext cx="844200" cy="615600"/>
          </a:xfrm>
          <a:prstGeom prst="rect">
            <a:avLst/>
          </a:prstGeom>
          <a:solidFill>
            <a:schemeClr val="accent2"/>
          </a:solidFill>
          <a:ln>
            <a:noFill/>
          </a:ln>
        </p:spPr>
        <p:txBody>
          <a:bodyPr anchorCtr="0" anchor="ctr" bIns="60925" lIns="121900" spcFirstLastPara="1" rIns="121900" wrap="square" tIns="60925">
            <a:noAutofit/>
          </a:bodyPr>
          <a:lstStyle/>
          <a:p>
            <a:pPr indent="0" lvl="0" marL="0" marR="0" rtl="0" algn="ctr">
              <a:lnSpc>
                <a:spcPct val="90000"/>
              </a:lnSpc>
              <a:spcBef>
                <a:spcPts val="0"/>
              </a:spcBef>
              <a:spcAft>
                <a:spcPts val="0"/>
              </a:spcAft>
              <a:buClr>
                <a:schemeClr val="lt1"/>
              </a:buClr>
              <a:buSzPts val="2000"/>
              <a:buFont typeface="Arial"/>
              <a:buNone/>
            </a:pPr>
            <a:r>
              <a:t/>
            </a:r>
            <a:endParaRPr b="0" i="0" sz="2400" u="none" cap="none" strike="noStrike">
              <a:solidFill>
                <a:schemeClr val="dk1"/>
              </a:solidFill>
              <a:latin typeface="Arial"/>
              <a:ea typeface="Arial"/>
              <a:cs typeface="Arial"/>
              <a:sym typeface="Arial"/>
            </a:endParaRPr>
          </a:p>
        </p:txBody>
      </p:sp>
      <p:sp>
        <p:nvSpPr>
          <p:cNvPr id="100" name="Google Shape;100;p1"/>
          <p:cNvSpPr txBox="1"/>
          <p:nvPr/>
        </p:nvSpPr>
        <p:spPr>
          <a:xfrm>
            <a:off x="1667719" y="187"/>
            <a:ext cx="844200" cy="615600"/>
          </a:xfrm>
          <a:prstGeom prst="rect">
            <a:avLst/>
          </a:prstGeom>
          <a:solidFill>
            <a:schemeClr val="accent2"/>
          </a:solidFill>
          <a:ln>
            <a:noFill/>
          </a:ln>
        </p:spPr>
        <p:txBody>
          <a:bodyPr anchorCtr="0" anchor="ctr" bIns="60925" lIns="121900" spcFirstLastPara="1" rIns="121900" wrap="square" tIns="60925">
            <a:noAutofit/>
          </a:bodyPr>
          <a:lstStyle/>
          <a:p>
            <a:pPr indent="0" lvl="0" marL="0" marR="0" rtl="0" algn="ctr">
              <a:lnSpc>
                <a:spcPct val="90000"/>
              </a:lnSpc>
              <a:spcBef>
                <a:spcPts val="0"/>
              </a:spcBef>
              <a:spcAft>
                <a:spcPts val="0"/>
              </a:spcAft>
              <a:buClr>
                <a:schemeClr val="lt1"/>
              </a:buClr>
              <a:buSzPts val="2000"/>
              <a:buFont typeface="Arial"/>
              <a:buNone/>
            </a:pPr>
            <a:r>
              <a:t/>
            </a:r>
            <a:endParaRPr b="0" i="0" sz="2400" u="none" cap="none" strike="noStrike">
              <a:solidFill>
                <a:schemeClr val="dk1"/>
              </a:solidFill>
              <a:latin typeface="Arial"/>
              <a:ea typeface="Arial"/>
              <a:cs typeface="Arial"/>
              <a:sym typeface="Arial"/>
            </a:endParaRPr>
          </a:p>
        </p:txBody>
      </p:sp>
      <p:sp>
        <p:nvSpPr>
          <p:cNvPr id="101" name="Google Shape;101;p1"/>
          <p:cNvSpPr txBox="1"/>
          <p:nvPr/>
        </p:nvSpPr>
        <p:spPr>
          <a:xfrm>
            <a:off x="10553854" y="548718"/>
            <a:ext cx="844200" cy="615600"/>
          </a:xfrm>
          <a:prstGeom prst="rect">
            <a:avLst/>
          </a:prstGeom>
          <a:solidFill>
            <a:schemeClr val="accent2"/>
          </a:solidFill>
          <a:ln>
            <a:noFill/>
          </a:ln>
        </p:spPr>
        <p:txBody>
          <a:bodyPr anchorCtr="0" anchor="ctr" bIns="60925" lIns="121900" spcFirstLastPara="1" rIns="121900" wrap="square" tIns="60925">
            <a:noAutofit/>
          </a:bodyPr>
          <a:lstStyle/>
          <a:p>
            <a:pPr indent="0" lvl="0" marL="0" marR="0" rtl="0" algn="ctr">
              <a:lnSpc>
                <a:spcPct val="90000"/>
              </a:lnSpc>
              <a:spcBef>
                <a:spcPts val="0"/>
              </a:spcBef>
              <a:spcAft>
                <a:spcPts val="0"/>
              </a:spcAft>
              <a:buClr>
                <a:schemeClr val="lt1"/>
              </a:buClr>
              <a:buSzPts val="2000"/>
              <a:buFont typeface="Arial"/>
              <a:buNone/>
            </a:pPr>
            <a:r>
              <a:t/>
            </a:r>
            <a:endParaRPr b="0" i="0" sz="2400" u="none" cap="none" strike="noStrike">
              <a:solidFill>
                <a:schemeClr val="dk1"/>
              </a:solidFill>
              <a:latin typeface="Arial"/>
              <a:ea typeface="Arial"/>
              <a:cs typeface="Arial"/>
              <a:sym typeface="Arial"/>
            </a:endParaRPr>
          </a:p>
        </p:txBody>
      </p:sp>
      <p:sp>
        <p:nvSpPr>
          <p:cNvPr id="102" name="Google Shape;102;p1"/>
          <p:cNvSpPr txBox="1"/>
          <p:nvPr/>
        </p:nvSpPr>
        <p:spPr>
          <a:xfrm>
            <a:off x="0" y="3472180"/>
            <a:ext cx="12226290" cy="2154555"/>
          </a:xfrm>
          <a:prstGeom prst="rect">
            <a:avLst/>
          </a:prstGeom>
          <a:solidFill>
            <a:schemeClr val="lt1">
              <a:alpha val="69803"/>
            </a:scheme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20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000"/>
              <a:buFont typeface="Arial"/>
              <a:buNone/>
            </a:pPr>
            <a:r>
              <a:rPr b="1" i="0" lang="en-US" sz="5000" u="none" cap="none" strike="noStrike">
                <a:solidFill>
                  <a:schemeClr val="dk1"/>
                </a:solidFill>
                <a:latin typeface="Arial"/>
                <a:ea typeface="Arial"/>
                <a:cs typeface="Arial"/>
                <a:sym typeface="Arial"/>
              </a:rPr>
              <a:t>Prevención y atención del Burnout </a:t>
            </a:r>
            <a:endParaRPr b="1" i="0" sz="5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000"/>
              <a:buFont typeface="Arial"/>
              <a:buNone/>
            </a:pPr>
            <a:r>
              <a:rPr b="1" i="0" lang="en-US" sz="5000" u="none" cap="none" strike="noStrike">
                <a:solidFill>
                  <a:schemeClr val="dk1"/>
                </a:solidFill>
                <a:latin typeface="Arial"/>
                <a:ea typeface="Arial"/>
                <a:cs typeface="Arial"/>
                <a:sym typeface="Arial"/>
              </a:rPr>
              <a:t>y Bienestar Laboral</a:t>
            </a:r>
            <a:endParaRPr b="1" i="0" sz="5000" u="none" cap="none" strike="noStrike">
              <a:solidFill>
                <a:schemeClr val="dk1"/>
              </a:solidFill>
              <a:latin typeface="Arial"/>
              <a:ea typeface="Arial"/>
              <a:cs typeface="Arial"/>
              <a:sym typeface="Arial"/>
            </a:endParaRPr>
          </a:p>
        </p:txBody>
      </p:sp>
      <p:pic>
        <p:nvPicPr>
          <p:cNvPr id="103" name="Google Shape;103;p1"/>
          <p:cNvPicPr preferRelativeResize="0"/>
          <p:nvPr/>
        </p:nvPicPr>
        <p:blipFill rotWithShape="1">
          <a:blip r:embed="rId5">
            <a:alphaModFix/>
          </a:blip>
          <a:srcRect b="0" l="0" r="0" t="0"/>
          <a:stretch/>
        </p:blipFill>
        <p:spPr>
          <a:xfrm>
            <a:off x="582295" y="1640205"/>
            <a:ext cx="843915" cy="601980"/>
          </a:xfrm>
          <a:prstGeom prst="rect">
            <a:avLst/>
          </a:prstGeom>
          <a:noFill/>
          <a:ln>
            <a:noFill/>
          </a:ln>
        </p:spPr>
      </p:pic>
      <p:pic>
        <p:nvPicPr>
          <p:cNvPr id="104" name="Google Shape;104;p1"/>
          <p:cNvPicPr preferRelativeResize="0"/>
          <p:nvPr/>
        </p:nvPicPr>
        <p:blipFill rotWithShape="1">
          <a:blip r:embed="rId6">
            <a:alphaModFix/>
          </a:blip>
          <a:srcRect b="0" l="0" r="0" t="0"/>
          <a:stretch/>
        </p:blipFill>
        <p:spPr>
          <a:xfrm>
            <a:off x="0" y="5901055"/>
            <a:ext cx="849630" cy="566420"/>
          </a:xfrm>
          <a:prstGeom prst="rect">
            <a:avLst/>
          </a:prstGeom>
          <a:noFill/>
          <a:ln>
            <a:noFill/>
          </a:ln>
        </p:spPr>
      </p:pic>
      <p:pic>
        <p:nvPicPr>
          <p:cNvPr id="105" name="Google Shape;105;p1"/>
          <p:cNvPicPr preferRelativeResize="0"/>
          <p:nvPr/>
        </p:nvPicPr>
        <p:blipFill rotWithShape="1">
          <a:blip r:embed="rId6">
            <a:alphaModFix/>
          </a:blip>
          <a:srcRect b="0" l="0" r="0" t="0"/>
          <a:stretch/>
        </p:blipFill>
        <p:spPr>
          <a:xfrm>
            <a:off x="11342370" y="0"/>
            <a:ext cx="849630" cy="566420"/>
          </a:xfrm>
          <a:prstGeom prst="rect">
            <a:avLst/>
          </a:prstGeom>
          <a:noFill/>
          <a:ln>
            <a:noFill/>
          </a:ln>
        </p:spPr>
      </p:pic>
      <p:pic>
        <p:nvPicPr>
          <p:cNvPr id="106" name="Google Shape;106;p1"/>
          <p:cNvPicPr preferRelativeResize="0"/>
          <p:nvPr/>
        </p:nvPicPr>
        <p:blipFill rotWithShape="1">
          <a:blip r:embed="rId4">
            <a:alphaModFix/>
          </a:blip>
          <a:srcRect b="0" l="0" r="0" t="0"/>
          <a:stretch/>
        </p:blipFill>
        <p:spPr>
          <a:xfrm>
            <a:off x="11362690" y="4585335"/>
            <a:ext cx="852170" cy="597535"/>
          </a:xfrm>
          <a:prstGeom prst="rect">
            <a:avLst/>
          </a:prstGeom>
          <a:noFill/>
          <a:ln>
            <a:noFill/>
          </a:ln>
        </p:spPr>
      </p:pic>
      <p:pic>
        <p:nvPicPr>
          <p:cNvPr id="107" name="Google Shape;107;p1"/>
          <p:cNvPicPr preferRelativeResize="0"/>
          <p:nvPr/>
        </p:nvPicPr>
        <p:blipFill rotWithShape="1">
          <a:blip r:embed="rId7">
            <a:alphaModFix/>
          </a:blip>
          <a:srcRect b="0" l="0" r="0" t="0"/>
          <a:stretch/>
        </p:blipFill>
        <p:spPr>
          <a:xfrm>
            <a:off x="815340" y="5336540"/>
            <a:ext cx="782320" cy="577850"/>
          </a:xfrm>
          <a:prstGeom prst="rect">
            <a:avLst/>
          </a:prstGeom>
          <a:noFill/>
          <a:ln>
            <a:noFill/>
          </a:ln>
        </p:spPr>
      </p:pic>
      <p:pic>
        <p:nvPicPr>
          <p:cNvPr id="108" name="Google Shape;108;p1"/>
          <p:cNvPicPr preferRelativeResize="0"/>
          <p:nvPr/>
        </p:nvPicPr>
        <p:blipFill rotWithShape="1">
          <a:blip r:embed="rId7">
            <a:alphaModFix/>
          </a:blip>
          <a:srcRect b="0" l="0" r="0" t="0"/>
          <a:stretch/>
        </p:blipFill>
        <p:spPr>
          <a:xfrm>
            <a:off x="11376660" y="5758180"/>
            <a:ext cx="849630" cy="577850"/>
          </a:xfrm>
          <a:prstGeom prst="rect">
            <a:avLst/>
          </a:prstGeom>
          <a:noFill/>
          <a:ln>
            <a:noFill/>
          </a:ln>
        </p:spPr>
      </p:pic>
      <p:pic>
        <p:nvPicPr>
          <p:cNvPr id="109" name="Google Shape;109;p1"/>
          <p:cNvPicPr preferRelativeResize="0"/>
          <p:nvPr/>
        </p:nvPicPr>
        <p:blipFill rotWithShape="1">
          <a:blip r:embed="rId8">
            <a:alphaModFix/>
          </a:blip>
          <a:srcRect b="0" l="0" r="0" t="0"/>
          <a:stretch/>
        </p:blipFill>
        <p:spPr>
          <a:xfrm>
            <a:off x="1597660" y="5897880"/>
            <a:ext cx="773430" cy="569595"/>
          </a:xfrm>
          <a:prstGeom prst="rect">
            <a:avLst/>
          </a:prstGeom>
          <a:noFill/>
          <a:ln>
            <a:noFill/>
          </a:ln>
        </p:spPr>
      </p:pic>
      <p:pic>
        <p:nvPicPr>
          <p:cNvPr id="110" name="Google Shape;110;p1"/>
          <p:cNvPicPr preferRelativeResize="0"/>
          <p:nvPr/>
        </p:nvPicPr>
        <p:blipFill rotWithShape="1">
          <a:blip r:embed="rId6">
            <a:alphaModFix/>
          </a:blip>
          <a:srcRect b="0" l="0" r="0" t="0"/>
          <a:stretch/>
        </p:blipFill>
        <p:spPr>
          <a:xfrm>
            <a:off x="10619740" y="6242685"/>
            <a:ext cx="849630" cy="566420"/>
          </a:xfrm>
          <a:prstGeom prst="rect">
            <a:avLst/>
          </a:prstGeom>
          <a:noFill/>
          <a:ln>
            <a:noFill/>
          </a:ln>
        </p:spPr>
      </p:pic>
      <p:pic>
        <p:nvPicPr>
          <p:cNvPr id="111" name="Google Shape;111;p1"/>
          <p:cNvPicPr preferRelativeResize="0"/>
          <p:nvPr/>
        </p:nvPicPr>
        <p:blipFill rotWithShape="1">
          <a:blip r:embed="rId4">
            <a:alphaModFix/>
          </a:blip>
          <a:srcRect b="0" l="0" r="0" t="0"/>
          <a:stretch/>
        </p:blipFill>
        <p:spPr>
          <a:xfrm>
            <a:off x="11339830" y="1164590"/>
            <a:ext cx="852170" cy="597535"/>
          </a:xfrm>
          <a:prstGeom prst="rect">
            <a:avLst/>
          </a:prstGeom>
          <a:noFill/>
          <a:ln>
            <a:noFill/>
          </a:ln>
        </p:spPr>
      </p:pic>
      <p:sp>
        <p:nvSpPr>
          <p:cNvPr id="112" name="Google Shape;112;p1"/>
          <p:cNvSpPr/>
          <p:nvPr/>
        </p:nvSpPr>
        <p:spPr>
          <a:xfrm>
            <a:off x="4988560" y="6147435"/>
            <a:ext cx="2260600" cy="584200"/>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Comenzar</a:t>
            </a:r>
            <a:endParaRPr b="1" i="0" sz="2400" u="none" cap="none" strike="noStrik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
          <p:cNvSpPr txBox="1"/>
          <p:nvPr/>
        </p:nvSpPr>
        <p:spPr>
          <a:xfrm>
            <a:off x="15875" y="1507490"/>
            <a:ext cx="12192000" cy="12985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1" lang="en-US" sz="2200" u="none" cap="none" strike="noStrike">
                <a:solidFill>
                  <a:srgbClr val="C55A11"/>
                </a:solidFill>
                <a:latin typeface="Arial"/>
                <a:ea typeface="Arial"/>
                <a:cs typeface="Arial"/>
                <a:sym typeface="Arial"/>
              </a:rPr>
              <a:t>Prevención y atención del Burnout y Bienestar Laboral.</a:t>
            </a:r>
            <a:endParaRPr b="1" i="1" sz="2200" u="none" cap="none" strike="noStrike">
              <a:solidFill>
                <a:srgbClr val="C55A1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2000" u="none" cap="none" strike="noStrike">
                <a:solidFill>
                  <a:srgbClr val="000000"/>
                </a:solidFill>
                <a:latin typeface="Arial"/>
                <a:ea typeface="Arial"/>
                <a:cs typeface="Arial"/>
                <a:sym typeface="Arial"/>
              </a:rPr>
              <a:t> </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2000" u="none" cap="none" strike="noStrike">
                <a:solidFill>
                  <a:srgbClr val="000000"/>
                </a:solidFill>
                <a:latin typeface="Arial"/>
                <a:ea typeface="Arial"/>
                <a:cs typeface="Arial"/>
                <a:sym typeface="Arial"/>
              </a:rPr>
              <a:t>Revisa el siguiente video para saber en qué consiste.</a:t>
            </a:r>
            <a:endParaRPr b="0" i="0" sz="2000" u="none" cap="none" strike="noStrike">
              <a:solidFill>
                <a:srgbClr val="000000"/>
              </a:solidFill>
              <a:latin typeface="Arial"/>
              <a:ea typeface="Arial"/>
              <a:cs typeface="Arial"/>
              <a:sym typeface="Arial"/>
            </a:endParaRPr>
          </a:p>
        </p:txBody>
      </p:sp>
      <p:pic>
        <p:nvPicPr>
          <p:cNvPr id="119" name="Google Shape;119;p2"/>
          <p:cNvPicPr preferRelativeResize="0"/>
          <p:nvPr/>
        </p:nvPicPr>
        <p:blipFill rotWithShape="1">
          <a:blip r:embed="rId3">
            <a:alphaModFix/>
          </a:blip>
          <a:srcRect b="22592" l="22491" r="22694" t="22491"/>
          <a:stretch/>
        </p:blipFill>
        <p:spPr>
          <a:xfrm>
            <a:off x="4463415" y="3119120"/>
            <a:ext cx="3276600" cy="3080385"/>
          </a:xfrm>
          <a:prstGeom prst="rect">
            <a:avLst/>
          </a:prstGeom>
          <a:noFill/>
          <a:ln>
            <a:noFill/>
          </a:ln>
        </p:spPr>
      </p:pic>
      <p:sp>
        <p:nvSpPr>
          <p:cNvPr id="120" name="Google Shape;120;p2"/>
          <p:cNvSpPr txBox="1"/>
          <p:nvPr/>
        </p:nvSpPr>
        <p:spPr>
          <a:xfrm>
            <a:off x="350520" y="307340"/>
            <a:ext cx="3782695" cy="5219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C55A11"/>
                </a:solidFill>
                <a:latin typeface="Arial"/>
                <a:ea typeface="Arial"/>
                <a:cs typeface="Arial"/>
                <a:sym typeface="Arial"/>
              </a:rPr>
              <a:t>Presentación</a:t>
            </a:r>
            <a:endParaRPr b="1" i="0" sz="2800" u="none" cap="none" strike="noStrike">
              <a:solidFill>
                <a:srgbClr val="C55A1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nvSpPr>
        <p:spPr>
          <a:xfrm>
            <a:off x="350520" y="260985"/>
            <a:ext cx="6099175" cy="61150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C55A11"/>
                </a:solidFill>
                <a:latin typeface="Arial"/>
                <a:ea typeface="Arial"/>
                <a:cs typeface="Arial"/>
                <a:sym typeface="Arial"/>
              </a:rPr>
              <a:t>Ruta de Aprendizaje</a:t>
            </a:r>
            <a:endParaRPr b="1" i="0" sz="2800" u="none" cap="none" strike="noStrike">
              <a:solidFill>
                <a:srgbClr val="C55A11"/>
              </a:solidFill>
              <a:latin typeface="Arial"/>
              <a:ea typeface="Arial"/>
              <a:cs typeface="Arial"/>
              <a:sym typeface="Arial"/>
            </a:endParaRPr>
          </a:p>
        </p:txBody>
      </p:sp>
      <p:sp>
        <p:nvSpPr>
          <p:cNvPr id="127" name="Google Shape;127;p3"/>
          <p:cNvSpPr txBox="1"/>
          <p:nvPr/>
        </p:nvSpPr>
        <p:spPr>
          <a:xfrm>
            <a:off x="1329690" y="1815465"/>
            <a:ext cx="9469120" cy="19367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2000" u="none" cap="none" strike="noStrike">
                <a:solidFill>
                  <a:srgbClr val="000000"/>
                </a:solidFill>
                <a:latin typeface="Arial"/>
                <a:ea typeface="Arial"/>
                <a:cs typeface="Arial"/>
                <a:sym typeface="Arial"/>
              </a:rPr>
              <a:t>Como puedes ver, cuidar nuestro bienestar es esencial para mantener nuestra salud y un sano desempeño. Prevenir y atender el burnout nos permite construir entornos laborales más equilibrados, humanos y productivos.</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2000" u="none" cap="none" strike="noStrike">
                <a:solidFill>
                  <a:srgbClr val="000000"/>
                </a:solidFill>
                <a:latin typeface="Arial"/>
                <a:ea typeface="Arial"/>
                <a:cs typeface="Arial"/>
                <a:sym typeface="Arial"/>
              </a:rPr>
              <a:t> ¿Qué vas a aprender en esta nueva experiencia de aprendizaje? </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2000" u="none" cap="none" strike="noStrike">
                <a:solidFill>
                  <a:srgbClr val="000000"/>
                </a:solidFill>
                <a:latin typeface="Arial"/>
                <a:ea typeface="Arial"/>
                <a:cs typeface="Arial"/>
                <a:sym typeface="Arial"/>
              </a:rPr>
              <a:t>Revisa la siguiente infografía para que conozcas la ruta que seguirás. </a:t>
            </a:r>
            <a:endParaRPr b="0" i="0" sz="2000" u="none" cap="none" strike="noStrike">
              <a:solidFill>
                <a:srgbClr val="000000"/>
              </a:solidFill>
              <a:latin typeface="Arial"/>
              <a:ea typeface="Arial"/>
              <a:cs typeface="Arial"/>
              <a:sym typeface="Arial"/>
            </a:endParaRPr>
          </a:p>
        </p:txBody>
      </p:sp>
      <p:pic>
        <p:nvPicPr>
          <p:cNvPr id="128" name="Google Shape;128;p3"/>
          <p:cNvPicPr preferRelativeResize="0"/>
          <p:nvPr/>
        </p:nvPicPr>
        <p:blipFill rotWithShape="1">
          <a:blip r:embed="rId3">
            <a:alphaModFix/>
          </a:blip>
          <a:srcRect b="0" l="0" r="0" t="0"/>
          <a:stretch/>
        </p:blipFill>
        <p:spPr>
          <a:xfrm>
            <a:off x="5404485" y="4284345"/>
            <a:ext cx="1367155" cy="13785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txBox="1"/>
          <p:nvPr/>
        </p:nvSpPr>
        <p:spPr>
          <a:xfrm>
            <a:off x="323215" y="2359025"/>
            <a:ext cx="5764530" cy="2135505"/>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000"/>
              <a:buFont typeface="Arial"/>
              <a:buNone/>
            </a:pPr>
            <a:r>
              <a:rPr b="1" i="0" lang="en-US" sz="2800" u="none" cap="none" strike="noStrike">
                <a:solidFill>
                  <a:schemeClr val="dk1"/>
                </a:solidFill>
                <a:latin typeface="Arial"/>
                <a:ea typeface="Arial"/>
                <a:cs typeface="Arial"/>
                <a:sym typeface="Arial"/>
              </a:rPr>
              <a:t>UNIDAD 1</a:t>
            </a:r>
            <a:endParaRPr b="1" i="0" sz="2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1" i="0" sz="2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US" sz="2800" u="none" cap="none" strike="noStrike">
                <a:solidFill>
                  <a:schemeClr val="dk1"/>
                </a:solidFill>
                <a:latin typeface="Arial"/>
                <a:ea typeface="Arial"/>
                <a:cs typeface="Arial"/>
                <a:sym typeface="Arial"/>
              </a:rPr>
              <a:t>Comprendiendo </a:t>
            </a:r>
            <a:endParaRPr b="1" i="0" sz="2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US" sz="2800" u="none" cap="none" strike="noStrike">
                <a:solidFill>
                  <a:schemeClr val="dk1"/>
                </a:solidFill>
                <a:latin typeface="Arial"/>
                <a:ea typeface="Arial"/>
                <a:cs typeface="Arial"/>
                <a:sym typeface="Arial"/>
              </a:rPr>
              <a:t>el Burnout</a:t>
            </a:r>
            <a:endParaRPr b="1" i="0" sz="2800" u="none" cap="none" strike="noStrike">
              <a:solidFill>
                <a:schemeClr val="dk1"/>
              </a:solidFill>
              <a:latin typeface="Arial"/>
              <a:ea typeface="Arial"/>
              <a:cs typeface="Arial"/>
              <a:sym typeface="Arial"/>
            </a:endParaRPr>
          </a:p>
        </p:txBody>
      </p:sp>
      <p:pic>
        <p:nvPicPr>
          <p:cNvPr descr="002_Burnout_GS1" id="135" name="Google Shape;135;p4"/>
          <p:cNvPicPr preferRelativeResize="0"/>
          <p:nvPr/>
        </p:nvPicPr>
        <p:blipFill rotWithShape="1">
          <a:blip r:embed="rId3">
            <a:alphaModFix/>
          </a:blip>
          <a:srcRect b="0" l="23309" r="0" t="0"/>
          <a:stretch/>
        </p:blipFill>
        <p:spPr>
          <a:xfrm>
            <a:off x="6068695" y="1419860"/>
            <a:ext cx="4929505" cy="428561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5"/>
          <p:cNvSpPr/>
          <p:nvPr/>
        </p:nvSpPr>
        <p:spPr>
          <a:xfrm>
            <a:off x="1795780" y="4335780"/>
            <a:ext cx="1951355" cy="929005"/>
          </a:xfrm>
          <a:prstGeom prst="rect">
            <a:avLst/>
          </a:prstGeom>
          <a:noFill/>
          <a:ln>
            <a:noFill/>
          </a:ln>
        </p:spPr>
        <p:txBody>
          <a:bodyPr anchorCtr="0" anchor="ctr" bIns="0" lIns="0" spcFirstLastPara="1" rIns="0" wrap="square" tIns="0">
            <a:noAutofit/>
          </a:bodyPr>
          <a:lstStyle/>
          <a:p>
            <a:pPr indent="0" lvl="0" marL="0" marR="0" rtl="0" algn="l">
              <a:lnSpc>
                <a:spcPct val="127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En esta unidad aprenderás: </a:t>
            </a:r>
            <a:endParaRPr b="0" i="0" sz="2000" u="none" cap="none" strike="noStrike">
              <a:solidFill>
                <a:srgbClr val="000000"/>
              </a:solidFill>
              <a:latin typeface="Arial"/>
              <a:ea typeface="Arial"/>
              <a:cs typeface="Arial"/>
              <a:sym typeface="Arial"/>
            </a:endParaRPr>
          </a:p>
        </p:txBody>
      </p:sp>
      <p:sp>
        <p:nvSpPr>
          <p:cNvPr id="142" name="Google Shape;142;p5"/>
          <p:cNvSpPr txBox="1"/>
          <p:nvPr/>
        </p:nvSpPr>
        <p:spPr>
          <a:xfrm>
            <a:off x="359410" y="314325"/>
            <a:ext cx="7023735" cy="490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C55A11"/>
                </a:solidFill>
                <a:latin typeface="Arial"/>
                <a:ea typeface="Arial"/>
                <a:cs typeface="Arial"/>
                <a:sym typeface="Arial"/>
              </a:rPr>
              <a:t>1. Comprendiendo el Burnout</a:t>
            </a:r>
            <a:endParaRPr b="1" i="0" sz="2600" u="none" cap="none" strike="noStrike">
              <a:solidFill>
                <a:srgbClr val="C55A11"/>
              </a:solidFill>
              <a:latin typeface="Arial"/>
              <a:ea typeface="Arial"/>
              <a:cs typeface="Arial"/>
              <a:sym typeface="Arial"/>
            </a:endParaRPr>
          </a:p>
        </p:txBody>
      </p:sp>
      <p:sp>
        <p:nvSpPr>
          <p:cNvPr id="143" name="Google Shape;143;p5"/>
          <p:cNvSpPr txBox="1"/>
          <p:nvPr/>
        </p:nvSpPr>
        <p:spPr>
          <a:xfrm>
            <a:off x="1029335" y="1369695"/>
            <a:ext cx="10095865" cy="184531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900" u="none" cap="none" strike="noStrike">
                <a:solidFill>
                  <a:srgbClr val="000000"/>
                </a:solidFill>
                <a:latin typeface="Arial"/>
                <a:ea typeface="Arial"/>
                <a:cs typeface="Arial"/>
                <a:sym typeface="Arial"/>
              </a:rPr>
              <a:t>El mundo laboral actual es dinámico, demandante y, en muchas ocasiones, acelerado. Esto puede impulsarnos a crecer y aprender, pero también puede llevarnos a un punto donde la exigencia constante supera nuestra capacidad de recuperación. </a:t>
            </a:r>
            <a:endParaRPr b="0" i="0" sz="19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1900" u="none" cap="none" strike="noStrike">
                <a:solidFill>
                  <a:srgbClr val="000000"/>
                </a:solidFill>
                <a:latin typeface="Arial"/>
                <a:ea typeface="Arial"/>
                <a:cs typeface="Arial"/>
                <a:sym typeface="Arial"/>
              </a:rPr>
              <a:t>Cuando esto ocurre de forma sostenida, puede aparecer un fenómeno conocido como burnout o agotamiento laboral.</a:t>
            </a:r>
            <a:endParaRPr b="0" i="0" sz="1900" u="none" cap="none" strike="noStrike">
              <a:solidFill>
                <a:srgbClr val="000000"/>
              </a:solidFill>
              <a:latin typeface="Arial"/>
              <a:ea typeface="Arial"/>
              <a:cs typeface="Arial"/>
              <a:sym typeface="Arial"/>
            </a:endParaRPr>
          </a:p>
        </p:txBody>
      </p:sp>
      <p:sp>
        <p:nvSpPr>
          <p:cNvPr id="144" name="Google Shape;144;p5"/>
          <p:cNvSpPr/>
          <p:nvPr/>
        </p:nvSpPr>
        <p:spPr>
          <a:xfrm>
            <a:off x="4936490" y="4036060"/>
            <a:ext cx="6244590" cy="1590040"/>
          </a:xfrm>
          <a:prstGeom prst="rect">
            <a:avLst/>
          </a:prstGeom>
          <a:noFill/>
          <a:ln>
            <a:noFill/>
          </a:ln>
        </p:spPr>
        <p:txBody>
          <a:bodyPr anchorCtr="0" anchor="ctr" bIns="0" lIns="0" spcFirstLastPara="1" rIns="0" wrap="square" tIns="0">
            <a:noAutofit/>
          </a:bodyPr>
          <a:lstStyle/>
          <a:p>
            <a:pPr indent="0" lvl="0" marL="0" marR="0" rtl="0" algn="just">
              <a:lnSpc>
                <a:spcPct val="127000"/>
              </a:lnSpc>
              <a:spcBef>
                <a:spcPts val="0"/>
              </a:spcBef>
              <a:spcAft>
                <a:spcPts val="0"/>
              </a:spcAft>
              <a:buClr>
                <a:srgbClr val="000000"/>
              </a:buClr>
              <a:buSzPts val="2000"/>
              <a:buFont typeface="Arial"/>
              <a:buNone/>
            </a:pPr>
            <a:r>
              <a:rPr b="0" i="0" lang="en-US" sz="1800" u="none" cap="none" strike="noStrike">
                <a:solidFill>
                  <a:srgbClr val="000000"/>
                </a:solidFill>
                <a:latin typeface="Arial"/>
                <a:ea typeface="Arial"/>
                <a:cs typeface="Arial"/>
                <a:sym typeface="Arial"/>
              </a:rPr>
              <a:t>1.1. ¿Qué es el Burnout?</a:t>
            </a:r>
            <a:endParaRPr b="0" i="0" sz="1800" u="none" cap="none" strike="noStrike">
              <a:solidFill>
                <a:srgbClr val="000000"/>
              </a:solidFill>
              <a:latin typeface="Arial"/>
              <a:ea typeface="Arial"/>
              <a:cs typeface="Arial"/>
              <a:sym typeface="Arial"/>
            </a:endParaRPr>
          </a:p>
          <a:p>
            <a:pPr indent="0" lvl="0" marL="0" marR="0" rtl="0" algn="just">
              <a:lnSpc>
                <a:spcPct val="127000"/>
              </a:lnSpc>
              <a:spcBef>
                <a:spcPts val="0"/>
              </a:spcBef>
              <a:spcAft>
                <a:spcPts val="0"/>
              </a:spcAft>
              <a:buClr>
                <a:srgbClr val="000000"/>
              </a:buClr>
              <a:buSzPts val="2000"/>
              <a:buFont typeface="Arial"/>
              <a:buNone/>
            </a:pPr>
            <a:r>
              <a:rPr b="0" i="0" lang="en-US" sz="1800" u="none" cap="none" strike="noStrike">
                <a:solidFill>
                  <a:srgbClr val="000000"/>
                </a:solidFill>
                <a:latin typeface="Arial"/>
                <a:ea typeface="Arial"/>
                <a:cs typeface="Arial"/>
                <a:sym typeface="Arial"/>
              </a:rPr>
              <a:t>1.2. Etapas del agotamiento laboral.</a:t>
            </a:r>
            <a:endParaRPr b="0" i="0" sz="1800" u="none" cap="none" strike="noStrike">
              <a:solidFill>
                <a:srgbClr val="000000"/>
              </a:solidFill>
              <a:latin typeface="Arial"/>
              <a:ea typeface="Arial"/>
              <a:cs typeface="Arial"/>
              <a:sym typeface="Arial"/>
            </a:endParaRPr>
          </a:p>
          <a:p>
            <a:pPr indent="0" lvl="0" marL="0" marR="0" rtl="0" algn="just">
              <a:lnSpc>
                <a:spcPct val="127000"/>
              </a:lnSpc>
              <a:spcBef>
                <a:spcPts val="0"/>
              </a:spcBef>
              <a:spcAft>
                <a:spcPts val="0"/>
              </a:spcAft>
              <a:buClr>
                <a:srgbClr val="000000"/>
              </a:buClr>
              <a:buSzPts val="2000"/>
              <a:buFont typeface="Arial"/>
              <a:buNone/>
            </a:pPr>
            <a:r>
              <a:rPr b="0" i="0" lang="en-US" sz="1800" u="none" cap="none" strike="noStrike">
                <a:solidFill>
                  <a:srgbClr val="000000"/>
                </a:solidFill>
                <a:latin typeface="Arial"/>
                <a:ea typeface="Arial"/>
                <a:cs typeface="Arial"/>
                <a:sym typeface="Arial"/>
              </a:rPr>
              <a:t>1.3. Diferencia entre estrés y burnout.</a:t>
            </a:r>
            <a:endParaRPr b="0" i="0" sz="1800" u="none" cap="none" strike="noStrike">
              <a:solidFill>
                <a:srgbClr val="000000"/>
              </a:solidFill>
              <a:latin typeface="Arial"/>
              <a:ea typeface="Arial"/>
              <a:cs typeface="Arial"/>
              <a:sym typeface="Arial"/>
            </a:endParaRPr>
          </a:p>
          <a:p>
            <a:pPr indent="0" lvl="0" marL="0" marR="0" rtl="0" algn="just">
              <a:lnSpc>
                <a:spcPct val="127000"/>
              </a:lnSpc>
              <a:spcBef>
                <a:spcPts val="0"/>
              </a:spcBef>
              <a:spcAft>
                <a:spcPts val="0"/>
              </a:spcAft>
              <a:buClr>
                <a:srgbClr val="000000"/>
              </a:buClr>
              <a:buSzPts val="2000"/>
              <a:buFont typeface="Arial"/>
              <a:buNone/>
            </a:pPr>
            <a:r>
              <a:rPr b="0" i="0" lang="en-US" sz="1800" u="none" cap="none" strike="noStrike">
                <a:solidFill>
                  <a:srgbClr val="000000"/>
                </a:solidFill>
                <a:latin typeface="Arial"/>
                <a:ea typeface="Arial"/>
                <a:cs typeface="Arial"/>
                <a:sym typeface="Arial"/>
              </a:rPr>
              <a:t>1.4. Consecuencias del burnout en la salud y el rendimiento.</a:t>
            </a:r>
            <a:endParaRPr b="0" i="0" sz="1800" u="none" cap="none" strike="noStrike">
              <a:solidFill>
                <a:srgbClr val="000000"/>
              </a:solidFill>
              <a:latin typeface="Arial"/>
              <a:ea typeface="Arial"/>
              <a:cs typeface="Arial"/>
              <a:sym typeface="Arial"/>
            </a:endParaRPr>
          </a:p>
        </p:txBody>
      </p:sp>
      <p:sp>
        <p:nvSpPr>
          <p:cNvPr id="145" name="Google Shape;145;p5"/>
          <p:cNvSpPr txBox="1"/>
          <p:nvPr/>
        </p:nvSpPr>
        <p:spPr>
          <a:xfrm>
            <a:off x="8940800" y="3342005"/>
            <a:ext cx="2366010" cy="3073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833C0B"/>
                </a:solidFill>
                <a:latin typeface="Arial"/>
                <a:ea typeface="Arial"/>
                <a:cs typeface="Arial"/>
                <a:sym typeface="Arial"/>
              </a:rPr>
              <a:t>Haz clic en cada tema.</a:t>
            </a:r>
            <a:endParaRPr b="0" i="1" sz="1400" u="none" cap="none" strike="noStrike">
              <a:solidFill>
                <a:srgbClr val="833C0B"/>
              </a:solidFill>
              <a:latin typeface="Arial"/>
              <a:ea typeface="Arial"/>
              <a:cs typeface="Arial"/>
              <a:sym typeface="Arial"/>
            </a:endParaRPr>
          </a:p>
        </p:txBody>
      </p:sp>
      <p:sp>
        <p:nvSpPr>
          <p:cNvPr id="146" name="Google Shape;146;p5"/>
          <p:cNvSpPr/>
          <p:nvPr/>
        </p:nvSpPr>
        <p:spPr>
          <a:xfrm>
            <a:off x="4666615" y="3917315"/>
            <a:ext cx="6807200" cy="1892935"/>
          </a:xfrm>
          <a:custGeom>
            <a:rect b="b" l="l" r="r" t="t"/>
            <a:pathLst>
              <a:path extrusionOk="0" h="120000" w="120000">
                <a:moveTo>
                  <a:pt x="0" y="0"/>
                </a:moveTo>
                <a:lnTo>
                  <a:pt x="120000" y="0"/>
                </a:lnTo>
                <a:lnTo>
                  <a:pt x="120000" y="120000"/>
                </a:lnTo>
                <a:lnTo>
                  <a:pt x="0" y="120000"/>
                </a:lnTo>
                <a:close/>
              </a:path>
              <a:path extrusionOk="0" fill="none" h="120000" w="120000">
                <a:moveTo>
                  <a:pt x="-145" y="59537"/>
                </a:moveTo>
                <a:lnTo>
                  <a:pt x="-17563" y="60140"/>
                </a:lnTo>
              </a:path>
            </a:pathLst>
          </a:custGeom>
          <a:noFill/>
          <a:ln cap="flat" cmpd="sng" w="19050">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6"/>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1.1. ¿Qué es el Burnout? </a:t>
            </a:r>
            <a:endParaRPr b="1" i="0" sz="2000" u="none" cap="none" strike="noStrike">
              <a:solidFill>
                <a:srgbClr val="000000"/>
              </a:solidFill>
              <a:latin typeface="Arial"/>
              <a:ea typeface="Arial"/>
              <a:cs typeface="Arial"/>
              <a:sym typeface="Arial"/>
            </a:endParaRPr>
          </a:p>
        </p:txBody>
      </p:sp>
      <p:sp>
        <p:nvSpPr>
          <p:cNvPr id="153" name="Google Shape;153;p6"/>
          <p:cNvSpPr txBox="1"/>
          <p:nvPr/>
        </p:nvSpPr>
        <p:spPr>
          <a:xfrm>
            <a:off x="1040765" y="1333500"/>
            <a:ext cx="10109835" cy="9220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De acuerdo con la Organización Mundial de la Salud, el burnout es el síndrome resultante del estrés crónico en el trabajo que no se ha manejado con éxito. Como tal se conceptualiza como un fenómeno ocupacional, y no en el contexto de otros ámbitos de la vida. </a:t>
            </a:r>
            <a:endParaRPr b="0" i="0" sz="1800" u="none" cap="none" strike="noStrike">
              <a:solidFill>
                <a:srgbClr val="000000"/>
              </a:solidFill>
              <a:latin typeface="Arial"/>
              <a:ea typeface="Arial"/>
              <a:cs typeface="Arial"/>
              <a:sym typeface="Arial"/>
            </a:endParaRPr>
          </a:p>
        </p:txBody>
      </p:sp>
      <p:pic>
        <p:nvPicPr>
          <p:cNvPr id="154" name="Google Shape;154;p6"/>
          <p:cNvPicPr preferRelativeResize="0"/>
          <p:nvPr/>
        </p:nvPicPr>
        <p:blipFill rotWithShape="1">
          <a:blip r:embed="rId3">
            <a:alphaModFix/>
          </a:blip>
          <a:srcRect b="14727" l="0" r="0" t="0"/>
          <a:stretch/>
        </p:blipFill>
        <p:spPr>
          <a:xfrm>
            <a:off x="1478915" y="3869055"/>
            <a:ext cx="953770" cy="774700"/>
          </a:xfrm>
          <a:prstGeom prst="rect">
            <a:avLst/>
          </a:prstGeom>
          <a:noFill/>
          <a:ln>
            <a:noFill/>
          </a:ln>
        </p:spPr>
      </p:pic>
      <p:sp>
        <p:nvSpPr>
          <p:cNvPr id="155" name="Google Shape;155;p6"/>
          <p:cNvSpPr txBox="1"/>
          <p:nvPr/>
        </p:nvSpPr>
        <p:spPr>
          <a:xfrm>
            <a:off x="2705100" y="2760980"/>
            <a:ext cx="8090535" cy="32302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El </a:t>
            </a:r>
            <a:r>
              <a:rPr b="1" i="0" lang="en-US" sz="1800" u="none" cap="none" strike="noStrike">
                <a:solidFill>
                  <a:srgbClr val="C55A11"/>
                </a:solidFill>
                <a:latin typeface="Arial"/>
                <a:ea typeface="Arial"/>
                <a:cs typeface="Arial"/>
                <a:sym typeface="Arial"/>
              </a:rPr>
              <a:t>Burnout</a:t>
            </a:r>
            <a:r>
              <a:rPr b="0" i="0" lang="en-US"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No es “estar cansado” después de una semana intensa.</a:t>
            </a:r>
            <a:endParaRPr b="0" i="0" sz="18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Es el resultado de estrés crónico en el trabajo que no se ha gestionado adecuadamente. </a:t>
            </a:r>
            <a:endParaRPr b="0" i="0" sz="18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Se manifiesta con cansancio extremo, distanciamiento emocional del trabajo y una sensación creciente de bajo rendimiento. </a:t>
            </a:r>
            <a:endParaRPr b="0" i="0" sz="18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Reconocerlo a tiempo es fundamental para cuidar nuestra salud, mantener relaciones laborales positivas y asegurar un desempeño sostenible.</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1.2. Etapas del agotamiento laboral</a:t>
            </a:r>
            <a:endParaRPr b="1" i="0" sz="2000" u="none" cap="none" strike="noStrike">
              <a:solidFill>
                <a:srgbClr val="000000"/>
              </a:solidFill>
              <a:latin typeface="Arial"/>
              <a:ea typeface="Arial"/>
              <a:cs typeface="Arial"/>
              <a:sym typeface="Arial"/>
            </a:endParaRPr>
          </a:p>
        </p:txBody>
      </p:sp>
      <p:sp>
        <p:nvSpPr>
          <p:cNvPr id="162" name="Google Shape;162;p7"/>
          <p:cNvSpPr txBox="1"/>
          <p:nvPr/>
        </p:nvSpPr>
        <p:spPr>
          <a:xfrm>
            <a:off x="1040765" y="1333500"/>
            <a:ext cx="10109835" cy="132207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A continuación, revisaremos las </a:t>
            </a:r>
            <a:r>
              <a:rPr b="1" i="0" lang="en-US" sz="2000" u="none" cap="none" strike="noStrike">
                <a:solidFill>
                  <a:srgbClr val="000000"/>
                </a:solidFill>
                <a:latin typeface="Arial"/>
                <a:ea typeface="Arial"/>
                <a:cs typeface="Arial"/>
                <a:sym typeface="Arial"/>
              </a:rPr>
              <a:t>etapas del agotamiento laboral</a:t>
            </a:r>
            <a:r>
              <a:rPr b="0" i="0" lang="en-US" sz="2000" u="none" cap="none" strike="noStrike">
                <a:solidFill>
                  <a:srgbClr val="000000"/>
                </a:solidFill>
                <a:latin typeface="Arial"/>
                <a:ea typeface="Arial"/>
                <a:cs typeface="Arial"/>
                <a:sym typeface="Arial"/>
              </a:rPr>
              <a:t> de acuerdo con el </a:t>
            </a:r>
            <a:r>
              <a:rPr b="1" i="0" lang="en-US" sz="2000" u="none" cap="none" strike="noStrike">
                <a:solidFill>
                  <a:srgbClr val="000000"/>
                </a:solidFill>
                <a:latin typeface="Arial"/>
                <a:ea typeface="Arial"/>
                <a:cs typeface="Arial"/>
                <a:sym typeface="Arial"/>
              </a:rPr>
              <a:t>modelo de Maslach y Jackson</a:t>
            </a:r>
            <a:r>
              <a:rPr b="0" i="0" lang="en-US" sz="2000" u="none" cap="none" strike="noStrike">
                <a:solidFill>
                  <a:srgbClr val="000000"/>
                </a:solidFill>
                <a:latin typeface="Arial"/>
                <a:ea typeface="Arial"/>
                <a:cs typeface="Arial"/>
                <a:sym typeface="Arial"/>
              </a:rPr>
              <a:t> quienes conceptualizan el síndrome de Burnout como un proceso multidimensional que va evolucionando a través del tiempo, aunque no siempre de forma completamente lineal.</a:t>
            </a:r>
            <a:endParaRPr b="0" i="0" sz="2000" u="none" cap="none" strike="noStrike">
              <a:solidFill>
                <a:srgbClr val="000000"/>
              </a:solidFill>
              <a:latin typeface="Arial"/>
              <a:ea typeface="Arial"/>
              <a:cs typeface="Arial"/>
              <a:sym typeface="Arial"/>
            </a:endParaRPr>
          </a:p>
        </p:txBody>
      </p:sp>
      <p:sp>
        <p:nvSpPr>
          <p:cNvPr id="163" name="Google Shape;163;p7"/>
          <p:cNvSpPr txBox="1"/>
          <p:nvPr/>
        </p:nvSpPr>
        <p:spPr>
          <a:xfrm>
            <a:off x="8940800" y="2948305"/>
            <a:ext cx="2366010" cy="3073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833C0B"/>
                </a:solidFill>
                <a:latin typeface="Arial"/>
                <a:ea typeface="Arial"/>
                <a:cs typeface="Arial"/>
                <a:sym typeface="Arial"/>
              </a:rPr>
              <a:t>Haz clic en cada botón.</a:t>
            </a:r>
            <a:endParaRPr b="0" i="1" sz="1400" u="none" cap="none" strike="noStrike">
              <a:solidFill>
                <a:srgbClr val="833C0B"/>
              </a:solidFill>
              <a:latin typeface="Arial"/>
              <a:ea typeface="Arial"/>
              <a:cs typeface="Arial"/>
              <a:sym typeface="Arial"/>
            </a:endParaRPr>
          </a:p>
        </p:txBody>
      </p:sp>
      <p:sp>
        <p:nvSpPr>
          <p:cNvPr id="164" name="Google Shape;164;p7"/>
          <p:cNvSpPr/>
          <p:nvPr/>
        </p:nvSpPr>
        <p:spPr>
          <a:xfrm>
            <a:off x="1337945" y="2999105"/>
            <a:ext cx="4758055" cy="660400"/>
          </a:xfrm>
          <a:custGeom>
            <a:rect b="b" l="l" r="r" t="t"/>
            <a:pathLst>
              <a:path extrusionOk="0" h="120000" w="120000">
                <a:moveTo>
                  <a:pt x="0" y="0"/>
                </a:moveTo>
                <a:lnTo>
                  <a:pt x="120000" y="0"/>
                </a:lnTo>
                <a:lnTo>
                  <a:pt x="120000" y="120000"/>
                </a:lnTo>
                <a:lnTo>
                  <a:pt x="0" y="120000"/>
                </a:lnTo>
                <a:close/>
              </a:path>
              <a:path extrusionOk="0" fill="none" h="120000" w="120000">
                <a:moveTo>
                  <a:pt x="-145" y="59537"/>
                </a:moveTo>
                <a:lnTo>
                  <a:pt x="-33791" y="55615"/>
                </a:lnTo>
              </a:path>
            </a:pathLst>
          </a:custGeom>
          <a:noFill/>
          <a:ln cap="flat" cmpd="sng" w="19050">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5" name="Google Shape;165;p7"/>
          <p:cNvSpPr txBox="1"/>
          <p:nvPr/>
        </p:nvSpPr>
        <p:spPr>
          <a:xfrm>
            <a:off x="1448435" y="3148965"/>
            <a:ext cx="3365500" cy="33718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Etapa 1: Agotamiento emocional</a:t>
            </a:r>
            <a:endParaRPr b="1" i="0" sz="1600" u="none" cap="none" strike="noStrike">
              <a:solidFill>
                <a:srgbClr val="000000"/>
              </a:solidFill>
              <a:latin typeface="Arial"/>
              <a:ea typeface="Arial"/>
              <a:cs typeface="Arial"/>
              <a:sym typeface="Arial"/>
            </a:endParaRPr>
          </a:p>
        </p:txBody>
      </p:sp>
      <p:sp>
        <p:nvSpPr>
          <p:cNvPr id="166" name="Google Shape;166;p7"/>
          <p:cNvSpPr/>
          <p:nvPr/>
        </p:nvSpPr>
        <p:spPr>
          <a:xfrm>
            <a:off x="2112645" y="3836670"/>
            <a:ext cx="5951855" cy="586740"/>
          </a:xfrm>
          <a:custGeom>
            <a:rect b="b" l="l" r="r" t="t"/>
            <a:pathLst>
              <a:path extrusionOk="0" h="120000" w="120000">
                <a:moveTo>
                  <a:pt x="0" y="0"/>
                </a:moveTo>
                <a:lnTo>
                  <a:pt x="120000" y="0"/>
                </a:lnTo>
                <a:lnTo>
                  <a:pt x="120000" y="120000"/>
                </a:lnTo>
                <a:lnTo>
                  <a:pt x="0" y="120000"/>
                </a:lnTo>
                <a:close/>
              </a:path>
              <a:path extrusionOk="0" fill="none" h="120000" w="120000">
                <a:moveTo>
                  <a:pt x="-145" y="59537"/>
                </a:moveTo>
                <a:lnTo>
                  <a:pt x="-42454" y="65195"/>
                </a:lnTo>
              </a:path>
            </a:pathLst>
          </a:custGeom>
          <a:noFill/>
          <a:ln cap="flat" cmpd="sng" w="19050">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7" name="Google Shape;167;p7"/>
          <p:cNvSpPr/>
          <p:nvPr/>
        </p:nvSpPr>
        <p:spPr>
          <a:xfrm>
            <a:off x="2481580" y="4611370"/>
            <a:ext cx="7048500" cy="622300"/>
          </a:xfrm>
          <a:custGeom>
            <a:rect b="b" l="l" r="r" t="t"/>
            <a:pathLst>
              <a:path extrusionOk="0" h="120000" w="120000">
                <a:moveTo>
                  <a:pt x="0" y="0"/>
                </a:moveTo>
                <a:lnTo>
                  <a:pt x="120000" y="0"/>
                </a:lnTo>
                <a:lnTo>
                  <a:pt x="120000" y="120000"/>
                </a:lnTo>
                <a:lnTo>
                  <a:pt x="0" y="120000"/>
                </a:lnTo>
                <a:close/>
              </a:path>
              <a:path extrusionOk="0" fill="none" h="120000" w="120000">
                <a:moveTo>
                  <a:pt x="-145" y="59537"/>
                </a:moveTo>
                <a:lnTo>
                  <a:pt x="-42389" y="60000"/>
                </a:lnTo>
              </a:path>
            </a:pathLst>
          </a:custGeom>
          <a:noFill/>
          <a:ln cap="flat" cmpd="sng" w="19050">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8" name="Google Shape;168;p7"/>
          <p:cNvSpPr/>
          <p:nvPr/>
        </p:nvSpPr>
        <p:spPr>
          <a:xfrm>
            <a:off x="3420745" y="5386705"/>
            <a:ext cx="6828155" cy="647065"/>
          </a:xfrm>
          <a:custGeom>
            <a:rect b="b" l="l" r="r" t="t"/>
            <a:pathLst>
              <a:path extrusionOk="0" h="120000" w="120000">
                <a:moveTo>
                  <a:pt x="0" y="0"/>
                </a:moveTo>
                <a:lnTo>
                  <a:pt x="120000" y="0"/>
                </a:lnTo>
                <a:lnTo>
                  <a:pt x="120000" y="120000"/>
                </a:lnTo>
                <a:lnTo>
                  <a:pt x="0" y="120000"/>
                </a:lnTo>
                <a:close/>
              </a:path>
              <a:path extrusionOk="0" fill="none" h="120000" w="120000">
                <a:moveTo>
                  <a:pt x="-145" y="59537"/>
                </a:moveTo>
                <a:lnTo>
                  <a:pt x="-60360" y="52874"/>
                </a:lnTo>
              </a:path>
            </a:pathLst>
          </a:custGeom>
          <a:noFill/>
          <a:ln cap="flat" cmpd="sng" w="19050">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9" name="Google Shape;169;p7"/>
          <p:cNvSpPr txBox="1"/>
          <p:nvPr/>
        </p:nvSpPr>
        <p:spPr>
          <a:xfrm>
            <a:off x="2210435" y="3966845"/>
            <a:ext cx="3975100" cy="33718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Etapa 2: Apatía / Despersonalización</a:t>
            </a:r>
            <a:endParaRPr b="1" i="0" sz="1600" u="none" cap="none" strike="noStrike">
              <a:solidFill>
                <a:srgbClr val="000000"/>
              </a:solidFill>
              <a:latin typeface="Arial"/>
              <a:ea typeface="Arial"/>
              <a:cs typeface="Arial"/>
              <a:sym typeface="Arial"/>
            </a:endParaRPr>
          </a:p>
        </p:txBody>
      </p:sp>
      <p:sp>
        <p:nvSpPr>
          <p:cNvPr id="170" name="Google Shape;170;p7"/>
          <p:cNvSpPr txBox="1"/>
          <p:nvPr/>
        </p:nvSpPr>
        <p:spPr>
          <a:xfrm>
            <a:off x="2481580" y="4749165"/>
            <a:ext cx="7048500" cy="3371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Etapa 3: Reducción de la eficacia profesional/baja realización personal</a:t>
            </a:r>
            <a:endParaRPr b="1" i="0" sz="1600" u="none" cap="none" strike="noStrike">
              <a:solidFill>
                <a:srgbClr val="000000"/>
              </a:solidFill>
              <a:latin typeface="Arial"/>
              <a:ea typeface="Arial"/>
              <a:cs typeface="Arial"/>
              <a:sym typeface="Arial"/>
            </a:endParaRPr>
          </a:p>
        </p:txBody>
      </p:sp>
      <p:sp>
        <p:nvSpPr>
          <p:cNvPr id="171" name="Google Shape;171;p7"/>
          <p:cNvSpPr txBox="1"/>
          <p:nvPr/>
        </p:nvSpPr>
        <p:spPr>
          <a:xfrm>
            <a:off x="3556000" y="5531485"/>
            <a:ext cx="4000500" cy="33718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Etapa 4: Automatismo / abandono</a:t>
            </a:r>
            <a:endParaRPr b="1" i="0" sz="16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8"/>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1.3. Diferencia entre estrés y burnout </a:t>
            </a:r>
            <a:endParaRPr b="1" i="0" sz="2000" u="none" cap="none" strike="noStrike">
              <a:solidFill>
                <a:srgbClr val="000000"/>
              </a:solidFill>
              <a:latin typeface="Arial"/>
              <a:ea typeface="Arial"/>
              <a:cs typeface="Arial"/>
              <a:sym typeface="Arial"/>
            </a:endParaRPr>
          </a:p>
        </p:txBody>
      </p:sp>
      <p:sp>
        <p:nvSpPr>
          <p:cNvPr id="178" name="Google Shape;178;p8"/>
          <p:cNvSpPr txBox="1"/>
          <p:nvPr/>
        </p:nvSpPr>
        <p:spPr>
          <a:xfrm>
            <a:off x="2933065" y="1295400"/>
            <a:ext cx="6350000" cy="64516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Aunque a veces son mencionados como lo mismo, la realidad es que hay diferencias entre el </a:t>
            </a:r>
            <a:r>
              <a:rPr b="1" i="0" lang="en-US" sz="1800" u="none" cap="none" strike="noStrike">
                <a:solidFill>
                  <a:srgbClr val="C55A11"/>
                </a:solidFill>
                <a:latin typeface="Arial"/>
                <a:ea typeface="Arial"/>
                <a:cs typeface="Arial"/>
                <a:sym typeface="Arial"/>
              </a:rPr>
              <a:t>estrés </a:t>
            </a:r>
            <a:r>
              <a:rPr b="0" i="0" lang="en-US" sz="1800" u="none" cap="none" strike="noStrike">
                <a:solidFill>
                  <a:srgbClr val="000000"/>
                </a:solidFill>
                <a:latin typeface="Arial"/>
                <a:ea typeface="Arial"/>
                <a:cs typeface="Arial"/>
                <a:sym typeface="Arial"/>
              </a:rPr>
              <a:t>y el</a:t>
            </a:r>
            <a:r>
              <a:rPr b="1" i="0" lang="en-US" sz="1800" u="none" cap="none" strike="noStrike">
                <a:solidFill>
                  <a:srgbClr val="C55A11"/>
                </a:solidFill>
                <a:latin typeface="Arial"/>
                <a:ea typeface="Arial"/>
                <a:cs typeface="Arial"/>
                <a:sym typeface="Arial"/>
              </a:rPr>
              <a:t> burnout</a:t>
            </a:r>
            <a:r>
              <a:rPr b="0" i="0" lang="en-US"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p:txBody>
      </p:sp>
      <p:sp>
        <p:nvSpPr>
          <p:cNvPr id="179" name="Google Shape;179;p8"/>
          <p:cNvSpPr/>
          <p:nvPr/>
        </p:nvSpPr>
        <p:spPr>
          <a:xfrm>
            <a:off x="2486025" y="3009900"/>
            <a:ext cx="1562100" cy="482600"/>
          </a:xfrm>
          <a:prstGeom prst="roundRect">
            <a:avLst>
              <a:gd fmla="val 16667" name="adj"/>
            </a:avLst>
          </a:prstGeom>
          <a:solidFill>
            <a:srgbClr val="FBE4D4"/>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rgbClr val="C55A11"/>
                </a:solidFill>
                <a:latin typeface="Arial"/>
                <a:ea typeface="Arial"/>
                <a:cs typeface="Arial"/>
                <a:sym typeface="Arial"/>
              </a:rPr>
              <a:t>Estrés</a:t>
            </a:r>
            <a:endParaRPr b="1" i="0" sz="1800" u="none" cap="none" strike="noStrike">
              <a:solidFill>
                <a:srgbClr val="C55A11"/>
              </a:solidFill>
              <a:latin typeface="Arial"/>
              <a:ea typeface="Arial"/>
              <a:cs typeface="Arial"/>
              <a:sym typeface="Arial"/>
            </a:endParaRPr>
          </a:p>
        </p:txBody>
      </p:sp>
      <p:sp>
        <p:nvSpPr>
          <p:cNvPr id="180" name="Google Shape;180;p8"/>
          <p:cNvSpPr/>
          <p:nvPr/>
        </p:nvSpPr>
        <p:spPr>
          <a:xfrm>
            <a:off x="8099425" y="3009900"/>
            <a:ext cx="1562100" cy="482600"/>
          </a:xfrm>
          <a:prstGeom prst="roundRect">
            <a:avLst>
              <a:gd fmla="val 16667" name="adj"/>
            </a:avLst>
          </a:prstGeom>
          <a:solidFill>
            <a:srgbClr val="FBE4D4"/>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rgbClr val="C55A11"/>
                </a:solidFill>
                <a:latin typeface="Arial"/>
                <a:ea typeface="Arial"/>
                <a:cs typeface="Arial"/>
                <a:sym typeface="Arial"/>
              </a:rPr>
              <a:t>Burnout</a:t>
            </a:r>
            <a:endParaRPr b="1" i="0" sz="1800" u="none" cap="none" strike="noStrike">
              <a:solidFill>
                <a:srgbClr val="C55A11"/>
              </a:solidFill>
              <a:latin typeface="Arial"/>
              <a:ea typeface="Arial"/>
              <a:cs typeface="Arial"/>
              <a:sym typeface="Arial"/>
            </a:endParaRPr>
          </a:p>
        </p:txBody>
      </p:sp>
      <p:cxnSp>
        <p:nvCxnSpPr>
          <p:cNvPr id="181" name="Google Shape;181;p8"/>
          <p:cNvCxnSpPr>
            <a:endCxn id="179" idx="0"/>
          </p:cNvCxnSpPr>
          <p:nvPr/>
        </p:nvCxnSpPr>
        <p:spPr>
          <a:xfrm flipH="1">
            <a:off x="3267075" y="1940700"/>
            <a:ext cx="2841000" cy="1069200"/>
          </a:xfrm>
          <a:prstGeom prst="bentConnector3">
            <a:avLst>
              <a:gd fmla="val 0" name="adj1"/>
            </a:avLst>
          </a:prstGeom>
          <a:noFill/>
          <a:ln cap="flat" cmpd="sng" w="12700">
            <a:solidFill>
              <a:srgbClr val="F4B081"/>
            </a:solidFill>
            <a:prstDash val="solid"/>
            <a:round/>
            <a:headEnd len="sm" w="sm" type="none"/>
            <a:tailEnd len="sm" w="sm" type="none"/>
          </a:ln>
        </p:spPr>
      </p:cxnSp>
      <p:cxnSp>
        <p:nvCxnSpPr>
          <p:cNvPr id="182" name="Google Shape;182;p8"/>
          <p:cNvCxnSpPr>
            <a:endCxn id="180" idx="0"/>
          </p:cNvCxnSpPr>
          <p:nvPr/>
        </p:nvCxnSpPr>
        <p:spPr>
          <a:xfrm>
            <a:off x="6108175" y="1940700"/>
            <a:ext cx="2772300" cy="1069200"/>
          </a:xfrm>
          <a:prstGeom prst="bentConnector3">
            <a:avLst>
              <a:gd fmla="val -4" name="adj1"/>
            </a:avLst>
          </a:prstGeom>
          <a:noFill/>
          <a:ln cap="flat" cmpd="sng" w="12700">
            <a:solidFill>
              <a:srgbClr val="F4B081"/>
            </a:solidFill>
            <a:prstDash val="solid"/>
            <a:round/>
            <a:headEnd len="sm" w="sm" type="none"/>
            <a:tailEnd len="sm" w="sm" type="none"/>
          </a:ln>
        </p:spPr>
      </p:cxnSp>
      <p:sp>
        <p:nvSpPr>
          <p:cNvPr id="183" name="Google Shape;183;p8"/>
          <p:cNvSpPr/>
          <p:nvPr/>
        </p:nvSpPr>
        <p:spPr>
          <a:xfrm>
            <a:off x="4782185" y="4178935"/>
            <a:ext cx="2653030" cy="482600"/>
          </a:xfrm>
          <a:prstGeom prst="roundRect">
            <a:avLst>
              <a:gd fmla="val 16667" name="adj"/>
            </a:avLst>
          </a:prstGeom>
          <a:solidFill>
            <a:srgbClr val="FBE4D4"/>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rgbClr val="C55A11"/>
                </a:solidFill>
                <a:latin typeface="Arial"/>
                <a:ea typeface="Arial"/>
                <a:cs typeface="Arial"/>
                <a:sym typeface="Arial"/>
              </a:rPr>
              <a:t>Cuadro comparativo</a:t>
            </a:r>
            <a:endParaRPr b="1" i="0" sz="1800" u="none" cap="none" strike="noStrike">
              <a:solidFill>
                <a:srgbClr val="C55A11"/>
              </a:solidFill>
              <a:latin typeface="Arial"/>
              <a:ea typeface="Arial"/>
              <a:cs typeface="Arial"/>
              <a:sym typeface="Arial"/>
            </a:endParaRPr>
          </a:p>
        </p:txBody>
      </p:sp>
      <p:sp>
        <p:nvSpPr>
          <p:cNvPr id="184" name="Google Shape;184;p8"/>
          <p:cNvSpPr/>
          <p:nvPr/>
        </p:nvSpPr>
        <p:spPr>
          <a:xfrm rot="-5400000">
            <a:off x="5829935" y="995045"/>
            <a:ext cx="425450" cy="5676900"/>
          </a:xfrm>
          <a:prstGeom prst="leftBrace">
            <a:avLst>
              <a:gd fmla="val 8333" name="adj1"/>
              <a:gd fmla="val 50464" name="adj2"/>
            </a:avLst>
          </a:prstGeom>
          <a:no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85" name="Google Shape;185;p8"/>
          <p:cNvSpPr txBox="1"/>
          <p:nvPr/>
        </p:nvSpPr>
        <p:spPr>
          <a:xfrm>
            <a:off x="4916170" y="2976245"/>
            <a:ext cx="2366010" cy="30734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rgbClr val="833C0B"/>
                </a:solidFill>
                <a:latin typeface="Arial"/>
                <a:ea typeface="Arial"/>
                <a:cs typeface="Arial"/>
                <a:sym typeface="Arial"/>
              </a:rPr>
              <a:t>Haz clic en cada botón.</a:t>
            </a:r>
            <a:endParaRPr b="0" i="1" sz="1400" u="none" cap="none" strike="noStrike">
              <a:solidFill>
                <a:srgbClr val="833C0B"/>
              </a:solidFill>
              <a:latin typeface="Arial"/>
              <a:ea typeface="Arial"/>
              <a:cs typeface="Arial"/>
              <a:sym typeface="Arial"/>
            </a:endParaRPr>
          </a:p>
        </p:txBody>
      </p:sp>
      <p:sp>
        <p:nvSpPr>
          <p:cNvPr id="186" name="Google Shape;186;p8"/>
          <p:cNvSpPr/>
          <p:nvPr/>
        </p:nvSpPr>
        <p:spPr>
          <a:xfrm>
            <a:off x="4782185" y="5147945"/>
            <a:ext cx="2653030" cy="977900"/>
          </a:xfrm>
          <a:prstGeom prst="roundRect">
            <a:avLst>
              <a:gd fmla="val 16667" name="adj"/>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Revisa el ejemplo</a:t>
            </a:r>
            <a:endParaRPr b="1"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1800" u="none" cap="none" strike="noStrike">
              <a:solidFill>
                <a:schemeClr val="lt1"/>
              </a:solidFill>
              <a:latin typeface="Arial"/>
              <a:ea typeface="Arial"/>
              <a:cs typeface="Arial"/>
              <a:sym typeface="Arial"/>
            </a:endParaRPr>
          </a:p>
        </p:txBody>
      </p:sp>
      <p:cxnSp>
        <p:nvCxnSpPr>
          <p:cNvPr id="187" name="Google Shape;187;p8"/>
          <p:cNvCxnSpPr>
            <a:stCxn id="183" idx="2"/>
            <a:endCxn id="186" idx="0"/>
          </p:cNvCxnSpPr>
          <p:nvPr/>
        </p:nvCxnSpPr>
        <p:spPr>
          <a:xfrm>
            <a:off x="6108700" y="4661535"/>
            <a:ext cx="0" cy="486300"/>
          </a:xfrm>
          <a:prstGeom prst="straightConnector1">
            <a:avLst/>
          </a:prstGeom>
          <a:noFill/>
          <a:ln cap="flat" cmpd="sng" w="12700">
            <a:solidFill>
              <a:srgbClr val="F4B081"/>
            </a:solidFill>
            <a:prstDash val="solid"/>
            <a:round/>
            <a:headEnd len="sm" w="sm" type="none"/>
            <a:tailEnd len="sm" w="sm" type="none"/>
          </a:ln>
        </p:spPr>
      </p:cxnSp>
      <p:pic>
        <p:nvPicPr>
          <p:cNvPr id="188" name="Google Shape;188;p8"/>
          <p:cNvPicPr preferRelativeResize="0"/>
          <p:nvPr/>
        </p:nvPicPr>
        <p:blipFill rotWithShape="1">
          <a:blip r:embed="rId3">
            <a:alphaModFix/>
          </a:blip>
          <a:srcRect b="0" l="0" r="0" t="0"/>
          <a:stretch/>
        </p:blipFill>
        <p:spPr>
          <a:xfrm>
            <a:off x="5854065" y="5556885"/>
            <a:ext cx="509270" cy="53530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9"/>
          <p:cNvSpPr txBox="1"/>
          <p:nvPr/>
        </p:nvSpPr>
        <p:spPr>
          <a:xfrm>
            <a:off x="-25400" y="869315"/>
            <a:ext cx="12217400" cy="368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En esta tabla podemos ver las principales diferencias: </a:t>
            </a:r>
            <a:endParaRPr b="0" i="0" sz="1800" u="none" cap="none" strike="noStrike">
              <a:solidFill>
                <a:srgbClr val="000000"/>
              </a:solidFill>
              <a:latin typeface="Arial"/>
              <a:ea typeface="Arial"/>
              <a:cs typeface="Arial"/>
              <a:sym typeface="Arial"/>
            </a:endParaRPr>
          </a:p>
        </p:txBody>
      </p:sp>
      <p:sp>
        <p:nvSpPr>
          <p:cNvPr id="195" name="Google Shape;195;p9"/>
          <p:cNvSpPr txBox="1"/>
          <p:nvPr/>
        </p:nvSpPr>
        <p:spPr>
          <a:xfrm>
            <a:off x="3556000" y="4445317"/>
            <a:ext cx="5080000" cy="645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 </a:t>
            </a:r>
            <a:endParaRPr b="0" i="0" sz="1600" u="none" cap="none" strike="noStrike">
              <a:solidFill>
                <a:srgbClr val="000000"/>
              </a:solidFill>
              <a:latin typeface="Arial"/>
              <a:ea typeface="Arial"/>
              <a:cs typeface="Arial"/>
              <a:sym typeface="Arial"/>
            </a:endParaRPr>
          </a:p>
        </p:txBody>
      </p:sp>
      <p:sp>
        <p:nvSpPr>
          <p:cNvPr id="196" name="Google Shape;196;p9"/>
          <p:cNvSpPr/>
          <p:nvPr/>
        </p:nvSpPr>
        <p:spPr>
          <a:xfrm>
            <a:off x="0" y="5638800"/>
            <a:ext cx="12192000" cy="1219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aphicFrame>
        <p:nvGraphicFramePr>
          <p:cNvPr id="197" name="Google Shape;197;p9"/>
          <p:cNvGraphicFramePr/>
          <p:nvPr/>
        </p:nvGraphicFramePr>
        <p:xfrm>
          <a:off x="2032635" y="1428750"/>
          <a:ext cx="3000000" cy="3000000"/>
        </p:xfrm>
        <a:graphic>
          <a:graphicData uri="http://schemas.openxmlformats.org/drawingml/2006/table">
            <a:tbl>
              <a:tblPr>
                <a:noFill/>
                <a:tableStyleId>{4CA13875-9254-4307-A5A6-F7D66A847C66}</a:tableStyleId>
              </a:tblPr>
              <a:tblGrid>
                <a:gridCol w="1981825"/>
                <a:gridCol w="3133725"/>
                <a:gridCol w="2983875"/>
              </a:tblGrid>
              <a:tr h="410850">
                <a:tc>
                  <a:txBody>
                    <a:bodyPr/>
                    <a:lstStyle/>
                    <a:p>
                      <a:pPr indent="0" lvl="0" marL="40005" marR="0" rtl="0" algn="ctr">
                        <a:lnSpc>
                          <a:spcPct val="100000"/>
                        </a:lnSpc>
                        <a:spcBef>
                          <a:spcPts val="0"/>
                        </a:spcBef>
                        <a:spcAft>
                          <a:spcPts val="0"/>
                        </a:spcAft>
                        <a:buNone/>
                      </a:pPr>
                      <a:r>
                        <a:rPr b="1" lang="en-US" sz="1600" u="none" cap="none" strike="noStrike">
                          <a:solidFill>
                            <a:schemeClr val="lt1"/>
                          </a:solidFill>
                        </a:rPr>
                        <a:t>Característica</a:t>
                      </a:r>
                      <a:endParaRPr b="1" sz="1600" u="none" cap="none" strike="noStrike">
                        <a:solidFill>
                          <a:schemeClr val="lt1"/>
                        </a:solidFill>
                      </a:endParaRPr>
                    </a:p>
                  </a:txBody>
                  <a:tcPr marT="9525" marB="9525" marR="9525" marL="9525" anchor="ctr">
                    <a:solidFill>
                      <a:schemeClr val="dk1"/>
                    </a:solidFill>
                  </a:tcPr>
                </a:tc>
                <a:tc>
                  <a:txBody>
                    <a:bodyPr/>
                    <a:lstStyle/>
                    <a:p>
                      <a:pPr indent="0" lvl="0" marL="40005" marR="0" rtl="0" algn="ctr">
                        <a:lnSpc>
                          <a:spcPct val="100000"/>
                        </a:lnSpc>
                        <a:spcBef>
                          <a:spcPts val="0"/>
                        </a:spcBef>
                        <a:spcAft>
                          <a:spcPts val="0"/>
                        </a:spcAft>
                        <a:buNone/>
                      </a:pPr>
                      <a:r>
                        <a:rPr b="1" lang="en-US" sz="1600" u="none" cap="none" strike="noStrike"/>
                        <a:t>Estrés</a:t>
                      </a:r>
                      <a:endParaRPr b="1" sz="1600" u="none" cap="none" strike="noStrike"/>
                    </a:p>
                  </a:txBody>
                  <a:tcPr marT="9525" marB="9525" marR="9525" marL="9525" anchor="ctr">
                    <a:solidFill>
                      <a:srgbClr val="DDEAF6"/>
                    </a:solidFill>
                  </a:tcPr>
                </a:tc>
                <a:tc>
                  <a:txBody>
                    <a:bodyPr/>
                    <a:lstStyle/>
                    <a:p>
                      <a:pPr indent="0" lvl="0" marL="40005" marR="0" rtl="0" algn="ctr">
                        <a:lnSpc>
                          <a:spcPct val="100000"/>
                        </a:lnSpc>
                        <a:spcBef>
                          <a:spcPts val="0"/>
                        </a:spcBef>
                        <a:spcAft>
                          <a:spcPts val="0"/>
                        </a:spcAft>
                        <a:buNone/>
                      </a:pPr>
                      <a:r>
                        <a:rPr b="1" lang="en-US" sz="1600" u="none" cap="none" strike="noStrike"/>
                        <a:t>Burnout</a:t>
                      </a:r>
                      <a:endParaRPr b="1" sz="1600" u="none" cap="none" strike="noStrike"/>
                    </a:p>
                  </a:txBody>
                  <a:tcPr marT="9525" marB="9525" marR="9525" marL="9525" anchor="ctr">
                    <a:solidFill>
                      <a:srgbClr val="FBE4D4"/>
                    </a:solidFill>
                  </a:tcPr>
                </a:tc>
              </a:tr>
              <a:tr h="595625">
                <a:tc>
                  <a:txBody>
                    <a:bodyPr/>
                    <a:lstStyle/>
                    <a:p>
                      <a:pPr indent="0" lvl="0" marL="40005" marR="0" rtl="0" algn="ctr">
                        <a:lnSpc>
                          <a:spcPct val="100000"/>
                        </a:lnSpc>
                        <a:spcBef>
                          <a:spcPts val="0"/>
                        </a:spcBef>
                        <a:spcAft>
                          <a:spcPts val="0"/>
                        </a:spcAft>
                        <a:buNone/>
                      </a:pPr>
                      <a:r>
                        <a:rPr b="1" lang="en-US" sz="1600" u="none" cap="none" strike="noStrike"/>
                        <a:t>Temporalidad</a:t>
                      </a:r>
                      <a:endParaRPr b="1"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Generalmente de </a:t>
                      </a:r>
                      <a:endParaRPr sz="1600" u="none" cap="none" strike="noStrike"/>
                    </a:p>
                    <a:p>
                      <a:pPr indent="0" lvl="0" marL="40005" marR="0" rtl="0" algn="l">
                        <a:lnSpc>
                          <a:spcPct val="100000"/>
                        </a:lnSpc>
                        <a:spcBef>
                          <a:spcPts val="0"/>
                        </a:spcBef>
                        <a:spcAft>
                          <a:spcPts val="0"/>
                        </a:spcAft>
                        <a:buNone/>
                      </a:pPr>
                      <a:r>
                        <a:rPr lang="en-US" sz="1600" u="none" cap="none" strike="noStrike"/>
                        <a:t>corta o media duración</a:t>
                      </a:r>
                      <a:endParaRPr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Sostenido, crónico, sin recuperación adecuada</a:t>
                      </a:r>
                      <a:endParaRPr sz="1600" u="none" cap="none" strike="noStrike"/>
                    </a:p>
                  </a:txBody>
                  <a:tcPr marT="9525" marB="9525" marR="9525" marL="9525" anchor="ctr"/>
                </a:tc>
              </a:tr>
              <a:tr h="672475">
                <a:tc>
                  <a:txBody>
                    <a:bodyPr/>
                    <a:lstStyle/>
                    <a:p>
                      <a:pPr indent="0" lvl="0" marL="40005" marR="0" rtl="0" algn="ctr">
                        <a:lnSpc>
                          <a:spcPct val="100000"/>
                        </a:lnSpc>
                        <a:spcBef>
                          <a:spcPts val="0"/>
                        </a:spcBef>
                        <a:spcAft>
                          <a:spcPts val="0"/>
                        </a:spcAft>
                        <a:buNone/>
                      </a:pPr>
                      <a:r>
                        <a:rPr b="1" lang="en-US" sz="1600" u="none" cap="none" strike="noStrike"/>
                        <a:t>Estado </a:t>
                      </a:r>
                      <a:endParaRPr b="1" sz="1600" u="none" cap="none" strike="noStrike"/>
                    </a:p>
                    <a:p>
                      <a:pPr indent="0" lvl="0" marL="40005" marR="0" rtl="0" algn="ctr">
                        <a:lnSpc>
                          <a:spcPct val="100000"/>
                        </a:lnSpc>
                        <a:spcBef>
                          <a:spcPts val="0"/>
                        </a:spcBef>
                        <a:spcAft>
                          <a:spcPts val="0"/>
                        </a:spcAft>
                        <a:buNone/>
                      </a:pPr>
                      <a:r>
                        <a:rPr b="1" lang="en-US" sz="1600" u="none" cap="none" strike="noStrike"/>
                        <a:t>de ánimo</a:t>
                      </a:r>
                      <a:endParaRPr b="1"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Activo, movilizado (“vamos a resolverlo”)</a:t>
                      </a:r>
                      <a:endParaRPr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Pérdida de motivación, sensación de “ya no puedo”</a:t>
                      </a:r>
                      <a:endParaRPr sz="1600" u="none" cap="none" strike="noStrike"/>
                    </a:p>
                  </a:txBody>
                  <a:tcPr marT="9525" marB="9525" marR="9525" marL="9525" anchor="ctr"/>
                </a:tc>
              </a:tr>
              <a:tr h="633725">
                <a:tc>
                  <a:txBody>
                    <a:bodyPr/>
                    <a:lstStyle/>
                    <a:p>
                      <a:pPr indent="0" lvl="0" marL="40005" marR="0" rtl="0" algn="ctr">
                        <a:lnSpc>
                          <a:spcPct val="100000"/>
                        </a:lnSpc>
                        <a:spcBef>
                          <a:spcPts val="0"/>
                        </a:spcBef>
                        <a:spcAft>
                          <a:spcPts val="0"/>
                        </a:spcAft>
                        <a:buNone/>
                      </a:pPr>
                      <a:r>
                        <a:rPr b="1" lang="en-US" sz="1600" u="none" cap="none" strike="noStrike"/>
                        <a:t>Emoción </a:t>
                      </a:r>
                      <a:endParaRPr b="1" sz="1600" u="none" cap="none" strike="noStrike"/>
                    </a:p>
                    <a:p>
                      <a:pPr indent="0" lvl="0" marL="40005" marR="0" rtl="0" algn="ctr">
                        <a:lnSpc>
                          <a:spcPct val="100000"/>
                        </a:lnSpc>
                        <a:spcBef>
                          <a:spcPts val="0"/>
                        </a:spcBef>
                        <a:spcAft>
                          <a:spcPts val="0"/>
                        </a:spcAft>
                        <a:buNone/>
                      </a:pPr>
                      <a:r>
                        <a:rPr b="1" lang="en-US" sz="1600" u="none" cap="none" strike="noStrike"/>
                        <a:t>asociada</a:t>
                      </a:r>
                      <a:endParaRPr b="1"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Ansiedad, irritabilidad, tensión</a:t>
                      </a:r>
                      <a:endParaRPr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Apatía, desapego, </a:t>
                      </a:r>
                      <a:endParaRPr sz="1600" u="none" cap="none" strike="noStrike"/>
                    </a:p>
                    <a:p>
                      <a:pPr indent="0" lvl="0" marL="40005" marR="0" rtl="0" algn="l">
                        <a:lnSpc>
                          <a:spcPct val="100000"/>
                        </a:lnSpc>
                        <a:spcBef>
                          <a:spcPts val="0"/>
                        </a:spcBef>
                        <a:spcAft>
                          <a:spcPts val="0"/>
                        </a:spcAft>
                        <a:buNone/>
                      </a:pPr>
                      <a:r>
                        <a:rPr lang="en-US" sz="1600" u="none" cap="none" strike="noStrike"/>
                        <a:t>vacío emocional</a:t>
                      </a:r>
                      <a:endParaRPr sz="1600" u="none" cap="none" strike="noStrike"/>
                    </a:p>
                  </a:txBody>
                  <a:tcPr marT="9525" marB="9525" marR="9525" marL="9525" anchor="ctr"/>
                </a:tc>
              </a:tr>
              <a:tr h="735325">
                <a:tc>
                  <a:txBody>
                    <a:bodyPr/>
                    <a:lstStyle/>
                    <a:p>
                      <a:pPr indent="0" lvl="0" marL="40005" marR="0" rtl="0" algn="ctr">
                        <a:lnSpc>
                          <a:spcPct val="100000"/>
                        </a:lnSpc>
                        <a:spcBef>
                          <a:spcPts val="0"/>
                        </a:spcBef>
                        <a:spcAft>
                          <a:spcPts val="0"/>
                        </a:spcAft>
                        <a:buNone/>
                      </a:pPr>
                      <a:r>
                        <a:rPr b="1" lang="en-US" sz="1600" u="none" cap="none" strike="noStrike"/>
                        <a:t>Rendimiento</a:t>
                      </a:r>
                      <a:endParaRPr b="1"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Puede mantenerse o incluso mejorar momentáneamente</a:t>
                      </a:r>
                      <a:endParaRPr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Disminuye claramente </a:t>
                      </a:r>
                      <a:endParaRPr sz="1600" u="none" cap="none" strike="noStrike"/>
                    </a:p>
                    <a:p>
                      <a:pPr indent="0" lvl="0" marL="40005" marR="0" rtl="0" algn="l">
                        <a:lnSpc>
                          <a:spcPct val="100000"/>
                        </a:lnSpc>
                        <a:spcBef>
                          <a:spcPts val="0"/>
                        </a:spcBef>
                        <a:spcAft>
                          <a:spcPts val="0"/>
                        </a:spcAft>
                        <a:buNone/>
                      </a:pPr>
                      <a:r>
                        <a:rPr lang="en-US" sz="1600" u="none" cap="none" strike="noStrike"/>
                        <a:t>con el tiempo</a:t>
                      </a:r>
                      <a:endParaRPr sz="1600" u="none" cap="none" strike="noStrike"/>
                    </a:p>
                  </a:txBody>
                  <a:tcPr marT="9525" marB="9525" marR="9525" marL="9525" anchor="ctr"/>
                </a:tc>
              </a:tr>
              <a:tr h="672475">
                <a:tc>
                  <a:txBody>
                    <a:bodyPr/>
                    <a:lstStyle/>
                    <a:p>
                      <a:pPr indent="0" lvl="0" marL="40005" marR="0" rtl="0" algn="ctr">
                        <a:lnSpc>
                          <a:spcPct val="100000"/>
                        </a:lnSpc>
                        <a:spcBef>
                          <a:spcPts val="0"/>
                        </a:spcBef>
                        <a:spcAft>
                          <a:spcPts val="0"/>
                        </a:spcAft>
                        <a:buNone/>
                      </a:pPr>
                      <a:r>
                        <a:rPr b="1" lang="en-US" sz="1600" u="none" cap="none" strike="noStrike"/>
                        <a:t>Recuperación</a:t>
                      </a:r>
                      <a:endParaRPr b="1"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Un descanso o fin de semana pueden ayudar</a:t>
                      </a:r>
                      <a:endParaRPr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Las pausas no bastan; se necesita cambio estructural</a:t>
                      </a:r>
                      <a:endParaRPr sz="1600" u="none" cap="none" strike="noStrike"/>
                    </a:p>
                  </a:txBody>
                  <a:tcPr marT="9525" marB="9525" marR="9525" marL="9525" anchor="ctr"/>
                </a:tc>
              </a:tr>
              <a:tr h="672475">
                <a:tc>
                  <a:txBody>
                    <a:bodyPr/>
                    <a:lstStyle/>
                    <a:p>
                      <a:pPr indent="0" lvl="0" marL="40005" marR="0" rtl="0" algn="ctr">
                        <a:lnSpc>
                          <a:spcPct val="100000"/>
                        </a:lnSpc>
                        <a:spcBef>
                          <a:spcPts val="0"/>
                        </a:spcBef>
                        <a:spcAft>
                          <a:spcPts val="0"/>
                        </a:spcAft>
                        <a:buNone/>
                      </a:pPr>
                      <a:r>
                        <a:rPr b="1" lang="en-US" sz="1600" u="none" cap="none" strike="noStrike"/>
                        <a:t>Ámbito</a:t>
                      </a:r>
                      <a:endParaRPr b="1"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Responde a demandas específicas o puntuales</a:t>
                      </a:r>
                      <a:endParaRPr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Relacionado con condiciones persistentes del trabajo</a:t>
                      </a:r>
                      <a:endParaRPr sz="1600" u="none" cap="none" strike="noStrike"/>
                    </a:p>
                  </a:txBody>
                  <a:tcPr marT="9525" marB="9525" marR="9525" marL="9525" anchor="ctr"/>
                </a:tc>
              </a:tr>
              <a:tr h="684525">
                <a:tc>
                  <a:txBody>
                    <a:bodyPr/>
                    <a:lstStyle/>
                    <a:p>
                      <a:pPr indent="0" lvl="0" marL="40005" marR="0" rtl="0" algn="ctr">
                        <a:lnSpc>
                          <a:spcPct val="100000"/>
                        </a:lnSpc>
                        <a:spcBef>
                          <a:spcPts val="0"/>
                        </a:spcBef>
                        <a:spcAft>
                          <a:spcPts val="0"/>
                        </a:spcAft>
                        <a:buNone/>
                      </a:pPr>
                      <a:r>
                        <a:rPr b="1" lang="en-US" sz="1600" u="none" cap="none" strike="noStrike"/>
                        <a:t>Implicación </a:t>
                      </a:r>
                      <a:endParaRPr b="1" sz="1600" u="none" cap="none" strike="noStrike"/>
                    </a:p>
                    <a:p>
                      <a:pPr indent="0" lvl="0" marL="40005" marR="0" rtl="0" algn="ctr">
                        <a:lnSpc>
                          <a:spcPct val="100000"/>
                        </a:lnSpc>
                        <a:spcBef>
                          <a:spcPts val="0"/>
                        </a:spcBef>
                        <a:spcAft>
                          <a:spcPts val="0"/>
                        </a:spcAft>
                        <a:buNone/>
                      </a:pPr>
                      <a:r>
                        <a:rPr b="1" lang="en-US" sz="1600" u="none" cap="none" strike="noStrike"/>
                        <a:t>para el trabajo</a:t>
                      </a:r>
                      <a:endParaRPr b="1"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Participación activa, </a:t>
                      </a:r>
                      <a:endParaRPr sz="1600" u="none" cap="none" strike="noStrike"/>
                    </a:p>
                    <a:p>
                      <a:pPr indent="0" lvl="0" marL="40005" marR="0" rtl="0" algn="l">
                        <a:lnSpc>
                          <a:spcPct val="100000"/>
                        </a:lnSpc>
                        <a:spcBef>
                          <a:spcPts val="0"/>
                        </a:spcBef>
                        <a:spcAft>
                          <a:spcPts val="0"/>
                        </a:spcAft>
                        <a:buNone/>
                      </a:pPr>
                      <a:r>
                        <a:rPr lang="en-US" sz="1600" u="none" cap="none" strike="noStrike"/>
                        <a:t>implicación normal</a:t>
                      </a:r>
                      <a:endParaRPr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Desconexión, labor </a:t>
                      </a:r>
                      <a:endParaRPr sz="1600" u="none" cap="none" strike="noStrike"/>
                    </a:p>
                    <a:p>
                      <a:pPr indent="0" lvl="0" marL="40005" marR="0" rtl="0" algn="l">
                        <a:lnSpc>
                          <a:spcPct val="100000"/>
                        </a:lnSpc>
                        <a:spcBef>
                          <a:spcPts val="0"/>
                        </a:spcBef>
                        <a:spcAft>
                          <a:spcPts val="0"/>
                        </a:spcAft>
                        <a:buNone/>
                      </a:pPr>
                      <a:r>
                        <a:rPr lang="en-US" sz="1600" u="none" cap="none" strike="noStrike"/>
                        <a:t>cumplida “por trámite”</a:t>
                      </a:r>
                      <a:endParaRPr sz="1600" u="none" cap="none" strike="noStrike"/>
                    </a:p>
                  </a:txBody>
                  <a:tcPr marT="9525" marB="9525" marR="9525" marL="9525" anchor="ct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0"/>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1.4. Consecuencias del Burnout en la salud y el rendimiento </a:t>
            </a:r>
            <a:endParaRPr b="1" i="0" sz="2000" u="none" cap="none" strike="noStrike">
              <a:solidFill>
                <a:srgbClr val="000000"/>
              </a:solidFill>
              <a:latin typeface="Arial"/>
              <a:ea typeface="Arial"/>
              <a:cs typeface="Arial"/>
              <a:sym typeface="Arial"/>
            </a:endParaRPr>
          </a:p>
        </p:txBody>
      </p:sp>
      <p:sp>
        <p:nvSpPr>
          <p:cNvPr id="204" name="Google Shape;204;p10"/>
          <p:cNvSpPr txBox="1"/>
          <p:nvPr/>
        </p:nvSpPr>
        <p:spPr>
          <a:xfrm>
            <a:off x="812800" y="1333500"/>
            <a:ext cx="10337800" cy="9220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Cuando el</a:t>
            </a:r>
            <a:r>
              <a:rPr b="1" i="0" lang="en-US" sz="1800" u="none" cap="none" strike="noStrike">
                <a:solidFill>
                  <a:srgbClr val="C55A11"/>
                </a:solidFill>
                <a:latin typeface="Arial"/>
                <a:ea typeface="Arial"/>
                <a:cs typeface="Arial"/>
                <a:sym typeface="Arial"/>
              </a:rPr>
              <a:t> agotamiento laboral </a:t>
            </a:r>
            <a:r>
              <a:rPr b="0" i="0" lang="en-US" sz="1800" u="none" cap="none" strike="noStrike">
                <a:solidFill>
                  <a:srgbClr val="000000"/>
                </a:solidFill>
                <a:latin typeface="Arial"/>
                <a:ea typeface="Arial"/>
                <a:cs typeface="Arial"/>
                <a:sym typeface="Arial"/>
              </a:rPr>
              <a:t>se instala, sus efectos pueden sentirse tanto en nuestro cuerpo y mente, como en la forma en que trabajamos y colaboramos. A continuación, identifica sus señales para que puedas actuar antes de que se agraven.</a:t>
            </a:r>
            <a:endParaRPr b="0" i="0" sz="1800" u="none" cap="none" strike="noStrike">
              <a:solidFill>
                <a:srgbClr val="000000"/>
              </a:solidFill>
              <a:latin typeface="Arial"/>
              <a:ea typeface="Arial"/>
              <a:cs typeface="Arial"/>
              <a:sym typeface="Arial"/>
            </a:endParaRPr>
          </a:p>
        </p:txBody>
      </p:sp>
      <p:sp>
        <p:nvSpPr>
          <p:cNvPr id="205" name="Google Shape;205;p10"/>
          <p:cNvSpPr txBox="1"/>
          <p:nvPr/>
        </p:nvSpPr>
        <p:spPr>
          <a:xfrm>
            <a:off x="5215890" y="927100"/>
            <a:ext cx="4064000" cy="3067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6" name="Google Shape;206;p10"/>
          <p:cNvSpPr txBox="1"/>
          <p:nvPr/>
        </p:nvSpPr>
        <p:spPr>
          <a:xfrm>
            <a:off x="8759190" y="2531745"/>
            <a:ext cx="2366010" cy="30734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1" lang="en-US" sz="1400" u="none" cap="none" strike="noStrike">
                <a:solidFill>
                  <a:srgbClr val="833C0B"/>
                </a:solidFill>
                <a:latin typeface="Arial"/>
                <a:ea typeface="Arial"/>
                <a:cs typeface="Arial"/>
                <a:sym typeface="Arial"/>
              </a:rPr>
              <a:t>Haz clic en cada botón.</a:t>
            </a:r>
            <a:endParaRPr b="0" i="1" sz="1400" u="none" cap="none" strike="noStrike">
              <a:solidFill>
                <a:srgbClr val="833C0B"/>
              </a:solidFill>
              <a:latin typeface="Arial"/>
              <a:ea typeface="Arial"/>
              <a:cs typeface="Arial"/>
              <a:sym typeface="Arial"/>
            </a:endParaRPr>
          </a:p>
        </p:txBody>
      </p:sp>
      <p:sp>
        <p:nvSpPr>
          <p:cNvPr id="207" name="Google Shape;207;p10"/>
          <p:cNvSpPr/>
          <p:nvPr/>
        </p:nvSpPr>
        <p:spPr>
          <a:xfrm>
            <a:off x="3082925" y="3416935"/>
            <a:ext cx="2248535" cy="735965"/>
          </a:xfrm>
          <a:prstGeom prst="roundRect">
            <a:avLst>
              <a:gd fmla="val 16667" name="adj"/>
            </a:avLst>
          </a:prstGeom>
          <a:solidFill>
            <a:srgbClr val="FBE4D4"/>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600" u="none" cap="none" strike="noStrike">
                <a:solidFill>
                  <a:srgbClr val="C55A11"/>
                </a:solidFill>
                <a:latin typeface="Arial"/>
                <a:ea typeface="Arial"/>
                <a:cs typeface="Arial"/>
                <a:sym typeface="Arial"/>
              </a:rPr>
              <a:t>Salud física </a:t>
            </a:r>
            <a:endParaRPr b="1" i="0" sz="1600" u="none" cap="none" strike="noStrike">
              <a:solidFill>
                <a:srgbClr val="C55A11"/>
              </a:solidFill>
              <a:latin typeface="Arial"/>
              <a:ea typeface="Arial"/>
              <a:cs typeface="Arial"/>
              <a:sym typeface="Arial"/>
            </a:endParaRPr>
          </a:p>
          <a:p>
            <a:pPr indent="0" lvl="0" marL="0" marR="0" rtl="0" algn="ctr">
              <a:lnSpc>
                <a:spcPct val="100000"/>
              </a:lnSpc>
              <a:spcBef>
                <a:spcPts val="0"/>
              </a:spcBef>
              <a:spcAft>
                <a:spcPts val="0"/>
              </a:spcAft>
              <a:buNone/>
            </a:pPr>
            <a:r>
              <a:rPr b="1" i="0" lang="en-US" sz="1600" u="none" cap="none" strike="noStrike">
                <a:solidFill>
                  <a:srgbClr val="C55A11"/>
                </a:solidFill>
                <a:latin typeface="Arial"/>
                <a:ea typeface="Arial"/>
                <a:cs typeface="Arial"/>
                <a:sym typeface="Arial"/>
              </a:rPr>
              <a:t>y emocional</a:t>
            </a:r>
            <a:endParaRPr b="1" i="0" sz="1600" u="none" cap="none" strike="noStrike">
              <a:solidFill>
                <a:srgbClr val="C55A11"/>
              </a:solidFill>
              <a:latin typeface="Arial"/>
              <a:ea typeface="Arial"/>
              <a:cs typeface="Arial"/>
              <a:sym typeface="Arial"/>
            </a:endParaRPr>
          </a:p>
        </p:txBody>
      </p:sp>
      <p:sp>
        <p:nvSpPr>
          <p:cNvPr id="208" name="Google Shape;208;p10"/>
          <p:cNvSpPr/>
          <p:nvPr/>
        </p:nvSpPr>
        <p:spPr>
          <a:xfrm>
            <a:off x="6816725" y="3455035"/>
            <a:ext cx="2248535" cy="735965"/>
          </a:xfrm>
          <a:prstGeom prst="roundRect">
            <a:avLst>
              <a:gd fmla="val 16667" name="adj"/>
            </a:avLst>
          </a:prstGeom>
          <a:solidFill>
            <a:srgbClr val="FBE4D4"/>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600" u="none" cap="none" strike="noStrike">
                <a:solidFill>
                  <a:srgbClr val="C55A11"/>
                </a:solidFill>
                <a:latin typeface="Arial"/>
                <a:ea typeface="Arial"/>
                <a:cs typeface="Arial"/>
                <a:sym typeface="Arial"/>
              </a:rPr>
              <a:t>Rendimiento y la forma de trabajar</a:t>
            </a:r>
            <a:endParaRPr b="1" i="0" sz="1600" u="none" cap="none" strike="noStrike">
              <a:solidFill>
                <a:srgbClr val="C55A11"/>
              </a:solidFill>
              <a:latin typeface="Arial"/>
              <a:ea typeface="Arial"/>
              <a:cs typeface="Arial"/>
              <a:sym typeface="Arial"/>
            </a:endParaRPr>
          </a:p>
        </p:txBody>
      </p:sp>
      <p:sp>
        <p:nvSpPr>
          <p:cNvPr id="209" name="Google Shape;209;p10"/>
          <p:cNvSpPr/>
          <p:nvPr/>
        </p:nvSpPr>
        <p:spPr>
          <a:xfrm rot="-5400000">
            <a:off x="5548630" y="2703830"/>
            <a:ext cx="946150" cy="3949700"/>
          </a:xfrm>
          <a:prstGeom prst="leftBrace">
            <a:avLst>
              <a:gd fmla="val 8333" name="adj1"/>
              <a:gd fmla="val 51430" name="adj2"/>
            </a:avLst>
          </a:prstGeom>
          <a:no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10" name="Google Shape;210;p10"/>
          <p:cNvSpPr/>
          <p:nvPr/>
        </p:nvSpPr>
        <p:spPr>
          <a:xfrm>
            <a:off x="4782185" y="5147945"/>
            <a:ext cx="2653030" cy="977900"/>
          </a:xfrm>
          <a:prstGeom prst="roundRect">
            <a:avLst>
              <a:gd fmla="val 16667" name="adj"/>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¿Por qué importa actuar ahora?</a:t>
            </a:r>
            <a:endParaRPr b="1" i="0" sz="1800" u="none" cap="none" strike="noStrike">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1"/>
          <p:cNvSpPr/>
          <p:nvPr/>
        </p:nvSpPr>
        <p:spPr>
          <a:xfrm>
            <a:off x="0" y="5638800"/>
            <a:ext cx="12192000" cy="1219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7" name="Google Shape;217;p11"/>
          <p:cNvSpPr txBox="1"/>
          <p:nvPr/>
        </p:nvSpPr>
        <p:spPr>
          <a:xfrm>
            <a:off x="4747260" y="3529330"/>
            <a:ext cx="2654300" cy="163068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600" u="none" cap="none" strike="noStrike">
                <a:solidFill>
                  <a:srgbClr val="000000"/>
                </a:solidFill>
                <a:latin typeface="Arial"/>
                <a:ea typeface="Arial"/>
                <a:cs typeface="Arial"/>
                <a:sym typeface="Arial"/>
              </a:rPr>
              <a:t>Cansancio constante:</a:t>
            </a:r>
            <a:r>
              <a:rPr b="0" i="0" lang="en-US" sz="1600" u="none" cap="none" strike="noStrike">
                <a:solidFill>
                  <a:srgbClr val="000000"/>
                </a:solidFill>
                <a:latin typeface="Arial"/>
                <a:ea typeface="Arial"/>
                <a:cs typeface="Arial"/>
                <a:sym typeface="Arial"/>
              </a:rPr>
              <a:t>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t/>
            </a:r>
            <a:endParaRPr b="0" i="0" sz="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rPr b="0" i="0" lang="en-US" sz="1600" u="none" cap="none" strike="noStrike">
                <a:solidFill>
                  <a:srgbClr val="000000"/>
                </a:solidFill>
                <a:latin typeface="Arial"/>
                <a:ea typeface="Arial"/>
                <a:cs typeface="Arial"/>
                <a:sym typeface="Arial"/>
              </a:rPr>
              <a:t>Ya no es “hoy estoy cansado”, sino “todos los días me siento sin energía”, incluso al levantarme.</a:t>
            </a:r>
            <a:endParaRPr b="0" i="0" sz="1600" u="none" cap="none" strike="noStrike">
              <a:solidFill>
                <a:srgbClr val="000000"/>
              </a:solidFill>
              <a:latin typeface="Arial"/>
              <a:ea typeface="Arial"/>
              <a:cs typeface="Arial"/>
              <a:sym typeface="Arial"/>
            </a:endParaRPr>
          </a:p>
        </p:txBody>
      </p:sp>
      <p:sp>
        <p:nvSpPr>
          <p:cNvPr id="218" name="Google Shape;218;p11"/>
          <p:cNvSpPr/>
          <p:nvPr/>
        </p:nvSpPr>
        <p:spPr>
          <a:xfrm>
            <a:off x="1181735" y="1142365"/>
            <a:ext cx="9753600" cy="5220335"/>
          </a:xfrm>
          <a:prstGeom prst="rect">
            <a:avLst/>
          </a:prstGeom>
          <a:noFill/>
          <a:ln cap="flat" cmpd="sng" w="15875">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9" name="Google Shape;219;p11"/>
          <p:cNvSpPr txBox="1"/>
          <p:nvPr/>
        </p:nvSpPr>
        <p:spPr>
          <a:xfrm>
            <a:off x="1384300" y="1285875"/>
            <a:ext cx="9398000" cy="368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Arial"/>
              <a:buNone/>
            </a:pPr>
            <a:r>
              <a:rPr b="1" i="0" lang="en-US" sz="1800" u="none" cap="none" strike="noStrike">
                <a:solidFill>
                  <a:srgbClr val="C55A11"/>
                </a:solidFill>
                <a:latin typeface="Arial"/>
                <a:ea typeface="Arial"/>
                <a:cs typeface="Arial"/>
                <a:sym typeface="Arial"/>
              </a:rPr>
              <a:t>Salud física y emocional</a:t>
            </a:r>
            <a:endParaRPr b="1" i="0" sz="1800" u="none" cap="none" strike="noStrike">
              <a:solidFill>
                <a:srgbClr val="C55A11"/>
              </a:solidFill>
              <a:latin typeface="Arial"/>
              <a:ea typeface="Arial"/>
              <a:cs typeface="Arial"/>
              <a:sym typeface="Arial"/>
            </a:endParaRPr>
          </a:p>
        </p:txBody>
      </p:sp>
      <p:sp>
        <p:nvSpPr>
          <p:cNvPr id="220" name="Google Shape;220;p11"/>
          <p:cNvSpPr txBox="1"/>
          <p:nvPr/>
        </p:nvSpPr>
        <p:spPr>
          <a:xfrm>
            <a:off x="7110095" y="1923415"/>
            <a:ext cx="3608705" cy="181483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600" u="none" cap="none" strike="noStrike">
                <a:solidFill>
                  <a:srgbClr val="000000"/>
                </a:solidFill>
                <a:latin typeface="Arial"/>
                <a:ea typeface="Arial"/>
                <a:cs typeface="Arial"/>
                <a:sym typeface="Arial"/>
              </a:rPr>
              <a:t>Emociones más pesadas: </a:t>
            </a:r>
            <a:endParaRPr b="1"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t/>
            </a:r>
            <a:endParaRPr b="1"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rPr b="0" i="0" lang="en-US" sz="1600" u="none" cap="none" strike="noStrike">
                <a:solidFill>
                  <a:srgbClr val="000000"/>
                </a:solidFill>
                <a:latin typeface="Arial"/>
                <a:ea typeface="Arial"/>
                <a:cs typeface="Arial"/>
                <a:sym typeface="Arial"/>
              </a:rPr>
              <a:t>Sentirse inútil, bajo de ánimo, menor interés por colaborar o conectar con compañeros o clientes. Esto puede evolucionar hacia ansiedad o depresión si no se atiende.</a:t>
            </a:r>
            <a:endParaRPr b="0" i="0" sz="1600" u="none" cap="none" strike="noStrike">
              <a:solidFill>
                <a:srgbClr val="000000"/>
              </a:solidFill>
              <a:latin typeface="Arial"/>
              <a:ea typeface="Arial"/>
              <a:cs typeface="Arial"/>
              <a:sym typeface="Arial"/>
            </a:endParaRPr>
          </a:p>
        </p:txBody>
      </p:sp>
      <p:sp>
        <p:nvSpPr>
          <p:cNvPr id="221" name="Google Shape;221;p11"/>
          <p:cNvSpPr txBox="1"/>
          <p:nvPr/>
        </p:nvSpPr>
        <p:spPr>
          <a:xfrm>
            <a:off x="7706360" y="4603115"/>
            <a:ext cx="2829560" cy="1460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Arial"/>
              <a:buNone/>
            </a:pPr>
            <a:r>
              <a:rPr b="1" i="0" lang="en-US" sz="1600" u="none" cap="none" strike="noStrike">
                <a:solidFill>
                  <a:srgbClr val="000000"/>
                </a:solidFill>
                <a:latin typeface="Arial"/>
                <a:ea typeface="Arial"/>
                <a:cs typeface="Arial"/>
                <a:sym typeface="Arial"/>
              </a:rPr>
              <a:t>Problemas de sueño:</a:t>
            </a:r>
            <a:r>
              <a:rPr b="0" i="0" lang="en-US" sz="1600" u="none" cap="none" strike="noStrike">
                <a:solidFill>
                  <a:srgbClr val="000000"/>
                </a:solidFill>
                <a:latin typeface="Arial"/>
                <a:ea typeface="Arial"/>
                <a:cs typeface="Arial"/>
                <a:sym typeface="Arial"/>
              </a:rPr>
              <a:t>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t/>
            </a:r>
            <a:endParaRPr b="0" i="0" sz="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rPr b="0" i="0" lang="en-US" sz="1600" u="none" cap="none" strike="noStrike">
                <a:solidFill>
                  <a:srgbClr val="000000"/>
                </a:solidFill>
                <a:latin typeface="Arial"/>
                <a:ea typeface="Arial"/>
                <a:cs typeface="Arial"/>
                <a:sym typeface="Arial"/>
              </a:rPr>
              <a:t>Dificultad para conciliar el sueño, despertarse a mitad de la noche o no sentirse descansado al despertar.</a:t>
            </a:r>
            <a:endParaRPr b="0" i="0" sz="1600" u="none" cap="none" strike="noStrike">
              <a:solidFill>
                <a:srgbClr val="000000"/>
              </a:solidFill>
              <a:latin typeface="Arial"/>
              <a:ea typeface="Arial"/>
              <a:cs typeface="Arial"/>
              <a:sym typeface="Arial"/>
            </a:endParaRPr>
          </a:p>
        </p:txBody>
      </p:sp>
      <p:sp>
        <p:nvSpPr>
          <p:cNvPr id="222" name="Google Shape;222;p11"/>
          <p:cNvSpPr txBox="1"/>
          <p:nvPr/>
        </p:nvSpPr>
        <p:spPr>
          <a:xfrm>
            <a:off x="1727835" y="4548505"/>
            <a:ext cx="3112135" cy="152908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600" u="none" cap="none" strike="noStrike">
                <a:solidFill>
                  <a:srgbClr val="000000"/>
                </a:solidFill>
                <a:latin typeface="Arial"/>
                <a:ea typeface="Arial"/>
                <a:cs typeface="Arial"/>
                <a:sym typeface="Arial"/>
              </a:rPr>
              <a:t>Irritabilidad o seguir el </a:t>
            </a:r>
            <a:endParaRPr b="1"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rPr b="1" i="0" lang="en-US" sz="1600" u="none" cap="none" strike="noStrike">
                <a:solidFill>
                  <a:srgbClr val="000000"/>
                </a:solidFill>
                <a:latin typeface="Arial"/>
                <a:ea typeface="Arial"/>
                <a:cs typeface="Arial"/>
                <a:sym typeface="Arial"/>
              </a:rPr>
              <a:t>día a día sin ganas: </a:t>
            </a:r>
            <a:endParaRPr b="1"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t/>
            </a:r>
            <a:endParaRPr b="1" i="0" sz="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rPr b="0" i="0" lang="en-US" sz="1600" u="none" cap="none" strike="noStrike">
                <a:solidFill>
                  <a:srgbClr val="000000"/>
                </a:solidFill>
                <a:latin typeface="Arial"/>
                <a:ea typeface="Arial"/>
                <a:cs typeface="Arial"/>
                <a:sym typeface="Arial"/>
              </a:rPr>
              <a:t>Mostrar apatía, responder de forma más seca, perder interés por cosas que antes motivaban.</a:t>
            </a:r>
            <a:endParaRPr b="0" i="0" sz="1600" u="none" cap="none" strike="noStrike">
              <a:solidFill>
                <a:srgbClr val="000000"/>
              </a:solidFill>
              <a:latin typeface="Arial"/>
              <a:ea typeface="Arial"/>
              <a:cs typeface="Arial"/>
              <a:sym typeface="Arial"/>
            </a:endParaRPr>
          </a:p>
        </p:txBody>
      </p:sp>
      <p:sp>
        <p:nvSpPr>
          <p:cNvPr id="223" name="Google Shape;223;p11"/>
          <p:cNvSpPr txBox="1"/>
          <p:nvPr/>
        </p:nvSpPr>
        <p:spPr>
          <a:xfrm>
            <a:off x="1442085" y="1885315"/>
            <a:ext cx="3404235" cy="1691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Arial"/>
              <a:buNone/>
            </a:pPr>
            <a:r>
              <a:rPr b="1" i="0" lang="en-US" sz="1600" u="none" cap="none" strike="noStrike">
                <a:solidFill>
                  <a:srgbClr val="000000"/>
                </a:solidFill>
                <a:latin typeface="Arial"/>
                <a:ea typeface="Arial"/>
                <a:cs typeface="Arial"/>
                <a:sym typeface="Arial"/>
              </a:rPr>
              <a:t>Síntomas físicos varios:</a:t>
            </a:r>
            <a:endParaRPr b="1"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rPr b="0" i="0" lang="en-US" sz="1600" u="none" cap="none" strike="noStrike">
                <a:solidFill>
                  <a:srgbClr val="000000"/>
                </a:solidFill>
                <a:latin typeface="Arial"/>
                <a:ea typeface="Arial"/>
                <a:cs typeface="Arial"/>
                <a:sym typeface="Arial"/>
              </a:rPr>
              <a:t>Dolores de cabeza, cuello o espalda, trastornos digestivos, palpitaciones o tensión muscular, que ya no se relacionan sólo con una semana pesada.</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2"/>
          <p:cNvSpPr/>
          <p:nvPr/>
        </p:nvSpPr>
        <p:spPr>
          <a:xfrm>
            <a:off x="0" y="5638800"/>
            <a:ext cx="12192000" cy="1219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0" name="Google Shape;230;p12"/>
          <p:cNvSpPr/>
          <p:nvPr/>
        </p:nvSpPr>
        <p:spPr>
          <a:xfrm>
            <a:off x="992505" y="1142365"/>
            <a:ext cx="10184130" cy="5220335"/>
          </a:xfrm>
          <a:prstGeom prst="rect">
            <a:avLst/>
          </a:prstGeom>
          <a:noFill/>
          <a:ln cap="flat" cmpd="sng" w="15875">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1" name="Google Shape;231;p12"/>
          <p:cNvSpPr txBox="1"/>
          <p:nvPr/>
        </p:nvSpPr>
        <p:spPr>
          <a:xfrm>
            <a:off x="1384300" y="1285875"/>
            <a:ext cx="9398000" cy="368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800" u="none" cap="none" strike="noStrike">
                <a:solidFill>
                  <a:srgbClr val="C55A11"/>
                </a:solidFill>
                <a:latin typeface="Arial"/>
                <a:ea typeface="Arial"/>
                <a:cs typeface="Arial"/>
                <a:sym typeface="Arial"/>
              </a:rPr>
              <a:t>Rendimiento y la forma de trabajar</a:t>
            </a:r>
            <a:endParaRPr b="1" i="0" sz="1800" u="none" cap="none" strike="noStrike">
              <a:solidFill>
                <a:srgbClr val="C55A11"/>
              </a:solidFill>
              <a:latin typeface="Arial"/>
              <a:ea typeface="Arial"/>
              <a:cs typeface="Arial"/>
              <a:sym typeface="Arial"/>
            </a:endParaRPr>
          </a:p>
        </p:txBody>
      </p:sp>
      <p:sp>
        <p:nvSpPr>
          <p:cNvPr id="232" name="Google Shape;232;p12"/>
          <p:cNvSpPr txBox="1"/>
          <p:nvPr/>
        </p:nvSpPr>
        <p:spPr>
          <a:xfrm>
            <a:off x="4605020" y="2964815"/>
            <a:ext cx="2580005" cy="190119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Menor calidad </a:t>
            </a:r>
            <a:endParaRPr b="1"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en las tareas: </a:t>
            </a:r>
            <a:endParaRPr b="1"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t/>
            </a:r>
            <a:endParaRPr b="1" i="0" sz="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 cometen más errores, se vuelve más difícil revisar el trabajo, los tiempos se alargan.</a:t>
            </a:r>
            <a:endParaRPr b="0" i="0" sz="1600" u="none" cap="none" strike="noStrike">
              <a:solidFill>
                <a:srgbClr val="000000"/>
              </a:solidFill>
              <a:latin typeface="Arial"/>
              <a:ea typeface="Arial"/>
              <a:cs typeface="Arial"/>
              <a:sym typeface="Arial"/>
            </a:endParaRPr>
          </a:p>
        </p:txBody>
      </p:sp>
      <p:sp>
        <p:nvSpPr>
          <p:cNvPr id="233" name="Google Shape;233;p12"/>
          <p:cNvSpPr txBox="1"/>
          <p:nvPr/>
        </p:nvSpPr>
        <p:spPr>
          <a:xfrm>
            <a:off x="1231265" y="1910715"/>
            <a:ext cx="3144520" cy="171831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Menor productividad real: </a:t>
            </a:r>
            <a:endParaRPr b="1"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Aunque estés en la oficina u horas conectadas, el rendimiento efectivo puede caer. Lo que producías con 100% ahora quizá seas 60-70%.</a:t>
            </a:r>
            <a:endParaRPr b="0" i="0" sz="1600" u="none" cap="none" strike="noStrike">
              <a:solidFill>
                <a:srgbClr val="000000"/>
              </a:solidFill>
              <a:latin typeface="Arial"/>
              <a:ea typeface="Arial"/>
              <a:cs typeface="Arial"/>
              <a:sym typeface="Arial"/>
            </a:endParaRPr>
          </a:p>
        </p:txBody>
      </p:sp>
      <p:sp>
        <p:nvSpPr>
          <p:cNvPr id="234" name="Google Shape;234;p12"/>
          <p:cNvSpPr txBox="1"/>
          <p:nvPr/>
        </p:nvSpPr>
        <p:spPr>
          <a:xfrm>
            <a:off x="7401560" y="1898015"/>
            <a:ext cx="3596640" cy="173101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Retrabajo y efectos </a:t>
            </a:r>
            <a:endParaRPr b="1"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en equipo/cliente: </a:t>
            </a:r>
            <a:endParaRPr b="1"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El equipo tiene que esperar más, los clientes internos/externos lo sienten, los resultados bajan, la reputación del área puede verse afectada.</a:t>
            </a:r>
            <a:endParaRPr b="0" i="0" sz="1600" u="none" cap="none" strike="noStrike">
              <a:solidFill>
                <a:srgbClr val="000000"/>
              </a:solidFill>
              <a:latin typeface="Arial"/>
              <a:ea typeface="Arial"/>
              <a:cs typeface="Arial"/>
              <a:sym typeface="Arial"/>
            </a:endParaRPr>
          </a:p>
        </p:txBody>
      </p:sp>
      <p:sp>
        <p:nvSpPr>
          <p:cNvPr id="235" name="Google Shape;235;p12"/>
          <p:cNvSpPr txBox="1"/>
          <p:nvPr/>
        </p:nvSpPr>
        <p:spPr>
          <a:xfrm>
            <a:off x="1561465" y="4231005"/>
            <a:ext cx="2720340" cy="172529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Desmotivación o desconexión: </a:t>
            </a:r>
            <a:endParaRPr b="1"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t/>
            </a:r>
            <a:endParaRPr b="1" i="0" sz="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“Ya no me importa tanto este proyecto”, “¿para qué me esfuerzo si no cambia nada”. Esto reduce el entusiasmo y la iniciativa.</a:t>
            </a:r>
            <a:endParaRPr b="0" i="0" sz="1600" u="none" cap="none" strike="noStrike">
              <a:solidFill>
                <a:srgbClr val="000000"/>
              </a:solidFill>
              <a:latin typeface="Arial"/>
              <a:ea typeface="Arial"/>
              <a:cs typeface="Arial"/>
              <a:sym typeface="Arial"/>
            </a:endParaRPr>
          </a:p>
        </p:txBody>
      </p:sp>
      <p:sp>
        <p:nvSpPr>
          <p:cNvPr id="236" name="Google Shape;236;p12"/>
          <p:cNvSpPr txBox="1"/>
          <p:nvPr/>
        </p:nvSpPr>
        <p:spPr>
          <a:xfrm>
            <a:off x="7248525" y="4061460"/>
            <a:ext cx="3597275" cy="21996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Mayor riesgo para la </a:t>
            </a:r>
            <a:endParaRPr b="1"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empresa… y para ti: </a:t>
            </a:r>
            <a:endParaRPr b="1"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Puede aumentar el ausentismo o que busques otro empleo. Para la empresa significa más costos, menor calidad y menor compromiso; para ti, más estrés, más carga emocional, menos satisfacción.</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3"/>
          <p:cNvSpPr txBox="1"/>
          <p:nvPr/>
        </p:nvSpPr>
        <p:spPr>
          <a:xfrm>
            <a:off x="591185" y="426720"/>
            <a:ext cx="6361430" cy="4591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Arial"/>
                <a:ea typeface="Arial"/>
                <a:cs typeface="Arial"/>
                <a:sym typeface="Arial"/>
              </a:rPr>
              <a:t>Ejercicio </a:t>
            </a:r>
            <a:endParaRPr b="1" i="0" sz="2400" u="none" cap="none" strike="noStrike">
              <a:solidFill>
                <a:srgbClr val="C55A11"/>
              </a:solidFill>
              <a:latin typeface="Arial"/>
              <a:ea typeface="Arial"/>
              <a:cs typeface="Arial"/>
              <a:sym typeface="Arial"/>
            </a:endParaRPr>
          </a:p>
        </p:txBody>
      </p:sp>
      <p:sp>
        <p:nvSpPr>
          <p:cNvPr id="243" name="Google Shape;243;p13"/>
          <p:cNvSpPr txBox="1"/>
          <p:nvPr/>
        </p:nvSpPr>
        <p:spPr>
          <a:xfrm>
            <a:off x="1996440" y="1452245"/>
            <a:ext cx="8204835" cy="133731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Realiza el siguiente test, en cual podrás medir rápidamente  las señales tempranas de Burnout y estimar el nivel de urgencia con el que necesitas actuar para recuperar tu bienestar laboral.</a:t>
            </a:r>
            <a:endParaRPr b="0" i="0" sz="2200" u="none" cap="none" strike="noStrike">
              <a:solidFill>
                <a:srgbClr val="000000"/>
              </a:solidFill>
              <a:latin typeface="Arial"/>
              <a:ea typeface="Arial"/>
              <a:cs typeface="Arial"/>
              <a:sym typeface="Arial"/>
            </a:endParaRPr>
          </a:p>
        </p:txBody>
      </p:sp>
      <p:sp>
        <p:nvSpPr>
          <p:cNvPr id="244" name="Google Shape;244;p13"/>
          <p:cNvSpPr txBox="1"/>
          <p:nvPr/>
        </p:nvSpPr>
        <p:spPr>
          <a:xfrm>
            <a:off x="2075815" y="3404870"/>
            <a:ext cx="2200910" cy="3073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2E75B5"/>
                </a:solidFill>
                <a:latin typeface="Arial"/>
                <a:ea typeface="Arial"/>
                <a:cs typeface="Arial"/>
                <a:sym typeface="Arial"/>
              </a:rPr>
              <a:t>Haz clic en el ícono.</a:t>
            </a:r>
            <a:endParaRPr b="0" i="1" sz="1400" u="none" cap="none" strike="noStrike">
              <a:solidFill>
                <a:srgbClr val="2E75B5"/>
              </a:solidFill>
              <a:latin typeface="Arial"/>
              <a:ea typeface="Arial"/>
              <a:cs typeface="Arial"/>
              <a:sym typeface="Arial"/>
            </a:endParaRPr>
          </a:p>
        </p:txBody>
      </p:sp>
      <p:pic>
        <p:nvPicPr>
          <p:cNvPr id="245" name="Google Shape;245;p13"/>
          <p:cNvPicPr preferRelativeResize="0"/>
          <p:nvPr/>
        </p:nvPicPr>
        <p:blipFill rotWithShape="1">
          <a:blip r:embed="rId3">
            <a:alphaModFix/>
          </a:blip>
          <a:srcRect b="0" l="0" r="0" t="0"/>
          <a:stretch/>
        </p:blipFill>
        <p:spPr>
          <a:xfrm>
            <a:off x="5410200" y="3712210"/>
            <a:ext cx="1358900" cy="139763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4"/>
          <p:cNvSpPr txBox="1"/>
          <p:nvPr/>
        </p:nvSpPr>
        <p:spPr>
          <a:xfrm>
            <a:off x="475615" y="2359025"/>
            <a:ext cx="5613400" cy="2135505"/>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000"/>
              <a:buFont typeface="Arial"/>
              <a:buNone/>
            </a:pPr>
            <a:r>
              <a:rPr b="1" i="0" lang="en-US" sz="2800" u="none" cap="none" strike="noStrike">
                <a:solidFill>
                  <a:schemeClr val="dk1"/>
                </a:solidFill>
                <a:latin typeface="Arial"/>
                <a:ea typeface="Arial"/>
                <a:cs typeface="Arial"/>
                <a:sym typeface="Arial"/>
              </a:rPr>
              <a:t>UNIDAD 2</a:t>
            </a:r>
            <a:endParaRPr b="1" i="0" sz="2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1" i="0" sz="2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US" sz="2800" u="none" cap="none" strike="noStrike">
                <a:solidFill>
                  <a:schemeClr val="dk1"/>
                </a:solidFill>
                <a:latin typeface="Arial"/>
                <a:ea typeface="Arial"/>
                <a:cs typeface="Arial"/>
                <a:sym typeface="Arial"/>
              </a:rPr>
              <a:t>Identificación de señales </a:t>
            </a:r>
            <a:endParaRPr b="1" i="0" sz="2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US" sz="2800" u="none" cap="none" strike="noStrike">
                <a:solidFill>
                  <a:schemeClr val="dk1"/>
                </a:solidFill>
                <a:latin typeface="Arial"/>
                <a:ea typeface="Arial"/>
                <a:cs typeface="Arial"/>
                <a:sym typeface="Arial"/>
              </a:rPr>
              <a:t>y factores de riesgo</a:t>
            </a:r>
            <a:endParaRPr b="1" i="0" sz="2800" u="none" cap="none" strike="noStrike">
              <a:solidFill>
                <a:schemeClr val="dk1"/>
              </a:solidFill>
              <a:latin typeface="Arial"/>
              <a:ea typeface="Arial"/>
              <a:cs typeface="Arial"/>
              <a:sym typeface="Arial"/>
            </a:endParaRPr>
          </a:p>
        </p:txBody>
      </p:sp>
      <p:pic>
        <p:nvPicPr>
          <p:cNvPr descr="003_Burnout_GS1" id="252" name="Google Shape;252;p14"/>
          <p:cNvPicPr preferRelativeResize="0"/>
          <p:nvPr/>
        </p:nvPicPr>
        <p:blipFill rotWithShape="1">
          <a:blip r:embed="rId3">
            <a:alphaModFix/>
          </a:blip>
          <a:srcRect b="23750" l="0" r="0" t="7917"/>
          <a:stretch/>
        </p:blipFill>
        <p:spPr>
          <a:xfrm>
            <a:off x="6838950" y="1302385"/>
            <a:ext cx="4181475" cy="42862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5"/>
          <p:cNvSpPr txBox="1"/>
          <p:nvPr/>
        </p:nvSpPr>
        <p:spPr>
          <a:xfrm>
            <a:off x="359410" y="314325"/>
            <a:ext cx="8154035" cy="490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C55A11"/>
                </a:solidFill>
                <a:latin typeface="Arial"/>
                <a:ea typeface="Arial"/>
                <a:cs typeface="Arial"/>
                <a:sym typeface="Arial"/>
              </a:rPr>
              <a:t>2. Identificación de señales y factores de riesgo</a:t>
            </a:r>
            <a:endParaRPr b="1" i="0" sz="2600" u="none" cap="none" strike="noStrike">
              <a:solidFill>
                <a:srgbClr val="C55A11"/>
              </a:solidFill>
              <a:latin typeface="Arial"/>
              <a:ea typeface="Arial"/>
              <a:cs typeface="Arial"/>
              <a:sym typeface="Arial"/>
            </a:endParaRPr>
          </a:p>
        </p:txBody>
      </p:sp>
      <p:sp>
        <p:nvSpPr>
          <p:cNvPr id="259" name="Google Shape;259;p15"/>
          <p:cNvSpPr txBox="1"/>
          <p:nvPr/>
        </p:nvSpPr>
        <p:spPr>
          <a:xfrm>
            <a:off x="6033770" y="2805430"/>
            <a:ext cx="4712970" cy="205994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0" i="0" lang="en-US" sz="1900" u="none" cap="none" strike="noStrike">
                <a:solidFill>
                  <a:srgbClr val="000000"/>
                </a:solidFill>
                <a:latin typeface="Arial"/>
                <a:ea typeface="Arial"/>
                <a:cs typeface="Arial"/>
                <a:sym typeface="Arial"/>
              </a:rPr>
              <a:t>El Burnout no es un fallo personal. </a:t>
            </a:r>
            <a:endParaRPr b="0" i="0" sz="19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19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1900" u="none" cap="none" strike="noStrike">
                <a:solidFill>
                  <a:srgbClr val="000000"/>
                </a:solidFill>
                <a:latin typeface="Arial"/>
                <a:ea typeface="Arial"/>
                <a:cs typeface="Arial"/>
                <a:sym typeface="Arial"/>
              </a:rPr>
              <a:t>Es una señal de que algo en el diseño del trabajo o en los hábitos debe ajustarse. Identificar estas señales es valentía y es el primer paso para cuidarte.</a:t>
            </a:r>
            <a:endParaRPr b="0" i="0" sz="1900" u="none" cap="none" strike="noStrike">
              <a:solidFill>
                <a:srgbClr val="000000"/>
              </a:solidFill>
              <a:latin typeface="Arial"/>
              <a:ea typeface="Arial"/>
              <a:cs typeface="Arial"/>
              <a:sym typeface="Arial"/>
            </a:endParaRPr>
          </a:p>
        </p:txBody>
      </p:sp>
      <p:sp>
        <p:nvSpPr>
          <p:cNvPr id="260" name="Google Shape;260;p15"/>
          <p:cNvSpPr/>
          <p:nvPr/>
        </p:nvSpPr>
        <p:spPr>
          <a:xfrm>
            <a:off x="5720715" y="2379980"/>
            <a:ext cx="5372735" cy="2946400"/>
          </a:xfrm>
          <a:custGeom>
            <a:rect b="b" l="l" r="r" t="t"/>
            <a:pathLst>
              <a:path extrusionOk="0" h="120000" w="120000">
                <a:moveTo>
                  <a:pt x="0" y="0"/>
                </a:moveTo>
                <a:lnTo>
                  <a:pt x="120000" y="0"/>
                </a:lnTo>
                <a:lnTo>
                  <a:pt x="120000" y="120000"/>
                </a:lnTo>
                <a:lnTo>
                  <a:pt x="0" y="120000"/>
                </a:lnTo>
                <a:close/>
              </a:path>
              <a:path extrusionOk="0" fill="none" h="120000" w="120000">
                <a:moveTo>
                  <a:pt x="-145" y="59537"/>
                </a:moveTo>
                <a:lnTo>
                  <a:pt x="-32591" y="60128"/>
                </a:lnTo>
              </a:path>
            </a:pathLst>
          </a:custGeom>
          <a:noFill/>
          <a:ln cap="flat" cmpd="sng" w="19050">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261" name="Google Shape;261;p15"/>
          <p:cNvPicPr preferRelativeResize="0"/>
          <p:nvPr/>
        </p:nvPicPr>
        <p:blipFill rotWithShape="1">
          <a:blip r:embed="rId3">
            <a:alphaModFix/>
          </a:blip>
          <a:srcRect b="0" l="0" r="0" t="0"/>
          <a:stretch/>
        </p:blipFill>
        <p:spPr>
          <a:xfrm>
            <a:off x="1110615" y="1796415"/>
            <a:ext cx="3746500" cy="361886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6"/>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2.1. Señales emocionales, cognitivas y conductuales. </a:t>
            </a:r>
            <a:endParaRPr b="1" i="0" sz="2000" u="none" cap="none" strike="noStrike">
              <a:solidFill>
                <a:srgbClr val="000000"/>
              </a:solidFill>
              <a:latin typeface="Arial"/>
              <a:ea typeface="Arial"/>
              <a:cs typeface="Arial"/>
              <a:sym typeface="Arial"/>
            </a:endParaRPr>
          </a:p>
        </p:txBody>
      </p:sp>
      <p:sp>
        <p:nvSpPr>
          <p:cNvPr id="268" name="Google Shape;268;p16"/>
          <p:cNvSpPr txBox="1"/>
          <p:nvPr/>
        </p:nvSpPr>
        <p:spPr>
          <a:xfrm>
            <a:off x="1295400" y="1257300"/>
            <a:ext cx="9627235" cy="64516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El Burnout no aparece de un día para otro. Antes envía señales en nuestro comportamiento, estado de ánimo y rendimiento. Detectarlas temprano es clave para cuidarnos.</a:t>
            </a:r>
            <a:endParaRPr b="0" i="0" sz="1800" u="none" cap="none" strike="noStrike">
              <a:solidFill>
                <a:srgbClr val="000000"/>
              </a:solidFill>
              <a:latin typeface="Arial"/>
              <a:ea typeface="Arial"/>
              <a:cs typeface="Arial"/>
              <a:sym typeface="Arial"/>
            </a:endParaRPr>
          </a:p>
        </p:txBody>
      </p:sp>
      <p:sp>
        <p:nvSpPr>
          <p:cNvPr id="269" name="Google Shape;269;p16"/>
          <p:cNvSpPr txBox="1"/>
          <p:nvPr/>
        </p:nvSpPr>
        <p:spPr>
          <a:xfrm>
            <a:off x="5215890" y="927100"/>
            <a:ext cx="4064000" cy="3067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16"/>
          <p:cNvSpPr txBox="1"/>
          <p:nvPr/>
        </p:nvSpPr>
        <p:spPr>
          <a:xfrm>
            <a:off x="939800" y="2265680"/>
            <a:ext cx="2366010" cy="3073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833C0B"/>
                </a:solidFill>
                <a:latin typeface="Arial"/>
                <a:ea typeface="Arial"/>
                <a:cs typeface="Arial"/>
                <a:sym typeface="Arial"/>
              </a:rPr>
              <a:t>Haz clic en cada botón.</a:t>
            </a:r>
            <a:endParaRPr b="0" i="1" sz="1400" u="none" cap="none" strike="noStrike">
              <a:solidFill>
                <a:srgbClr val="833C0B"/>
              </a:solidFill>
              <a:latin typeface="Arial"/>
              <a:ea typeface="Arial"/>
              <a:cs typeface="Arial"/>
              <a:sym typeface="Arial"/>
            </a:endParaRPr>
          </a:p>
        </p:txBody>
      </p:sp>
      <p:sp>
        <p:nvSpPr>
          <p:cNvPr id="271" name="Google Shape;271;p16"/>
          <p:cNvSpPr/>
          <p:nvPr/>
        </p:nvSpPr>
        <p:spPr>
          <a:xfrm>
            <a:off x="1153795" y="3950335"/>
            <a:ext cx="3301365" cy="735965"/>
          </a:xfrm>
          <a:prstGeom prst="roundRect">
            <a:avLst>
              <a:gd fmla="val 16667" name="adj"/>
            </a:avLst>
          </a:prstGeom>
          <a:solidFill>
            <a:srgbClr val="FBE4D4"/>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600" u="none" cap="none" strike="noStrike">
                <a:solidFill>
                  <a:srgbClr val="C55A11"/>
                </a:solidFill>
                <a:latin typeface="Arial"/>
                <a:ea typeface="Arial"/>
                <a:cs typeface="Arial"/>
                <a:sym typeface="Arial"/>
              </a:rPr>
              <a:t>Señales cognitivas: </a:t>
            </a:r>
            <a:endParaRPr b="1" i="0" sz="1600" u="none" cap="none" strike="noStrike">
              <a:solidFill>
                <a:srgbClr val="C55A11"/>
              </a:solidFill>
              <a:latin typeface="Arial"/>
              <a:ea typeface="Arial"/>
              <a:cs typeface="Arial"/>
              <a:sym typeface="Arial"/>
            </a:endParaRPr>
          </a:p>
          <a:p>
            <a:pPr indent="0" lvl="0" marL="0" marR="0" rtl="0" algn="ctr">
              <a:lnSpc>
                <a:spcPct val="100000"/>
              </a:lnSpc>
              <a:spcBef>
                <a:spcPts val="0"/>
              </a:spcBef>
              <a:spcAft>
                <a:spcPts val="0"/>
              </a:spcAft>
              <a:buNone/>
            </a:pPr>
            <a:r>
              <a:rPr b="1" i="0" lang="en-US" sz="1350" u="none" cap="none" strike="noStrike">
                <a:solidFill>
                  <a:srgbClr val="C55A11"/>
                </a:solidFill>
                <a:latin typeface="Arial"/>
                <a:ea typeface="Arial"/>
                <a:cs typeface="Arial"/>
                <a:sym typeface="Arial"/>
              </a:rPr>
              <a:t>Lo que ocurre en nuestra mente</a:t>
            </a:r>
            <a:endParaRPr b="1" i="0" sz="1350" u="none" cap="none" strike="noStrike">
              <a:solidFill>
                <a:srgbClr val="C55A11"/>
              </a:solidFill>
              <a:latin typeface="Arial"/>
              <a:ea typeface="Arial"/>
              <a:cs typeface="Arial"/>
              <a:sym typeface="Arial"/>
            </a:endParaRPr>
          </a:p>
        </p:txBody>
      </p:sp>
      <p:sp>
        <p:nvSpPr>
          <p:cNvPr id="272" name="Google Shape;272;p16"/>
          <p:cNvSpPr/>
          <p:nvPr/>
        </p:nvSpPr>
        <p:spPr>
          <a:xfrm>
            <a:off x="1153795" y="2782570"/>
            <a:ext cx="3301365" cy="735965"/>
          </a:xfrm>
          <a:prstGeom prst="roundRect">
            <a:avLst>
              <a:gd fmla="val 16667" name="adj"/>
            </a:avLst>
          </a:prstGeom>
          <a:solidFill>
            <a:srgbClr val="FBE4D4"/>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600" u="none" cap="none" strike="noStrike">
                <a:solidFill>
                  <a:srgbClr val="C55A11"/>
                </a:solidFill>
                <a:latin typeface="Arial"/>
                <a:ea typeface="Arial"/>
                <a:cs typeface="Arial"/>
                <a:sym typeface="Arial"/>
              </a:rPr>
              <a:t>Señales emocionales: </a:t>
            </a:r>
            <a:endParaRPr b="1" i="0" sz="1600" u="none" cap="none" strike="noStrike">
              <a:solidFill>
                <a:srgbClr val="C55A11"/>
              </a:solidFill>
              <a:latin typeface="Arial"/>
              <a:ea typeface="Arial"/>
              <a:cs typeface="Arial"/>
              <a:sym typeface="Arial"/>
            </a:endParaRPr>
          </a:p>
          <a:p>
            <a:pPr indent="0" lvl="0" marL="0" marR="0" rtl="0" algn="ctr">
              <a:lnSpc>
                <a:spcPct val="100000"/>
              </a:lnSpc>
              <a:spcBef>
                <a:spcPts val="0"/>
              </a:spcBef>
              <a:spcAft>
                <a:spcPts val="0"/>
              </a:spcAft>
              <a:buNone/>
            </a:pPr>
            <a:r>
              <a:rPr b="1" i="0" lang="en-US" sz="1350" u="none" cap="none" strike="noStrike">
                <a:solidFill>
                  <a:srgbClr val="C55A11"/>
                </a:solidFill>
                <a:latin typeface="Arial"/>
                <a:ea typeface="Arial"/>
                <a:cs typeface="Arial"/>
                <a:sym typeface="Arial"/>
              </a:rPr>
              <a:t>Lo que ocurre con los sentimos</a:t>
            </a:r>
            <a:r>
              <a:rPr b="1" i="0" lang="en-US" sz="1600" u="none" cap="none" strike="noStrike">
                <a:solidFill>
                  <a:srgbClr val="C55A11"/>
                </a:solidFill>
                <a:latin typeface="Arial"/>
                <a:ea typeface="Arial"/>
                <a:cs typeface="Arial"/>
                <a:sym typeface="Arial"/>
              </a:rPr>
              <a:t> </a:t>
            </a:r>
            <a:endParaRPr b="1" i="0" sz="1600" u="none" cap="none" strike="noStrike">
              <a:solidFill>
                <a:srgbClr val="C55A11"/>
              </a:solidFill>
              <a:latin typeface="Arial"/>
              <a:ea typeface="Arial"/>
              <a:cs typeface="Arial"/>
              <a:sym typeface="Arial"/>
            </a:endParaRPr>
          </a:p>
        </p:txBody>
      </p:sp>
      <p:sp>
        <p:nvSpPr>
          <p:cNvPr id="273" name="Google Shape;273;p16"/>
          <p:cNvSpPr/>
          <p:nvPr/>
        </p:nvSpPr>
        <p:spPr>
          <a:xfrm>
            <a:off x="1153795" y="5118100"/>
            <a:ext cx="3301365" cy="735965"/>
          </a:xfrm>
          <a:prstGeom prst="roundRect">
            <a:avLst>
              <a:gd fmla="val 16667" name="adj"/>
            </a:avLst>
          </a:prstGeom>
          <a:solidFill>
            <a:srgbClr val="FBE4D4"/>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600" u="none" cap="none" strike="noStrike">
                <a:solidFill>
                  <a:srgbClr val="C55A11"/>
                </a:solidFill>
                <a:latin typeface="Arial"/>
                <a:ea typeface="Arial"/>
                <a:cs typeface="Arial"/>
                <a:sym typeface="Arial"/>
              </a:rPr>
              <a:t>Señales conductuales:  </a:t>
            </a:r>
            <a:endParaRPr b="1" i="0" sz="1600" u="none" cap="none" strike="noStrike">
              <a:solidFill>
                <a:srgbClr val="C55A11"/>
              </a:solidFill>
              <a:latin typeface="Arial"/>
              <a:ea typeface="Arial"/>
              <a:cs typeface="Arial"/>
              <a:sym typeface="Arial"/>
            </a:endParaRPr>
          </a:p>
          <a:p>
            <a:pPr indent="0" lvl="0" marL="0" marR="0" rtl="0" algn="ctr">
              <a:lnSpc>
                <a:spcPct val="100000"/>
              </a:lnSpc>
              <a:spcBef>
                <a:spcPts val="0"/>
              </a:spcBef>
              <a:spcAft>
                <a:spcPts val="0"/>
              </a:spcAft>
              <a:buNone/>
            </a:pPr>
            <a:r>
              <a:rPr b="1" i="0" lang="en-US" sz="1350" u="none" cap="none" strike="noStrike">
                <a:solidFill>
                  <a:srgbClr val="C55A11"/>
                </a:solidFill>
                <a:latin typeface="Arial"/>
                <a:ea typeface="Arial"/>
                <a:cs typeface="Arial"/>
                <a:sym typeface="Arial"/>
              </a:rPr>
              <a:t>Lo que se nota en nuestras acciones</a:t>
            </a:r>
            <a:endParaRPr b="1" i="0" sz="1350" u="none" cap="none" strike="noStrike">
              <a:solidFill>
                <a:srgbClr val="C55A11"/>
              </a:solidFill>
              <a:latin typeface="Arial"/>
              <a:ea typeface="Arial"/>
              <a:cs typeface="Arial"/>
              <a:sym typeface="Arial"/>
            </a:endParaRPr>
          </a:p>
        </p:txBody>
      </p:sp>
      <p:sp>
        <p:nvSpPr>
          <p:cNvPr id="274" name="Google Shape;274;p16"/>
          <p:cNvSpPr/>
          <p:nvPr/>
        </p:nvSpPr>
        <p:spPr>
          <a:xfrm>
            <a:off x="4878070" y="2598420"/>
            <a:ext cx="6057265" cy="3472180"/>
          </a:xfrm>
          <a:prstGeom prst="rect">
            <a:avLst/>
          </a:prstGeom>
          <a:noFill/>
          <a:ln cap="flat" cmpd="sng" w="15875">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7"/>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2.2. Factores laborales y personales que lo desencadenan </a:t>
            </a:r>
            <a:endParaRPr b="1" i="0" sz="2000" u="none" cap="none" strike="noStrike">
              <a:solidFill>
                <a:srgbClr val="000000"/>
              </a:solidFill>
              <a:latin typeface="Arial"/>
              <a:ea typeface="Arial"/>
              <a:cs typeface="Arial"/>
              <a:sym typeface="Arial"/>
            </a:endParaRPr>
          </a:p>
        </p:txBody>
      </p:sp>
      <p:sp>
        <p:nvSpPr>
          <p:cNvPr id="281" name="Google Shape;281;p17"/>
          <p:cNvSpPr txBox="1"/>
          <p:nvPr/>
        </p:nvSpPr>
        <p:spPr>
          <a:xfrm>
            <a:off x="812800" y="1333500"/>
            <a:ext cx="10337800" cy="14763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El Burnout emerge cuando las demandas del trabajo como la carga, presión temporal, conflictos de rol e interrupciones superan de forma crónica los recursos, como la autonomía, apoyo del líder y del equipo, claridad, retroalimentación, reconocimiento.</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Algunos </a:t>
            </a:r>
            <a:r>
              <a:rPr b="1" i="0" lang="en-US" sz="1800" u="none" cap="none" strike="noStrike">
                <a:solidFill>
                  <a:srgbClr val="C55A11"/>
                </a:solidFill>
                <a:latin typeface="Arial"/>
                <a:ea typeface="Arial"/>
                <a:cs typeface="Arial"/>
                <a:sym typeface="Arial"/>
              </a:rPr>
              <a:t>factores laborales que desencadenan el Burnout </a:t>
            </a:r>
            <a:r>
              <a:rPr b="0" i="0" lang="en-US" sz="1800" u="none" cap="none" strike="noStrike">
                <a:solidFill>
                  <a:srgbClr val="000000"/>
                </a:solidFill>
                <a:latin typeface="Arial"/>
                <a:ea typeface="Arial"/>
                <a:cs typeface="Arial"/>
                <a:sym typeface="Arial"/>
              </a:rPr>
              <a:t>pueden ser:</a:t>
            </a:r>
            <a:endParaRPr b="0" i="0" sz="1800" u="none" cap="none" strike="noStrike">
              <a:solidFill>
                <a:srgbClr val="000000"/>
              </a:solidFill>
              <a:latin typeface="Arial"/>
              <a:ea typeface="Arial"/>
              <a:cs typeface="Arial"/>
              <a:sym typeface="Arial"/>
            </a:endParaRPr>
          </a:p>
        </p:txBody>
      </p:sp>
      <p:sp>
        <p:nvSpPr>
          <p:cNvPr id="282" name="Google Shape;282;p17"/>
          <p:cNvSpPr txBox="1"/>
          <p:nvPr/>
        </p:nvSpPr>
        <p:spPr>
          <a:xfrm>
            <a:off x="5215890" y="927100"/>
            <a:ext cx="4064000" cy="3067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17"/>
          <p:cNvSpPr txBox="1"/>
          <p:nvPr/>
        </p:nvSpPr>
        <p:spPr>
          <a:xfrm>
            <a:off x="9114155" y="3061335"/>
            <a:ext cx="2366010" cy="30734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1" lang="en-US" sz="1400" u="none" cap="none" strike="noStrike">
                <a:solidFill>
                  <a:srgbClr val="833C0B"/>
                </a:solidFill>
                <a:latin typeface="Arial"/>
                <a:ea typeface="Arial"/>
                <a:cs typeface="Arial"/>
                <a:sym typeface="Arial"/>
              </a:rPr>
              <a:t>Haz clic en cada botón.</a:t>
            </a:r>
            <a:endParaRPr b="0" i="1" sz="1400" u="none" cap="none" strike="noStrike">
              <a:solidFill>
                <a:srgbClr val="833C0B"/>
              </a:solidFill>
              <a:latin typeface="Arial"/>
              <a:ea typeface="Arial"/>
              <a:cs typeface="Arial"/>
              <a:sym typeface="Arial"/>
            </a:endParaRPr>
          </a:p>
        </p:txBody>
      </p:sp>
      <p:sp>
        <p:nvSpPr>
          <p:cNvPr id="284" name="Google Shape;284;p17"/>
          <p:cNvSpPr/>
          <p:nvPr/>
        </p:nvSpPr>
        <p:spPr>
          <a:xfrm>
            <a:off x="2419985" y="4841240"/>
            <a:ext cx="7378065" cy="907415"/>
          </a:xfrm>
          <a:prstGeom prst="rect">
            <a:avLst/>
          </a:prstGeom>
          <a:noFill/>
          <a:ln cap="flat" cmpd="sng" w="15875">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5" name="Google Shape;285;p17"/>
          <p:cNvSpPr/>
          <p:nvPr/>
        </p:nvSpPr>
        <p:spPr>
          <a:xfrm>
            <a:off x="3110865" y="3760470"/>
            <a:ext cx="612000" cy="612000"/>
          </a:xfrm>
          <a:prstGeom prst="ellipse">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800" u="none" cap="none" strike="noStrike">
                <a:solidFill>
                  <a:schemeClr val="lt1"/>
                </a:solidFill>
                <a:latin typeface="Arial Black"/>
                <a:ea typeface="Arial Black"/>
                <a:cs typeface="Arial Black"/>
                <a:sym typeface="Arial Black"/>
              </a:rPr>
              <a:t>1</a:t>
            </a:r>
            <a:endParaRPr b="1" i="0" sz="2800" u="none" cap="none" strike="noStrike">
              <a:solidFill>
                <a:schemeClr val="lt1"/>
              </a:solidFill>
              <a:latin typeface="Arial Black"/>
              <a:ea typeface="Arial Black"/>
              <a:cs typeface="Arial Black"/>
              <a:sym typeface="Arial Black"/>
            </a:endParaRPr>
          </a:p>
        </p:txBody>
      </p:sp>
      <p:sp>
        <p:nvSpPr>
          <p:cNvPr id="286" name="Google Shape;286;p17"/>
          <p:cNvSpPr/>
          <p:nvPr/>
        </p:nvSpPr>
        <p:spPr>
          <a:xfrm>
            <a:off x="4196715" y="3760470"/>
            <a:ext cx="612000" cy="612000"/>
          </a:xfrm>
          <a:prstGeom prst="ellipse">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800" u="none" cap="none" strike="noStrike">
                <a:solidFill>
                  <a:schemeClr val="lt1"/>
                </a:solidFill>
                <a:latin typeface="Arial Black"/>
                <a:ea typeface="Arial Black"/>
                <a:cs typeface="Arial Black"/>
                <a:sym typeface="Arial Black"/>
              </a:rPr>
              <a:t>2</a:t>
            </a:r>
            <a:endParaRPr b="1" i="0" sz="2800" u="none" cap="none" strike="noStrike">
              <a:solidFill>
                <a:schemeClr val="lt1"/>
              </a:solidFill>
              <a:latin typeface="Arial Black"/>
              <a:ea typeface="Arial Black"/>
              <a:cs typeface="Arial Black"/>
              <a:sym typeface="Arial Black"/>
            </a:endParaRPr>
          </a:p>
        </p:txBody>
      </p:sp>
      <p:sp>
        <p:nvSpPr>
          <p:cNvPr id="287" name="Google Shape;287;p17"/>
          <p:cNvSpPr/>
          <p:nvPr/>
        </p:nvSpPr>
        <p:spPr>
          <a:xfrm>
            <a:off x="5282565" y="3773170"/>
            <a:ext cx="612000" cy="612000"/>
          </a:xfrm>
          <a:prstGeom prst="ellipse">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800" u="none" cap="none" strike="noStrike">
                <a:solidFill>
                  <a:schemeClr val="lt1"/>
                </a:solidFill>
                <a:latin typeface="Arial Black"/>
                <a:ea typeface="Arial Black"/>
                <a:cs typeface="Arial Black"/>
                <a:sym typeface="Arial Black"/>
              </a:rPr>
              <a:t>3</a:t>
            </a:r>
            <a:endParaRPr b="1" i="0" sz="2800" u="none" cap="none" strike="noStrike">
              <a:solidFill>
                <a:schemeClr val="lt1"/>
              </a:solidFill>
              <a:latin typeface="Arial Black"/>
              <a:ea typeface="Arial Black"/>
              <a:cs typeface="Arial Black"/>
              <a:sym typeface="Arial Black"/>
            </a:endParaRPr>
          </a:p>
        </p:txBody>
      </p:sp>
      <p:sp>
        <p:nvSpPr>
          <p:cNvPr id="288" name="Google Shape;288;p17"/>
          <p:cNvSpPr/>
          <p:nvPr/>
        </p:nvSpPr>
        <p:spPr>
          <a:xfrm>
            <a:off x="6330315" y="3773170"/>
            <a:ext cx="612000" cy="612000"/>
          </a:xfrm>
          <a:prstGeom prst="ellipse">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800" u="none" cap="none" strike="noStrike">
                <a:solidFill>
                  <a:schemeClr val="lt1"/>
                </a:solidFill>
                <a:latin typeface="Arial Black"/>
                <a:ea typeface="Arial Black"/>
                <a:cs typeface="Arial Black"/>
                <a:sym typeface="Arial Black"/>
              </a:rPr>
              <a:t>4</a:t>
            </a:r>
            <a:endParaRPr b="1" i="0" sz="2800" u="none" cap="none" strike="noStrike">
              <a:solidFill>
                <a:schemeClr val="lt1"/>
              </a:solidFill>
              <a:latin typeface="Arial Black"/>
              <a:ea typeface="Arial Black"/>
              <a:cs typeface="Arial Black"/>
              <a:sym typeface="Arial Black"/>
            </a:endParaRPr>
          </a:p>
        </p:txBody>
      </p:sp>
      <p:sp>
        <p:nvSpPr>
          <p:cNvPr id="289" name="Google Shape;289;p17"/>
          <p:cNvSpPr/>
          <p:nvPr/>
        </p:nvSpPr>
        <p:spPr>
          <a:xfrm>
            <a:off x="7416165" y="3773170"/>
            <a:ext cx="612000" cy="612000"/>
          </a:xfrm>
          <a:prstGeom prst="ellipse">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800" u="none" cap="none" strike="noStrike">
                <a:solidFill>
                  <a:schemeClr val="lt1"/>
                </a:solidFill>
                <a:latin typeface="Arial Black"/>
                <a:ea typeface="Arial Black"/>
                <a:cs typeface="Arial Black"/>
                <a:sym typeface="Arial Black"/>
              </a:rPr>
              <a:t>5</a:t>
            </a:r>
            <a:endParaRPr b="1" i="0" sz="2800" u="none" cap="none" strike="noStrike">
              <a:solidFill>
                <a:schemeClr val="lt1"/>
              </a:solidFill>
              <a:latin typeface="Arial Black"/>
              <a:ea typeface="Arial Black"/>
              <a:cs typeface="Arial Black"/>
              <a:sym typeface="Arial Black"/>
            </a:endParaRPr>
          </a:p>
        </p:txBody>
      </p:sp>
      <p:sp>
        <p:nvSpPr>
          <p:cNvPr id="290" name="Google Shape;290;p17"/>
          <p:cNvSpPr/>
          <p:nvPr/>
        </p:nvSpPr>
        <p:spPr>
          <a:xfrm>
            <a:off x="8502015" y="3785870"/>
            <a:ext cx="612000" cy="612000"/>
          </a:xfrm>
          <a:prstGeom prst="ellipse">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800" u="none" cap="none" strike="noStrike">
                <a:solidFill>
                  <a:schemeClr val="lt1"/>
                </a:solidFill>
                <a:latin typeface="Arial Black"/>
                <a:ea typeface="Arial Black"/>
                <a:cs typeface="Arial Black"/>
                <a:sym typeface="Arial Black"/>
              </a:rPr>
              <a:t>6</a:t>
            </a:r>
            <a:endParaRPr b="1" i="0" sz="2800" u="none" cap="none" strike="noStrike">
              <a:solidFill>
                <a:schemeClr val="lt1"/>
              </a:solidFill>
              <a:latin typeface="Arial Black"/>
              <a:ea typeface="Arial Black"/>
              <a:cs typeface="Arial Black"/>
              <a:sym typeface="Arial Black"/>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8"/>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Clr>
                <a:srgbClr val="000000"/>
              </a:buClr>
              <a:buSzPts val="2000"/>
              <a:buFont typeface="Arial"/>
              <a:buNone/>
            </a:pPr>
            <a:r>
              <a:rPr b="1" i="0" lang="en-US" sz="2000" u="none" cap="none" strike="noStrike">
                <a:solidFill>
                  <a:srgbClr val="A5A5A5"/>
                </a:solidFill>
                <a:latin typeface="Arial"/>
                <a:ea typeface="Arial"/>
                <a:cs typeface="Arial"/>
                <a:sym typeface="Arial"/>
              </a:rPr>
              <a:t>2.3. Diagnóstico de Burnout </a:t>
            </a:r>
            <a:endParaRPr b="1" i="0" sz="2000" u="none" cap="none" strike="noStrike">
              <a:solidFill>
                <a:srgbClr val="A5A5A5"/>
              </a:solidFill>
              <a:latin typeface="Arial"/>
              <a:ea typeface="Arial"/>
              <a:cs typeface="Arial"/>
              <a:sym typeface="Arial"/>
            </a:endParaRPr>
          </a:p>
        </p:txBody>
      </p:sp>
      <p:sp>
        <p:nvSpPr>
          <p:cNvPr id="297" name="Google Shape;297;p18"/>
          <p:cNvSpPr txBox="1"/>
          <p:nvPr/>
        </p:nvSpPr>
        <p:spPr>
          <a:xfrm>
            <a:off x="1057275" y="1279525"/>
            <a:ext cx="10064115" cy="96901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El agotamiento laboral puede desarrollarse de manera gradual y, en ocasiones, sin que nos demos cuenta. Para tomar decisiones a tiempo, es importante conocer nuestro nivel actual de energía, conexión con el trabajo y sensación de logro profesional.</a:t>
            </a:r>
            <a:endParaRPr b="0" i="0" sz="1800" u="none" cap="none" strike="noStrike">
              <a:solidFill>
                <a:srgbClr val="000000"/>
              </a:solidFill>
              <a:latin typeface="Arial"/>
              <a:ea typeface="Arial"/>
              <a:cs typeface="Arial"/>
              <a:sym typeface="Arial"/>
            </a:endParaRPr>
          </a:p>
        </p:txBody>
      </p:sp>
      <p:sp>
        <p:nvSpPr>
          <p:cNvPr id="298" name="Google Shape;298;p18"/>
          <p:cNvSpPr txBox="1"/>
          <p:nvPr/>
        </p:nvSpPr>
        <p:spPr>
          <a:xfrm>
            <a:off x="828040" y="3144520"/>
            <a:ext cx="4598035" cy="213233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El </a:t>
            </a:r>
            <a:r>
              <a:rPr b="1" i="0" lang="en-US" sz="1800" u="none" cap="none" strike="noStrike">
                <a:solidFill>
                  <a:srgbClr val="C55A11"/>
                </a:solidFill>
                <a:latin typeface="Arial"/>
                <a:ea typeface="Arial"/>
                <a:cs typeface="Arial"/>
                <a:sym typeface="Arial"/>
              </a:rPr>
              <a:t>Maslach Burnout Inventory (MBI)</a:t>
            </a:r>
            <a:r>
              <a:rPr b="0" i="0" lang="en-US" sz="1800" u="none" cap="none" strike="noStrike">
                <a:solidFill>
                  <a:srgbClr val="000000"/>
                </a:solidFill>
                <a:latin typeface="Arial"/>
                <a:ea typeface="Arial"/>
                <a:cs typeface="Arial"/>
                <a:sym typeface="Arial"/>
              </a:rPr>
              <a:t> es uno de los instrumentos más utilizados y validados científicamente en el mundo para evaluar el burnout. Este cuestionario fue desarrollado por Christina Maslach y Susan E. Jackson y permite identificar tres dimensiones clave del agotamiento laboral:</a:t>
            </a:r>
            <a:endParaRPr b="0" i="0" sz="1800" u="none" cap="none" strike="noStrike">
              <a:solidFill>
                <a:srgbClr val="000000"/>
              </a:solidFill>
              <a:latin typeface="Arial"/>
              <a:ea typeface="Arial"/>
              <a:cs typeface="Arial"/>
              <a:sym typeface="Arial"/>
            </a:endParaRPr>
          </a:p>
        </p:txBody>
      </p:sp>
      <p:sp>
        <p:nvSpPr>
          <p:cNvPr id="299" name="Google Shape;299;p18"/>
          <p:cNvSpPr txBox="1"/>
          <p:nvPr/>
        </p:nvSpPr>
        <p:spPr>
          <a:xfrm>
            <a:off x="5935345" y="2978150"/>
            <a:ext cx="5322570" cy="279971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C55A11"/>
              </a:buClr>
              <a:buSzPts val="1600"/>
              <a:buFont typeface="Arial"/>
              <a:buAutoNum type="arabicParenR"/>
            </a:pPr>
            <a:r>
              <a:rPr b="1" i="0" lang="en-US" sz="1600" u="none" cap="none" strike="noStrike">
                <a:solidFill>
                  <a:srgbClr val="000000"/>
                </a:solidFill>
                <a:latin typeface="Arial"/>
                <a:ea typeface="Arial"/>
                <a:cs typeface="Arial"/>
                <a:sym typeface="Arial"/>
              </a:rPr>
              <a:t>Agotamiento emocional: </a:t>
            </a:r>
            <a:r>
              <a:rPr b="0" i="0" lang="en-US" sz="1600" u="none" cap="none" strike="noStrike">
                <a:solidFill>
                  <a:srgbClr val="000000"/>
                </a:solidFill>
                <a:latin typeface="Arial"/>
                <a:ea typeface="Arial"/>
                <a:cs typeface="Arial"/>
                <a:sym typeface="Arial"/>
              </a:rPr>
              <a:t>Sensación de cansancio constante y falta de energía para afrontar el trabajo.</a:t>
            </a:r>
            <a:endParaRPr b="0" i="0" sz="1600" u="none" cap="none" strike="noStrike">
              <a:solidFill>
                <a:srgbClr val="000000"/>
              </a:solidFill>
              <a:latin typeface="Arial"/>
              <a:ea typeface="Arial"/>
              <a:cs typeface="Arial"/>
              <a:sym typeface="Arial"/>
            </a:endParaRPr>
          </a:p>
          <a:p>
            <a:pPr indent="-241300" lvl="0" marL="342900" marR="0" rtl="0" algn="l">
              <a:lnSpc>
                <a:spcPct val="100000"/>
              </a:lnSpc>
              <a:spcBef>
                <a:spcPts val="0"/>
              </a:spcBef>
              <a:spcAft>
                <a:spcPts val="0"/>
              </a:spcAft>
              <a:buClr>
                <a:srgbClr val="C55A11"/>
              </a:buClr>
              <a:buSzPts val="1600"/>
              <a:buFont typeface="Arial"/>
              <a:buNone/>
            </a:pPr>
            <a:r>
              <a:t/>
            </a:r>
            <a:endParaRPr b="0" i="0" sz="1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C55A11"/>
              </a:buClr>
              <a:buSzPts val="1600"/>
              <a:buFont typeface="Arial"/>
              <a:buAutoNum type="arabicParenR"/>
            </a:pPr>
            <a:r>
              <a:rPr b="1" i="0" lang="en-US" sz="1600" u="none" cap="none" strike="noStrike">
                <a:solidFill>
                  <a:srgbClr val="000000"/>
                </a:solidFill>
                <a:latin typeface="Arial"/>
                <a:ea typeface="Arial"/>
                <a:cs typeface="Arial"/>
                <a:sym typeface="Arial"/>
              </a:rPr>
              <a:t>Despersonalización o apatía:</a:t>
            </a:r>
            <a:r>
              <a:rPr b="0" i="0" lang="en-US" sz="1600" u="none" cap="none" strike="noStrike">
                <a:solidFill>
                  <a:srgbClr val="000000"/>
                </a:solidFill>
                <a:latin typeface="Arial"/>
                <a:ea typeface="Arial"/>
                <a:cs typeface="Arial"/>
                <a:sym typeface="Arial"/>
              </a:rPr>
              <a:t> Distanciamiento emocional, irritabilidad o indiferencia hacia el trabajo, los clientes o el equipo.</a:t>
            </a:r>
            <a:endParaRPr b="0" i="0" sz="1600" u="none" cap="none" strike="noStrike">
              <a:solidFill>
                <a:srgbClr val="000000"/>
              </a:solidFill>
              <a:latin typeface="Arial"/>
              <a:ea typeface="Arial"/>
              <a:cs typeface="Arial"/>
              <a:sym typeface="Arial"/>
            </a:endParaRPr>
          </a:p>
          <a:p>
            <a:pPr indent="-241300" lvl="0" marL="342900" marR="0" rtl="0" algn="l">
              <a:lnSpc>
                <a:spcPct val="100000"/>
              </a:lnSpc>
              <a:spcBef>
                <a:spcPts val="0"/>
              </a:spcBef>
              <a:spcAft>
                <a:spcPts val="0"/>
              </a:spcAft>
              <a:buClr>
                <a:srgbClr val="C55A11"/>
              </a:buClr>
              <a:buSzPts val="1600"/>
              <a:buFont typeface="Arial"/>
              <a:buNone/>
            </a:pPr>
            <a:r>
              <a:t/>
            </a:r>
            <a:endParaRPr b="0" i="0" sz="1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C55A11"/>
              </a:buClr>
              <a:buSzPts val="1600"/>
              <a:buFont typeface="Arial"/>
              <a:buAutoNum type="arabicParenR"/>
            </a:pPr>
            <a:r>
              <a:rPr b="1" i="0" lang="en-US" sz="1600" u="none" cap="none" strike="noStrike">
                <a:solidFill>
                  <a:srgbClr val="000000"/>
                </a:solidFill>
                <a:latin typeface="Arial"/>
                <a:ea typeface="Arial"/>
                <a:cs typeface="Arial"/>
                <a:sym typeface="Arial"/>
              </a:rPr>
              <a:t>Eficacia profesional reducida:</a:t>
            </a:r>
            <a:r>
              <a:rPr b="0" i="0" lang="en-US" sz="1600" u="none" cap="none" strike="noStrike">
                <a:solidFill>
                  <a:srgbClr val="000000"/>
                </a:solidFill>
                <a:latin typeface="Arial"/>
                <a:ea typeface="Arial"/>
                <a:cs typeface="Arial"/>
                <a:sym typeface="Arial"/>
              </a:rPr>
              <a:t> Percepción de bajo rendimiento, dudas sobre las habilidades propias o sensación de que el trabajo ya no tiene impacto.</a:t>
            </a:r>
            <a:endParaRPr b="0" i="0" sz="1600" u="none" cap="none" strike="noStrike">
              <a:solidFill>
                <a:srgbClr val="000000"/>
              </a:solidFill>
              <a:latin typeface="Arial"/>
              <a:ea typeface="Arial"/>
              <a:cs typeface="Arial"/>
              <a:sym typeface="Arial"/>
            </a:endParaRPr>
          </a:p>
        </p:txBody>
      </p:sp>
      <p:sp>
        <p:nvSpPr>
          <p:cNvPr id="300" name="Google Shape;300;p18"/>
          <p:cNvSpPr/>
          <p:nvPr/>
        </p:nvSpPr>
        <p:spPr>
          <a:xfrm>
            <a:off x="5432425" y="2775585"/>
            <a:ext cx="502920" cy="2879725"/>
          </a:xfrm>
          <a:prstGeom prst="leftBrace">
            <a:avLst>
              <a:gd fmla="val 8333" name="adj1"/>
              <a:gd fmla="val 50000" name="adj2"/>
            </a:avLst>
          </a:prstGeom>
          <a:noFill/>
          <a:ln cap="flat" cmpd="sng" w="15875">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9"/>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2.3. Diagnóstico de Burnout </a:t>
            </a:r>
            <a:endParaRPr b="1" i="0" sz="2000" u="none" cap="none" strike="noStrike">
              <a:solidFill>
                <a:srgbClr val="000000"/>
              </a:solidFill>
              <a:latin typeface="Arial"/>
              <a:ea typeface="Arial"/>
              <a:cs typeface="Arial"/>
              <a:sym typeface="Arial"/>
            </a:endParaRPr>
          </a:p>
        </p:txBody>
      </p:sp>
      <p:sp>
        <p:nvSpPr>
          <p:cNvPr id="307" name="Google Shape;307;p19"/>
          <p:cNvSpPr txBox="1"/>
          <p:nvPr/>
        </p:nvSpPr>
        <p:spPr>
          <a:xfrm>
            <a:off x="1163955" y="1614805"/>
            <a:ext cx="9911715" cy="2583815"/>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Descarga, impirme y responde el siguiente diagnóstico para identificar  tu momento actual y, con ello, tomar acciones preventivas o correctivas que protejan tu salud y tu bienestar laboral.</a:t>
            </a:r>
            <a:endParaRPr b="0" i="0" sz="18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Tus respuestas son confidenciales y no hay respuestas “buenas” o “malas”. La intención es que puedas conocer cómo estás para actuar a tiempo, si es necesario.</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Antes de comenzar, tómate un momento para respirar profundo. Responde con sinceridad, pensando en cómo te has sentido en tu trabajo durante las últimas semanas.</a:t>
            </a:r>
            <a:endParaRPr b="0" i="0" sz="1800" u="none" cap="none" strike="noStrike">
              <a:solidFill>
                <a:srgbClr val="000000"/>
              </a:solidFill>
              <a:latin typeface="Arial"/>
              <a:ea typeface="Arial"/>
              <a:cs typeface="Arial"/>
              <a:sym typeface="Arial"/>
            </a:endParaRPr>
          </a:p>
        </p:txBody>
      </p:sp>
      <p:pic>
        <p:nvPicPr>
          <p:cNvPr id="308" name="Google Shape;308;p19"/>
          <p:cNvPicPr preferRelativeResize="0"/>
          <p:nvPr/>
        </p:nvPicPr>
        <p:blipFill rotWithShape="1">
          <a:blip r:embed="rId3">
            <a:alphaModFix/>
          </a:blip>
          <a:srcRect b="0" l="0" r="0" t="0"/>
          <a:stretch/>
        </p:blipFill>
        <p:spPr>
          <a:xfrm>
            <a:off x="5443220" y="4413885"/>
            <a:ext cx="1214120" cy="121348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0"/>
          <p:cNvSpPr txBox="1"/>
          <p:nvPr/>
        </p:nvSpPr>
        <p:spPr>
          <a:xfrm>
            <a:off x="419100" y="2359025"/>
            <a:ext cx="5676900" cy="2135505"/>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000"/>
              <a:buFont typeface="Arial"/>
              <a:buNone/>
            </a:pPr>
            <a:r>
              <a:rPr b="1" i="0" lang="en-US" sz="2800" u="none" cap="none" strike="noStrike">
                <a:solidFill>
                  <a:schemeClr val="dk1"/>
                </a:solidFill>
                <a:latin typeface="Arial"/>
                <a:ea typeface="Arial"/>
                <a:cs typeface="Arial"/>
                <a:sym typeface="Arial"/>
              </a:rPr>
              <a:t>UNIDAD 3</a:t>
            </a:r>
            <a:endParaRPr b="1" i="0" sz="2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1" i="0" sz="2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US" sz="2800" u="none" cap="none" strike="noStrike">
                <a:solidFill>
                  <a:schemeClr val="dk1"/>
                </a:solidFill>
                <a:latin typeface="Arial"/>
                <a:ea typeface="Arial"/>
                <a:cs typeface="Arial"/>
                <a:sym typeface="Arial"/>
              </a:rPr>
              <a:t>Estrategias personales </a:t>
            </a:r>
            <a:endParaRPr b="1" i="0" sz="2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US" sz="2800" u="none" cap="none" strike="noStrike">
                <a:solidFill>
                  <a:schemeClr val="dk1"/>
                </a:solidFill>
                <a:latin typeface="Arial"/>
                <a:ea typeface="Arial"/>
                <a:cs typeface="Arial"/>
                <a:sym typeface="Arial"/>
              </a:rPr>
              <a:t>de prevención </a:t>
            </a:r>
            <a:endParaRPr b="1" i="0" sz="2800" u="none" cap="none" strike="noStrike">
              <a:solidFill>
                <a:schemeClr val="dk1"/>
              </a:solidFill>
              <a:latin typeface="Arial"/>
              <a:ea typeface="Arial"/>
              <a:cs typeface="Arial"/>
              <a:sym typeface="Arial"/>
            </a:endParaRPr>
          </a:p>
        </p:txBody>
      </p:sp>
      <p:pic>
        <p:nvPicPr>
          <p:cNvPr descr="004_Burnout_GS1" id="315" name="Google Shape;315;p20"/>
          <p:cNvPicPr preferRelativeResize="0"/>
          <p:nvPr/>
        </p:nvPicPr>
        <p:blipFill rotWithShape="1">
          <a:blip r:embed="rId3">
            <a:alphaModFix/>
          </a:blip>
          <a:srcRect b="2639" l="30278" r="8938" t="5417"/>
          <a:stretch/>
        </p:blipFill>
        <p:spPr>
          <a:xfrm>
            <a:off x="6505575" y="1358900"/>
            <a:ext cx="4329430" cy="436626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1"/>
          <p:cNvSpPr txBox="1"/>
          <p:nvPr/>
        </p:nvSpPr>
        <p:spPr>
          <a:xfrm>
            <a:off x="1163955" y="1298575"/>
            <a:ext cx="9863455" cy="430657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Es importante que cada colaborador desarrolle herramientas reales y aplicables para prevenir y manejar el agotamiento laboral dentro del entorno de oficina: cargas de trabajo, alta conectividad, múltiples reuniones, presión por resultados y cambios constantes.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1" lang="en-US" sz="2000" u="none" cap="none" strike="noStrike">
                <a:solidFill>
                  <a:srgbClr val="C55A11"/>
                </a:solidFill>
                <a:latin typeface="Arial"/>
                <a:ea typeface="Arial"/>
                <a:cs typeface="Arial"/>
                <a:sym typeface="Arial"/>
              </a:rPr>
              <a:t>El autocuidado no es un lujo. </a:t>
            </a:r>
            <a:endParaRPr b="0" i="1" sz="2000" u="none" cap="none" strike="noStrike">
              <a:solidFill>
                <a:srgbClr val="C55A1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1" lang="en-US" sz="2000" u="none" cap="none" strike="noStrike">
                <a:solidFill>
                  <a:srgbClr val="C55A11"/>
                </a:solidFill>
                <a:latin typeface="Arial"/>
                <a:ea typeface="Arial"/>
                <a:cs typeface="Arial"/>
                <a:sym typeface="Arial"/>
              </a:rPr>
              <a:t>Es una condición para seguir rindiendo.</a:t>
            </a:r>
            <a:endParaRPr b="0" i="1" sz="2000" u="none" cap="none" strike="noStrike">
              <a:solidFill>
                <a:srgbClr val="C55A11"/>
              </a:solidFill>
              <a:latin typeface="Arial"/>
              <a:ea typeface="Arial"/>
              <a:cs typeface="Arial"/>
              <a:sym typeface="Arial"/>
            </a:endParaRPr>
          </a:p>
        </p:txBody>
      </p:sp>
      <p:sp>
        <p:nvSpPr>
          <p:cNvPr id="322" name="Google Shape;322;p21"/>
          <p:cNvSpPr txBox="1"/>
          <p:nvPr/>
        </p:nvSpPr>
        <p:spPr>
          <a:xfrm>
            <a:off x="523240" y="270510"/>
            <a:ext cx="9620885" cy="4591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C55A11"/>
                </a:solidFill>
                <a:latin typeface="Arial"/>
                <a:ea typeface="Arial"/>
                <a:cs typeface="Arial"/>
                <a:sym typeface="Arial"/>
              </a:rPr>
              <a:t>3. Estrategias personales de prevención</a:t>
            </a:r>
            <a:endParaRPr b="1" i="0" sz="2600" u="none" cap="none" strike="noStrike">
              <a:solidFill>
                <a:srgbClr val="C55A11"/>
              </a:solidFill>
              <a:latin typeface="Arial"/>
              <a:ea typeface="Arial"/>
              <a:cs typeface="Arial"/>
              <a:sym typeface="Arial"/>
            </a:endParaRPr>
          </a:p>
        </p:txBody>
      </p:sp>
      <p:pic>
        <p:nvPicPr>
          <p:cNvPr id="323" name="Google Shape;323;p21"/>
          <p:cNvPicPr preferRelativeResize="0"/>
          <p:nvPr/>
        </p:nvPicPr>
        <p:blipFill rotWithShape="1">
          <a:blip r:embed="rId3">
            <a:alphaModFix/>
          </a:blip>
          <a:srcRect b="0" l="0" r="0" t="0"/>
          <a:stretch/>
        </p:blipFill>
        <p:spPr>
          <a:xfrm>
            <a:off x="5062220" y="2586355"/>
            <a:ext cx="2005965" cy="19907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2"/>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3.1. Acciones de autocuidado emocional, físico y social</a:t>
            </a:r>
            <a:endParaRPr b="1" i="0" sz="2000" u="none" cap="none" strike="noStrike">
              <a:solidFill>
                <a:srgbClr val="000000"/>
              </a:solidFill>
              <a:latin typeface="Arial"/>
              <a:ea typeface="Arial"/>
              <a:cs typeface="Arial"/>
              <a:sym typeface="Arial"/>
            </a:endParaRPr>
          </a:p>
        </p:txBody>
      </p:sp>
      <p:sp>
        <p:nvSpPr>
          <p:cNvPr id="330" name="Google Shape;330;p22"/>
          <p:cNvSpPr txBox="1"/>
          <p:nvPr/>
        </p:nvSpPr>
        <p:spPr>
          <a:xfrm>
            <a:off x="770890" y="1276985"/>
            <a:ext cx="5375910" cy="97218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El trabajo en oficina puede implicar sedentarismo, multitarea y exigencias cognitivas que consumen energía más rápido de lo que se recupera.</a:t>
            </a:r>
            <a:endParaRPr b="0" i="0" sz="1800" u="none" cap="none" strike="noStrike">
              <a:solidFill>
                <a:srgbClr val="000000"/>
              </a:solidFill>
              <a:latin typeface="Arial"/>
              <a:ea typeface="Arial"/>
              <a:cs typeface="Arial"/>
              <a:sym typeface="Arial"/>
            </a:endParaRPr>
          </a:p>
        </p:txBody>
      </p:sp>
      <p:sp>
        <p:nvSpPr>
          <p:cNvPr id="331" name="Google Shape;331;p22"/>
          <p:cNvSpPr txBox="1"/>
          <p:nvPr/>
        </p:nvSpPr>
        <p:spPr>
          <a:xfrm>
            <a:off x="2937510" y="2647950"/>
            <a:ext cx="6332855" cy="74295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 continuación, revisa algunos ejemplos de autocuidado y micro acciones que puedes poner en práctica de inmediato.</a:t>
            </a:r>
            <a:endParaRPr b="0" i="0" sz="1800" u="none" cap="none" strike="noStrike">
              <a:solidFill>
                <a:srgbClr val="000000"/>
              </a:solidFill>
              <a:latin typeface="Arial"/>
              <a:ea typeface="Arial"/>
              <a:cs typeface="Arial"/>
              <a:sym typeface="Arial"/>
            </a:endParaRPr>
          </a:p>
        </p:txBody>
      </p:sp>
      <p:sp>
        <p:nvSpPr>
          <p:cNvPr id="332" name="Google Shape;332;p22"/>
          <p:cNvSpPr/>
          <p:nvPr/>
        </p:nvSpPr>
        <p:spPr>
          <a:xfrm>
            <a:off x="4826635" y="4773295"/>
            <a:ext cx="2564130" cy="1490980"/>
          </a:xfrm>
          <a:prstGeom prst="roundRect">
            <a:avLst>
              <a:gd fmla="val 16667" name="adj"/>
            </a:avLst>
          </a:prstGeom>
          <a:solidFill>
            <a:srgbClr val="FBE4D4"/>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600" u="none" cap="none" strike="noStrike">
                <a:solidFill>
                  <a:srgbClr val="C55A11"/>
                </a:solidFill>
                <a:latin typeface="Arial"/>
                <a:ea typeface="Arial"/>
                <a:cs typeface="Arial"/>
                <a:sym typeface="Arial"/>
              </a:rPr>
              <a:t>Autocuidado </a:t>
            </a:r>
            <a:endParaRPr b="1" i="0" sz="1600" u="none" cap="none" strike="noStrike">
              <a:solidFill>
                <a:srgbClr val="C55A11"/>
              </a:solidFill>
              <a:latin typeface="Arial"/>
              <a:ea typeface="Arial"/>
              <a:cs typeface="Arial"/>
              <a:sym typeface="Arial"/>
            </a:endParaRPr>
          </a:p>
          <a:p>
            <a:pPr indent="0" lvl="0" marL="0" marR="0" rtl="0" algn="ctr">
              <a:lnSpc>
                <a:spcPct val="100000"/>
              </a:lnSpc>
              <a:spcBef>
                <a:spcPts val="0"/>
              </a:spcBef>
              <a:spcAft>
                <a:spcPts val="0"/>
              </a:spcAft>
              <a:buNone/>
            </a:pPr>
            <a:r>
              <a:rPr b="1" i="0" lang="en-US" sz="1600" u="none" cap="none" strike="noStrike">
                <a:solidFill>
                  <a:srgbClr val="C55A11"/>
                </a:solidFill>
                <a:latin typeface="Arial"/>
                <a:ea typeface="Arial"/>
                <a:cs typeface="Arial"/>
                <a:sym typeface="Arial"/>
              </a:rPr>
              <a:t>físico</a:t>
            </a:r>
            <a:endParaRPr b="1" i="0" sz="1600" u="none" cap="none" strike="noStrike">
              <a:solidFill>
                <a:srgbClr val="C55A11"/>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1600" u="none" cap="none" strike="noStrike">
              <a:solidFill>
                <a:srgbClr val="C55A11"/>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1600" u="none" cap="none" strike="noStrike">
              <a:solidFill>
                <a:srgbClr val="C55A11"/>
              </a:solidFill>
              <a:latin typeface="Arial"/>
              <a:ea typeface="Arial"/>
              <a:cs typeface="Arial"/>
              <a:sym typeface="Arial"/>
            </a:endParaRPr>
          </a:p>
          <a:p>
            <a:pPr indent="0" lvl="0" marL="0" marR="0" rtl="0" algn="ctr">
              <a:lnSpc>
                <a:spcPct val="100000"/>
              </a:lnSpc>
              <a:spcBef>
                <a:spcPts val="0"/>
              </a:spcBef>
              <a:spcAft>
                <a:spcPts val="0"/>
              </a:spcAft>
              <a:buNone/>
            </a:pPr>
            <a:r>
              <a:rPr b="1" i="0" lang="en-US" sz="1600" u="none" cap="none" strike="noStrike">
                <a:solidFill>
                  <a:srgbClr val="C55A11"/>
                </a:solidFill>
                <a:latin typeface="Arial"/>
                <a:ea typeface="Arial"/>
                <a:cs typeface="Arial"/>
                <a:sym typeface="Arial"/>
              </a:rPr>
              <a:t> </a:t>
            </a:r>
            <a:endParaRPr b="1" i="0" sz="1600" u="none" cap="none" strike="noStrike">
              <a:solidFill>
                <a:srgbClr val="C55A11"/>
              </a:solidFill>
              <a:latin typeface="Arial"/>
              <a:ea typeface="Arial"/>
              <a:cs typeface="Arial"/>
              <a:sym typeface="Arial"/>
            </a:endParaRPr>
          </a:p>
        </p:txBody>
      </p:sp>
      <p:sp>
        <p:nvSpPr>
          <p:cNvPr id="333" name="Google Shape;333;p22"/>
          <p:cNvSpPr txBox="1"/>
          <p:nvPr/>
        </p:nvSpPr>
        <p:spPr>
          <a:xfrm>
            <a:off x="7006590" y="1251585"/>
            <a:ext cx="4277360" cy="109918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El autocuidado no es descansar “cuando se pueda”; es programarlo como parte del desempeño sostenible. </a:t>
            </a:r>
            <a:endParaRPr b="0" i="0" sz="1800" u="none" cap="none" strike="noStrike">
              <a:solidFill>
                <a:srgbClr val="000000"/>
              </a:solidFill>
              <a:latin typeface="Arial"/>
              <a:ea typeface="Arial"/>
              <a:cs typeface="Arial"/>
              <a:sym typeface="Arial"/>
            </a:endParaRPr>
          </a:p>
        </p:txBody>
      </p:sp>
      <p:sp>
        <p:nvSpPr>
          <p:cNvPr id="334" name="Google Shape;334;p22"/>
          <p:cNvSpPr/>
          <p:nvPr/>
        </p:nvSpPr>
        <p:spPr>
          <a:xfrm>
            <a:off x="1029970" y="4145280"/>
            <a:ext cx="2564130" cy="1490980"/>
          </a:xfrm>
          <a:prstGeom prst="roundRect">
            <a:avLst>
              <a:gd fmla="val 16667" name="adj"/>
            </a:avLst>
          </a:prstGeom>
          <a:solidFill>
            <a:srgbClr val="FBE4D4"/>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600" u="none" cap="none" strike="noStrike">
                <a:solidFill>
                  <a:srgbClr val="C55A11"/>
                </a:solidFill>
                <a:latin typeface="Arial"/>
                <a:ea typeface="Arial"/>
                <a:cs typeface="Arial"/>
                <a:sym typeface="Arial"/>
              </a:rPr>
              <a:t>Autocuidado emocional</a:t>
            </a:r>
            <a:endParaRPr b="1" i="0" sz="1600" u="none" cap="none" strike="noStrike">
              <a:solidFill>
                <a:srgbClr val="C55A11"/>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1600" u="none" cap="none" strike="noStrike">
              <a:solidFill>
                <a:srgbClr val="C55A11"/>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1600" u="none" cap="none" strike="noStrike">
              <a:solidFill>
                <a:srgbClr val="C55A11"/>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1600" u="none" cap="none" strike="noStrike">
              <a:solidFill>
                <a:srgbClr val="C55A11"/>
              </a:solidFill>
              <a:latin typeface="Arial"/>
              <a:ea typeface="Arial"/>
              <a:cs typeface="Arial"/>
              <a:sym typeface="Arial"/>
            </a:endParaRPr>
          </a:p>
        </p:txBody>
      </p:sp>
      <p:sp>
        <p:nvSpPr>
          <p:cNvPr id="335" name="Google Shape;335;p22"/>
          <p:cNvSpPr/>
          <p:nvPr/>
        </p:nvSpPr>
        <p:spPr>
          <a:xfrm>
            <a:off x="8496300" y="4145280"/>
            <a:ext cx="2564130" cy="1490980"/>
          </a:xfrm>
          <a:prstGeom prst="roundRect">
            <a:avLst>
              <a:gd fmla="val 16667" name="adj"/>
            </a:avLst>
          </a:prstGeom>
          <a:solidFill>
            <a:srgbClr val="FBE4D4"/>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600" u="none" cap="none" strike="noStrike">
                <a:solidFill>
                  <a:srgbClr val="C55A11"/>
                </a:solidFill>
                <a:latin typeface="Arial"/>
                <a:ea typeface="Arial"/>
                <a:cs typeface="Arial"/>
                <a:sym typeface="Arial"/>
              </a:rPr>
              <a:t>Autocuidado </a:t>
            </a:r>
            <a:endParaRPr b="1" i="0" sz="1600" u="none" cap="none" strike="noStrike">
              <a:solidFill>
                <a:srgbClr val="C55A11"/>
              </a:solidFill>
              <a:latin typeface="Arial"/>
              <a:ea typeface="Arial"/>
              <a:cs typeface="Arial"/>
              <a:sym typeface="Arial"/>
            </a:endParaRPr>
          </a:p>
          <a:p>
            <a:pPr indent="0" lvl="0" marL="0" marR="0" rtl="0" algn="ctr">
              <a:lnSpc>
                <a:spcPct val="100000"/>
              </a:lnSpc>
              <a:spcBef>
                <a:spcPts val="0"/>
              </a:spcBef>
              <a:spcAft>
                <a:spcPts val="0"/>
              </a:spcAft>
              <a:buNone/>
            </a:pPr>
            <a:r>
              <a:rPr b="1" i="0" lang="en-US" sz="1600" u="none" cap="none" strike="noStrike">
                <a:solidFill>
                  <a:srgbClr val="C55A11"/>
                </a:solidFill>
                <a:latin typeface="Arial"/>
                <a:ea typeface="Arial"/>
                <a:cs typeface="Arial"/>
                <a:sym typeface="Arial"/>
              </a:rPr>
              <a:t>social </a:t>
            </a:r>
            <a:endParaRPr b="1" i="0" sz="1600" u="none" cap="none" strike="noStrike">
              <a:solidFill>
                <a:srgbClr val="C55A11"/>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1600" u="none" cap="none" strike="noStrike">
              <a:solidFill>
                <a:srgbClr val="C55A11"/>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1600" u="none" cap="none" strike="noStrike">
              <a:solidFill>
                <a:srgbClr val="C55A11"/>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1600" u="none" cap="none" strike="noStrike">
              <a:solidFill>
                <a:srgbClr val="C55A11"/>
              </a:solidFill>
              <a:latin typeface="Arial"/>
              <a:ea typeface="Arial"/>
              <a:cs typeface="Arial"/>
              <a:sym typeface="Arial"/>
            </a:endParaRPr>
          </a:p>
        </p:txBody>
      </p:sp>
      <p:cxnSp>
        <p:nvCxnSpPr>
          <p:cNvPr id="336" name="Google Shape;336;p22"/>
          <p:cNvCxnSpPr>
            <a:endCxn id="334" idx="0"/>
          </p:cNvCxnSpPr>
          <p:nvPr/>
        </p:nvCxnSpPr>
        <p:spPr>
          <a:xfrm flipH="1">
            <a:off x="2312035" y="3390780"/>
            <a:ext cx="3792300" cy="754500"/>
          </a:xfrm>
          <a:prstGeom prst="bentConnector3">
            <a:avLst>
              <a:gd fmla="val 2" name="adj1"/>
            </a:avLst>
          </a:prstGeom>
          <a:noFill/>
          <a:ln cap="flat" cmpd="sng" w="15875">
            <a:solidFill>
              <a:srgbClr val="C55A11"/>
            </a:solidFill>
            <a:prstDash val="solid"/>
            <a:round/>
            <a:headEnd len="sm" w="sm" type="none"/>
            <a:tailEnd len="sm" w="sm" type="none"/>
          </a:ln>
        </p:spPr>
      </p:cxnSp>
      <p:cxnSp>
        <p:nvCxnSpPr>
          <p:cNvPr id="337" name="Google Shape;337;p22"/>
          <p:cNvCxnSpPr>
            <a:endCxn id="335" idx="0"/>
          </p:cNvCxnSpPr>
          <p:nvPr/>
        </p:nvCxnSpPr>
        <p:spPr>
          <a:xfrm>
            <a:off x="6104265" y="3390780"/>
            <a:ext cx="3674100" cy="754500"/>
          </a:xfrm>
          <a:prstGeom prst="bentConnector3">
            <a:avLst>
              <a:gd fmla="val 0" name="adj1"/>
            </a:avLst>
          </a:prstGeom>
          <a:noFill/>
          <a:ln cap="flat" cmpd="sng" w="15875">
            <a:solidFill>
              <a:srgbClr val="C55A11"/>
            </a:solidFill>
            <a:prstDash val="solid"/>
            <a:round/>
            <a:headEnd len="sm" w="sm" type="none"/>
            <a:tailEnd len="sm" w="sm" type="none"/>
          </a:ln>
        </p:spPr>
      </p:cxnSp>
      <p:cxnSp>
        <p:nvCxnSpPr>
          <p:cNvPr id="338" name="Google Shape;338;p22"/>
          <p:cNvCxnSpPr>
            <a:endCxn id="332" idx="0"/>
          </p:cNvCxnSpPr>
          <p:nvPr/>
        </p:nvCxnSpPr>
        <p:spPr>
          <a:xfrm>
            <a:off x="6104800" y="3803095"/>
            <a:ext cx="3900" cy="970200"/>
          </a:xfrm>
          <a:prstGeom prst="straightConnector1">
            <a:avLst/>
          </a:prstGeom>
          <a:noFill/>
          <a:ln cap="flat" cmpd="sng" w="15875">
            <a:solidFill>
              <a:srgbClr val="C55A11"/>
            </a:solidFill>
            <a:prstDash val="solid"/>
            <a:round/>
            <a:headEnd len="sm" w="sm" type="none"/>
            <a:tailEnd len="sm" w="sm" type="none"/>
          </a:ln>
        </p:spPr>
      </p:cxnSp>
      <p:pic>
        <p:nvPicPr>
          <p:cNvPr id="339" name="Google Shape;339;p22"/>
          <p:cNvPicPr preferRelativeResize="0"/>
          <p:nvPr/>
        </p:nvPicPr>
        <p:blipFill rotWithShape="1">
          <a:blip r:embed="rId3">
            <a:alphaModFix/>
          </a:blip>
          <a:srcRect b="0" l="0" r="0" t="0"/>
          <a:stretch/>
        </p:blipFill>
        <p:spPr>
          <a:xfrm>
            <a:off x="5721350" y="5524500"/>
            <a:ext cx="775335" cy="635000"/>
          </a:xfrm>
          <a:prstGeom prst="rect">
            <a:avLst/>
          </a:prstGeom>
          <a:noFill/>
          <a:ln>
            <a:noFill/>
          </a:ln>
        </p:spPr>
      </p:pic>
      <p:pic>
        <p:nvPicPr>
          <p:cNvPr id="340" name="Google Shape;340;p22"/>
          <p:cNvPicPr preferRelativeResize="0"/>
          <p:nvPr/>
        </p:nvPicPr>
        <p:blipFill rotWithShape="1">
          <a:blip r:embed="rId4">
            <a:alphaModFix/>
          </a:blip>
          <a:srcRect b="0" l="0" r="0" t="0"/>
          <a:stretch/>
        </p:blipFill>
        <p:spPr>
          <a:xfrm>
            <a:off x="1880235" y="4773295"/>
            <a:ext cx="863600" cy="711200"/>
          </a:xfrm>
          <a:prstGeom prst="rect">
            <a:avLst/>
          </a:prstGeom>
          <a:noFill/>
          <a:ln>
            <a:noFill/>
          </a:ln>
        </p:spPr>
      </p:pic>
      <p:pic>
        <p:nvPicPr>
          <p:cNvPr id="341" name="Google Shape;341;p22"/>
          <p:cNvPicPr preferRelativeResize="0"/>
          <p:nvPr/>
        </p:nvPicPr>
        <p:blipFill rotWithShape="1">
          <a:blip r:embed="rId5">
            <a:alphaModFix/>
          </a:blip>
          <a:srcRect b="0" l="0" r="0" t="0"/>
          <a:stretch/>
        </p:blipFill>
        <p:spPr>
          <a:xfrm>
            <a:off x="9460865" y="4799965"/>
            <a:ext cx="711200" cy="697230"/>
          </a:xfrm>
          <a:prstGeom prst="rect">
            <a:avLst/>
          </a:prstGeom>
          <a:noFill/>
          <a:ln>
            <a:noFill/>
          </a:ln>
        </p:spPr>
      </p:pic>
      <p:sp>
        <p:nvSpPr>
          <p:cNvPr id="342" name="Google Shape;342;p22"/>
          <p:cNvSpPr txBox="1"/>
          <p:nvPr/>
        </p:nvSpPr>
        <p:spPr>
          <a:xfrm>
            <a:off x="9114155" y="3061335"/>
            <a:ext cx="2366010" cy="30734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1" lang="en-US" sz="1400" u="none" cap="none" strike="noStrike">
                <a:solidFill>
                  <a:srgbClr val="833C0B"/>
                </a:solidFill>
                <a:latin typeface="Arial"/>
                <a:ea typeface="Arial"/>
                <a:cs typeface="Arial"/>
                <a:sym typeface="Arial"/>
              </a:rPr>
              <a:t>Haz clic en cada botón.</a:t>
            </a:r>
            <a:endParaRPr b="0" i="1" sz="1400" u="none" cap="none" strike="noStrike">
              <a:solidFill>
                <a:srgbClr val="833C0B"/>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3"/>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3.2. Gestión del tiempo y priorización saludable </a:t>
            </a:r>
            <a:endParaRPr b="1" i="0" sz="2000" u="none" cap="none" strike="noStrike">
              <a:solidFill>
                <a:srgbClr val="000000"/>
              </a:solidFill>
              <a:latin typeface="Arial"/>
              <a:ea typeface="Arial"/>
              <a:cs typeface="Arial"/>
              <a:sym typeface="Arial"/>
            </a:endParaRPr>
          </a:p>
        </p:txBody>
      </p:sp>
      <p:sp>
        <p:nvSpPr>
          <p:cNvPr id="349" name="Google Shape;349;p23"/>
          <p:cNvSpPr txBox="1"/>
          <p:nvPr/>
        </p:nvSpPr>
        <p:spPr>
          <a:xfrm>
            <a:off x="770890" y="1829435"/>
            <a:ext cx="10708640" cy="13138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Cuando todo es urgente, la mente trabaja en modo incendio y se desgasta el doble.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El agotamiento laboral surge, muchas veces, porque confundimos estar ocupados con ser productivos.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55A11"/>
                </a:solidFill>
                <a:latin typeface="Arial"/>
                <a:ea typeface="Arial"/>
                <a:cs typeface="Arial"/>
                <a:sym typeface="Arial"/>
              </a:rPr>
              <a:t>Gestionar el tiempo</a:t>
            </a:r>
            <a:r>
              <a:rPr b="0" i="0" lang="en-US" sz="1800" u="none" cap="none" strike="noStrike">
                <a:solidFill>
                  <a:srgbClr val="000000"/>
                </a:solidFill>
                <a:latin typeface="Arial"/>
                <a:ea typeface="Arial"/>
                <a:cs typeface="Arial"/>
                <a:sym typeface="Arial"/>
              </a:rPr>
              <a:t> no significa llenar la agenda, sino </a:t>
            </a:r>
            <a:r>
              <a:rPr b="1" i="0" lang="en-US" sz="1800" u="none" cap="none" strike="noStrike">
                <a:solidFill>
                  <a:srgbClr val="C55A11"/>
                </a:solidFill>
                <a:latin typeface="Arial"/>
                <a:ea typeface="Arial"/>
                <a:cs typeface="Arial"/>
                <a:sym typeface="Arial"/>
              </a:rPr>
              <a:t>equilibrar demandas, prioridades y energía</a:t>
            </a:r>
            <a:r>
              <a:rPr b="0" i="0" lang="en-US"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
        <p:nvSpPr>
          <p:cNvPr id="350" name="Google Shape;350;p23"/>
          <p:cNvSpPr txBox="1"/>
          <p:nvPr/>
        </p:nvSpPr>
        <p:spPr>
          <a:xfrm>
            <a:off x="3107055" y="3796665"/>
            <a:ext cx="5852795" cy="9220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Una buena </a:t>
            </a:r>
            <a:r>
              <a:rPr b="1" i="0" lang="en-US" sz="1800" u="none" cap="none" strike="noStrike">
                <a:solidFill>
                  <a:srgbClr val="C55A11"/>
                </a:solidFill>
                <a:latin typeface="Arial"/>
                <a:ea typeface="Arial"/>
                <a:cs typeface="Arial"/>
                <a:sym typeface="Arial"/>
              </a:rPr>
              <a:t>administración del tiempo </a:t>
            </a:r>
            <a:r>
              <a:rPr b="0" i="0" lang="en-US" sz="1800" u="none" cap="none" strike="noStrike">
                <a:solidFill>
                  <a:srgbClr val="000000"/>
                </a:solidFill>
                <a:latin typeface="Arial"/>
                <a:ea typeface="Arial"/>
                <a:cs typeface="Arial"/>
                <a:sym typeface="Arial"/>
              </a:rPr>
              <a:t>reduce la sensación de caos, evita el multitasking extremo y previene que el trabajo se invada el espacio personal. </a:t>
            </a:r>
            <a:endParaRPr b="0" i="0" sz="1800" u="none" cap="none" strike="noStrike">
              <a:solidFill>
                <a:srgbClr val="000000"/>
              </a:solidFill>
              <a:latin typeface="Arial"/>
              <a:ea typeface="Arial"/>
              <a:cs typeface="Arial"/>
              <a:sym typeface="Arial"/>
            </a:endParaRPr>
          </a:p>
        </p:txBody>
      </p:sp>
      <p:pic>
        <p:nvPicPr>
          <p:cNvPr id="351" name="Google Shape;351;p23"/>
          <p:cNvPicPr preferRelativeResize="0"/>
          <p:nvPr/>
        </p:nvPicPr>
        <p:blipFill rotWithShape="1">
          <a:blip r:embed="rId3">
            <a:alphaModFix/>
          </a:blip>
          <a:srcRect b="0" l="0" r="0" t="0"/>
          <a:stretch/>
        </p:blipFill>
        <p:spPr>
          <a:xfrm>
            <a:off x="1524000" y="3799205"/>
            <a:ext cx="1200150" cy="12319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4"/>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Clr>
                <a:srgbClr val="000000"/>
              </a:buClr>
              <a:buSzPts val="2000"/>
              <a:buFont typeface="Arial"/>
              <a:buNone/>
            </a:pPr>
            <a:r>
              <a:rPr b="1" i="0" lang="en-US" sz="2000" u="none" cap="none" strike="noStrike">
                <a:solidFill>
                  <a:srgbClr val="A5A5A5"/>
                </a:solidFill>
                <a:latin typeface="Arial"/>
                <a:ea typeface="Arial"/>
                <a:cs typeface="Arial"/>
                <a:sym typeface="Arial"/>
              </a:rPr>
              <a:t>3.2. Gestión del tiempo y priorización saludable </a:t>
            </a:r>
            <a:endParaRPr b="1" i="0" sz="2000" u="none" cap="none" strike="noStrike">
              <a:solidFill>
                <a:srgbClr val="A5A5A5"/>
              </a:solidFill>
              <a:latin typeface="Arial"/>
              <a:ea typeface="Arial"/>
              <a:cs typeface="Arial"/>
              <a:sym typeface="Arial"/>
            </a:endParaRPr>
          </a:p>
        </p:txBody>
      </p:sp>
      <p:sp>
        <p:nvSpPr>
          <p:cNvPr id="358" name="Google Shape;358;p24"/>
          <p:cNvSpPr txBox="1"/>
          <p:nvPr/>
        </p:nvSpPr>
        <p:spPr>
          <a:xfrm>
            <a:off x="1080135" y="1233170"/>
            <a:ext cx="5091430" cy="10890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Una herramienta poderosa para ayudarte es la </a:t>
            </a:r>
            <a:r>
              <a:rPr b="1" i="0" lang="en-US" sz="1800" u="none" cap="none" strike="noStrike">
                <a:solidFill>
                  <a:srgbClr val="C55A11"/>
                </a:solidFill>
                <a:latin typeface="Arial"/>
                <a:ea typeface="Arial"/>
                <a:cs typeface="Arial"/>
                <a:sym typeface="Arial"/>
              </a:rPr>
              <a:t>Matriz de Eisenhower</a:t>
            </a:r>
            <a:r>
              <a:rPr b="0" i="0" lang="en-US" sz="1800" u="none" cap="none" strike="noStrike">
                <a:solidFill>
                  <a:srgbClr val="000000"/>
                </a:solidFill>
                <a:latin typeface="Arial"/>
                <a:ea typeface="Arial"/>
                <a:cs typeface="Arial"/>
                <a:sym typeface="Arial"/>
              </a:rPr>
              <a:t>, que clasifica las tareas según su urgencia e importancia:</a:t>
            </a:r>
            <a:endParaRPr b="0" i="0" sz="1800" u="none" cap="none" strike="noStrike">
              <a:solidFill>
                <a:srgbClr val="000000"/>
              </a:solidFill>
              <a:latin typeface="Arial"/>
              <a:ea typeface="Arial"/>
              <a:cs typeface="Arial"/>
              <a:sym typeface="Arial"/>
            </a:endParaRPr>
          </a:p>
        </p:txBody>
      </p:sp>
      <p:pic>
        <p:nvPicPr>
          <p:cNvPr id="359" name="Google Shape;359;p24"/>
          <p:cNvPicPr preferRelativeResize="0"/>
          <p:nvPr/>
        </p:nvPicPr>
        <p:blipFill rotWithShape="1">
          <a:blip r:embed="rId3">
            <a:alphaModFix/>
          </a:blip>
          <a:srcRect b="0" l="0" r="0" t="0"/>
          <a:stretch/>
        </p:blipFill>
        <p:spPr>
          <a:xfrm>
            <a:off x="1868170" y="2545715"/>
            <a:ext cx="3637280" cy="3845560"/>
          </a:xfrm>
          <a:prstGeom prst="rect">
            <a:avLst/>
          </a:prstGeom>
          <a:noFill/>
          <a:ln>
            <a:noFill/>
          </a:ln>
        </p:spPr>
      </p:pic>
      <p:sp>
        <p:nvSpPr>
          <p:cNvPr id="360" name="Google Shape;360;p24"/>
          <p:cNvSpPr txBox="1"/>
          <p:nvPr/>
        </p:nvSpPr>
        <p:spPr>
          <a:xfrm>
            <a:off x="8761730" y="2157095"/>
            <a:ext cx="2366010" cy="30734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1" lang="en-US" sz="1400" u="none" cap="none" strike="noStrike">
                <a:solidFill>
                  <a:srgbClr val="833C0B"/>
                </a:solidFill>
                <a:latin typeface="Arial"/>
                <a:ea typeface="Arial"/>
                <a:cs typeface="Arial"/>
                <a:sym typeface="Arial"/>
              </a:rPr>
              <a:t>Haz clic en los botones.</a:t>
            </a:r>
            <a:endParaRPr b="0" i="1" sz="1400" u="none" cap="none" strike="noStrike">
              <a:solidFill>
                <a:srgbClr val="833C0B"/>
              </a:solidFill>
              <a:latin typeface="Arial"/>
              <a:ea typeface="Arial"/>
              <a:cs typeface="Arial"/>
              <a:sym typeface="Arial"/>
            </a:endParaRPr>
          </a:p>
        </p:txBody>
      </p:sp>
      <p:sp>
        <p:nvSpPr>
          <p:cNvPr id="361" name="Google Shape;361;p24"/>
          <p:cNvSpPr/>
          <p:nvPr/>
        </p:nvSpPr>
        <p:spPr>
          <a:xfrm>
            <a:off x="8195945" y="3079115"/>
            <a:ext cx="2150110" cy="521335"/>
          </a:xfrm>
          <a:prstGeom prst="roundRect">
            <a:avLst>
              <a:gd fmla="val 16667" name="adj"/>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Paso 1</a:t>
            </a:r>
            <a:endParaRPr b="1" i="0" sz="1800" u="none" cap="none" strike="noStrike">
              <a:solidFill>
                <a:schemeClr val="lt1"/>
              </a:solidFill>
              <a:latin typeface="Arial"/>
              <a:ea typeface="Arial"/>
              <a:cs typeface="Arial"/>
              <a:sym typeface="Arial"/>
            </a:endParaRPr>
          </a:p>
        </p:txBody>
      </p:sp>
      <p:sp>
        <p:nvSpPr>
          <p:cNvPr id="362" name="Google Shape;362;p24"/>
          <p:cNvSpPr/>
          <p:nvPr/>
        </p:nvSpPr>
        <p:spPr>
          <a:xfrm>
            <a:off x="8211185" y="4059555"/>
            <a:ext cx="2150110" cy="521335"/>
          </a:xfrm>
          <a:prstGeom prst="roundRect">
            <a:avLst>
              <a:gd fmla="val 16667" name="adj"/>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Paso 2</a:t>
            </a:r>
            <a:endParaRPr b="1" i="0" sz="1800" u="none" cap="none" strike="noStrike">
              <a:solidFill>
                <a:schemeClr val="lt1"/>
              </a:solidFill>
              <a:latin typeface="Arial"/>
              <a:ea typeface="Arial"/>
              <a:cs typeface="Arial"/>
              <a:sym typeface="Arial"/>
            </a:endParaRPr>
          </a:p>
        </p:txBody>
      </p:sp>
      <p:sp>
        <p:nvSpPr>
          <p:cNvPr id="363" name="Google Shape;363;p24"/>
          <p:cNvSpPr/>
          <p:nvPr/>
        </p:nvSpPr>
        <p:spPr>
          <a:xfrm>
            <a:off x="8261985" y="4994275"/>
            <a:ext cx="2150110" cy="521335"/>
          </a:xfrm>
          <a:prstGeom prst="roundRect">
            <a:avLst>
              <a:gd fmla="val 16667" name="adj"/>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Paso 3</a:t>
            </a:r>
            <a:endParaRPr b="1" i="0" sz="1800" u="none" cap="none" strike="noStrike">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5"/>
          <p:cNvSpPr/>
          <p:nvPr/>
        </p:nvSpPr>
        <p:spPr>
          <a:xfrm>
            <a:off x="0" y="5943600"/>
            <a:ext cx="12192000" cy="914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370" name="Google Shape;370;p25"/>
          <p:cNvGrpSpPr/>
          <p:nvPr/>
        </p:nvGrpSpPr>
        <p:grpSpPr>
          <a:xfrm>
            <a:off x="2840355" y="305435"/>
            <a:ext cx="5984875" cy="6331585"/>
            <a:chOff x="4473" y="745"/>
            <a:chExt cx="9425" cy="9971"/>
          </a:xfrm>
        </p:grpSpPr>
        <p:cxnSp>
          <p:nvCxnSpPr>
            <p:cNvPr id="371" name="Google Shape;371;p25"/>
            <p:cNvCxnSpPr/>
            <p:nvPr/>
          </p:nvCxnSpPr>
          <p:spPr>
            <a:xfrm flipH="1">
              <a:off x="9471" y="1929"/>
              <a:ext cx="8" cy="8787"/>
            </a:xfrm>
            <a:prstGeom prst="straightConnector1">
              <a:avLst/>
            </a:prstGeom>
            <a:noFill/>
            <a:ln cap="flat" cmpd="sng" w="127000">
              <a:solidFill>
                <a:srgbClr val="C55A11"/>
              </a:solidFill>
              <a:prstDash val="solid"/>
              <a:round/>
              <a:headEnd len="med" w="med" type="triangle"/>
              <a:tailEnd len="med" w="med" type="triangle"/>
            </a:ln>
          </p:spPr>
        </p:cxnSp>
        <p:sp>
          <p:nvSpPr>
            <p:cNvPr id="372" name="Google Shape;372;p25"/>
            <p:cNvSpPr txBox="1"/>
            <p:nvPr/>
          </p:nvSpPr>
          <p:spPr>
            <a:xfrm>
              <a:off x="5112" y="745"/>
              <a:ext cx="7659" cy="77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Matriz de Eisenhower</a:t>
              </a:r>
              <a:endParaRPr b="1" i="0" sz="2800" u="none" cap="none" strike="noStrike">
                <a:solidFill>
                  <a:srgbClr val="000000"/>
                </a:solidFill>
                <a:latin typeface="Arial"/>
                <a:ea typeface="Arial"/>
                <a:cs typeface="Arial"/>
                <a:sym typeface="Arial"/>
              </a:endParaRPr>
            </a:p>
          </p:txBody>
        </p:sp>
        <p:sp>
          <p:nvSpPr>
            <p:cNvPr id="373" name="Google Shape;373;p25"/>
            <p:cNvSpPr/>
            <p:nvPr/>
          </p:nvSpPr>
          <p:spPr>
            <a:xfrm>
              <a:off x="5847" y="3030"/>
              <a:ext cx="3312" cy="3128"/>
            </a:xfrm>
            <a:prstGeom prst="rect">
              <a:avLst/>
            </a:prstGeom>
            <a:solidFill>
              <a:srgbClr val="FEF6F1"/>
            </a:solidFill>
            <a:ln cap="flat" cmpd="sng" w="9525">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4" name="Google Shape;374;p25"/>
            <p:cNvSpPr/>
            <p:nvPr/>
          </p:nvSpPr>
          <p:spPr>
            <a:xfrm>
              <a:off x="5847" y="6870"/>
              <a:ext cx="3312" cy="3128"/>
            </a:xfrm>
            <a:prstGeom prst="rect">
              <a:avLst/>
            </a:prstGeom>
            <a:solidFill>
              <a:srgbClr val="FEF6F1"/>
            </a:solidFill>
            <a:ln cap="flat" cmpd="sng" w="9525">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375" name="Google Shape;375;p25"/>
            <p:cNvCxnSpPr/>
            <p:nvPr/>
          </p:nvCxnSpPr>
          <p:spPr>
            <a:xfrm rot="10800000">
              <a:off x="5111" y="6552"/>
              <a:ext cx="8787" cy="21"/>
            </a:xfrm>
            <a:prstGeom prst="straightConnector1">
              <a:avLst/>
            </a:prstGeom>
            <a:noFill/>
            <a:ln cap="flat" cmpd="sng" w="127000">
              <a:solidFill>
                <a:srgbClr val="C55A11"/>
              </a:solidFill>
              <a:prstDash val="solid"/>
              <a:round/>
              <a:headEnd len="med" w="med" type="triangle"/>
              <a:tailEnd len="med" w="med" type="triangle"/>
            </a:ln>
          </p:spPr>
        </p:cxnSp>
        <p:sp>
          <p:nvSpPr>
            <p:cNvPr id="376" name="Google Shape;376;p25"/>
            <p:cNvSpPr/>
            <p:nvPr/>
          </p:nvSpPr>
          <p:spPr>
            <a:xfrm>
              <a:off x="9783" y="3030"/>
              <a:ext cx="3312" cy="3128"/>
            </a:xfrm>
            <a:prstGeom prst="rect">
              <a:avLst/>
            </a:prstGeom>
            <a:solidFill>
              <a:srgbClr val="FEF6F1"/>
            </a:solidFill>
            <a:ln cap="flat" cmpd="sng" w="9525">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7" name="Google Shape;377;p25"/>
            <p:cNvSpPr/>
            <p:nvPr/>
          </p:nvSpPr>
          <p:spPr>
            <a:xfrm>
              <a:off x="9783" y="6870"/>
              <a:ext cx="3312" cy="3128"/>
            </a:xfrm>
            <a:prstGeom prst="rect">
              <a:avLst/>
            </a:prstGeom>
            <a:solidFill>
              <a:srgbClr val="FEF6F1"/>
            </a:solidFill>
            <a:ln cap="flat" cmpd="sng" w="9525">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8" name="Google Shape;378;p25"/>
            <p:cNvSpPr txBox="1"/>
            <p:nvPr/>
          </p:nvSpPr>
          <p:spPr>
            <a:xfrm>
              <a:off x="5996" y="2282"/>
              <a:ext cx="2857" cy="5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800" u="none" cap="none" strike="noStrike">
                  <a:solidFill>
                    <a:srgbClr val="C55A11"/>
                  </a:solidFill>
                  <a:latin typeface="Arial"/>
                  <a:ea typeface="Arial"/>
                  <a:cs typeface="Arial"/>
                  <a:sym typeface="Arial"/>
                </a:rPr>
                <a:t>URGENTE</a:t>
              </a:r>
              <a:endParaRPr b="1" i="0" sz="1800" u="none" cap="none" strike="noStrike">
                <a:solidFill>
                  <a:srgbClr val="C55A11"/>
                </a:solidFill>
                <a:latin typeface="Arial"/>
                <a:ea typeface="Arial"/>
                <a:cs typeface="Arial"/>
                <a:sym typeface="Arial"/>
              </a:endParaRPr>
            </a:p>
          </p:txBody>
        </p:sp>
        <p:sp>
          <p:nvSpPr>
            <p:cNvPr id="379" name="Google Shape;379;p25"/>
            <p:cNvSpPr txBox="1"/>
            <p:nvPr/>
          </p:nvSpPr>
          <p:spPr>
            <a:xfrm>
              <a:off x="9791" y="2282"/>
              <a:ext cx="3337" cy="5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800" u="none" cap="none" strike="noStrike">
                  <a:solidFill>
                    <a:srgbClr val="C55A11"/>
                  </a:solidFill>
                  <a:latin typeface="Arial"/>
                  <a:ea typeface="Arial"/>
                  <a:cs typeface="Arial"/>
                  <a:sym typeface="Arial"/>
                </a:rPr>
                <a:t>NO URGENTE</a:t>
              </a:r>
              <a:endParaRPr b="1" i="0" sz="1800" u="none" cap="none" strike="noStrike">
                <a:solidFill>
                  <a:srgbClr val="C55A11"/>
                </a:solidFill>
                <a:latin typeface="Arial"/>
                <a:ea typeface="Arial"/>
                <a:cs typeface="Arial"/>
                <a:sym typeface="Arial"/>
              </a:endParaRPr>
            </a:p>
          </p:txBody>
        </p:sp>
        <p:sp>
          <p:nvSpPr>
            <p:cNvPr id="380" name="Google Shape;380;p25"/>
            <p:cNvSpPr txBox="1"/>
            <p:nvPr/>
          </p:nvSpPr>
          <p:spPr>
            <a:xfrm rot="-5400000">
              <a:off x="3660" y="4139"/>
              <a:ext cx="3026" cy="5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800" u="none" cap="none" strike="noStrike">
                  <a:solidFill>
                    <a:srgbClr val="C55A11"/>
                  </a:solidFill>
                  <a:latin typeface="Arial"/>
                  <a:ea typeface="Arial"/>
                  <a:cs typeface="Arial"/>
                  <a:sym typeface="Arial"/>
                </a:rPr>
                <a:t>IMPORTANTE</a:t>
              </a:r>
              <a:endParaRPr b="1" i="0" sz="1800" u="none" cap="none" strike="noStrike">
                <a:solidFill>
                  <a:srgbClr val="C55A11"/>
                </a:solidFill>
                <a:latin typeface="Arial"/>
                <a:ea typeface="Arial"/>
                <a:cs typeface="Arial"/>
                <a:sym typeface="Arial"/>
              </a:endParaRPr>
            </a:p>
          </p:txBody>
        </p:sp>
        <p:sp>
          <p:nvSpPr>
            <p:cNvPr id="381" name="Google Shape;381;p25"/>
            <p:cNvSpPr txBox="1"/>
            <p:nvPr/>
          </p:nvSpPr>
          <p:spPr>
            <a:xfrm rot="-5400000">
              <a:off x="3468" y="7974"/>
              <a:ext cx="3026" cy="101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800" u="none" cap="none" strike="noStrike">
                  <a:solidFill>
                    <a:srgbClr val="C55A11"/>
                  </a:solidFill>
                  <a:latin typeface="Arial"/>
                  <a:ea typeface="Arial"/>
                  <a:cs typeface="Arial"/>
                  <a:sym typeface="Arial"/>
                </a:rPr>
                <a:t>NO IMPORTANTE</a:t>
              </a:r>
              <a:endParaRPr b="1" i="0" sz="1800" u="none" cap="none" strike="noStrike">
                <a:solidFill>
                  <a:srgbClr val="C55A11"/>
                </a:solidFill>
                <a:latin typeface="Arial"/>
                <a:ea typeface="Arial"/>
                <a:cs typeface="Arial"/>
                <a:sym typeface="Arial"/>
              </a:endParaRPr>
            </a:p>
          </p:txBody>
        </p:sp>
        <p:sp>
          <p:nvSpPr>
            <p:cNvPr id="382" name="Google Shape;382;p25"/>
            <p:cNvSpPr txBox="1"/>
            <p:nvPr/>
          </p:nvSpPr>
          <p:spPr>
            <a:xfrm>
              <a:off x="5872" y="7292"/>
              <a:ext cx="3216" cy="22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Tareas poco relevantes</a:t>
              </a:r>
              <a:endParaRPr b="0" i="0" sz="17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PÚEDES DELEGARLAS</a:t>
              </a:r>
              <a:endParaRPr b="1" i="0" sz="1700" u="none" cap="none" strike="noStrike">
                <a:solidFill>
                  <a:srgbClr val="000000"/>
                </a:solidFill>
                <a:latin typeface="Arial"/>
                <a:ea typeface="Arial"/>
                <a:cs typeface="Arial"/>
                <a:sym typeface="Arial"/>
              </a:endParaRPr>
            </a:p>
          </p:txBody>
        </p:sp>
        <p:sp>
          <p:nvSpPr>
            <p:cNvPr id="383" name="Google Shape;383;p25"/>
            <p:cNvSpPr txBox="1"/>
            <p:nvPr/>
          </p:nvSpPr>
          <p:spPr>
            <a:xfrm>
              <a:off x="9803" y="3517"/>
              <a:ext cx="3216" cy="22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Tareas que no </a:t>
              </a:r>
              <a:endParaRPr b="0" i="0" sz="17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son urgentes</a:t>
              </a:r>
              <a:endParaRPr b="0" i="0" sz="17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PLANIFÍCALAS PARA LUEGO</a:t>
              </a:r>
              <a:endParaRPr b="1" i="0" sz="1700" u="none" cap="none" strike="noStrike">
                <a:solidFill>
                  <a:srgbClr val="000000"/>
                </a:solidFill>
                <a:latin typeface="Arial"/>
                <a:ea typeface="Arial"/>
                <a:cs typeface="Arial"/>
                <a:sym typeface="Arial"/>
              </a:endParaRPr>
            </a:p>
          </p:txBody>
        </p:sp>
        <p:sp>
          <p:nvSpPr>
            <p:cNvPr id="384" name="Google Shape;384;p25"/>
            <p:cNvSpPr txBox="1"/>
            <p:nvPr/>
          </p:nvSpPr>
          <p:spPr>
            <a:xfrm>
              <a:off x="6083" y="3652"/>
              <a:ext cx="3216" cy="22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Tareas que tienen alta prioridad</a:t>
              </a:r>
              <a:endParaRPr b="0" i="0" sz="17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¡HAZLA YA!</a:t>
              </a:r>
              <a:endParaRPr b="1" i="0" sz="1700" u="none" cap="none" strike="noStrike">
                <a:solidFill>
                  <a:srgbClr val="000000"/>
                </a:solidFill>
                <a:latin typeface="Arial"/>
                <a:ea typeface="Arial"/>
                <a:cs typeface="Arial"/>
                <a:sym typeface="Arial"/>
              </a:endParaRPr>
            </a:p>
          </p:txBody>
        </p:sp>
        <p:sp>
          <p:nvSpPr>
            <p:cNvPr id="385" name="Google Shape;385;p25"/>
            <p:cNvSpPr txBox="1"/>
            <p:nvPr/>
          </p:nvSpPr>
          <p:spPr>
            <a:xfrm>
              <a:off x="9816" y="7252"/>
              <a:ext cx="3216" cy="22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Tareas que no </a:t>
              </a:r>
              <a:endParaRPr b="0" i="0" sz="17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son importantes, </a:t>
              </a:r>
              <a:endParaRPr b="0" i="0" sz="17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ni urgentes</a:t>
              </a:r>
              <a:endParaRPr b="0" i="0" sz="17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IGNÓRALAS</a:t>
              </a:r>
              <a:endParaRPr b="1" i="0" sz="1700" u="none" cap="none" strike="noStrike">
                <a:solidFill>
                  <a:srgbClr val="000000"/>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6"/>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Clr>
                <a:srgbClr val="000000"/>
              </a:buClr>
              <a:buSzPts val="2000"/>
              <a:buFont typeface="Arial"/>
              <a:buNone/>
            </a:pPr>
            <a:r>
              <a:rPr b="1" i="0" lang="en-US" sz="2000" u="none" cap="none" strike="noStrike">
                <a:solidFill>
                  <a:srgbClr val="A5A5A5"/>
                </a:solidFill>
                <a:latin typeface="Arial"/>
                <a:ea typeface="Arial"/>
                <a:cs typeface="Arial"/>
                <a:sym typeface="Arial"/>
              </a:rPr>
              <a:t>3.2. Gestión del tiempo y priorización saludable </a:t>
            </a:r>
            <a:endParaRPr b="1" i="0" sz="2000" u="none" cap="none" strike="noStrike">
              <a:solidFill>
                <a:srgbClr val="A5A5A5"/>
              </a:solidFill>
              <a:latin typeface="Arial"/>
              <a:ea typeface="Arial"/>
              <a:cs typeface="Arial"/>
              <a:sym typeface="Arial"/>
            </a:endParaRPr>
          </a:p>
        </p:txBody>
      </p:sp>
      <p:sp>
        <p:nvSpPr>
          <p:cNvPr id="392" name="Google Shape;392;p26"/>
          <p:cNvSpPr txBox="1"/>
          <p:nvPr/>
        </p:nvSpPr>
        <p:spPr>
          <a:xfrm>
            <a:off x="1765935" y="1278890"/>
            <a:ext cx="8626475" cy="1288415"/>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Evita el </a:t>
            </a:r>
            <a:r>
              <a:rPr b="1" i="0" lang="en-US" sz="1800" u="none" cap="none" strike="noStrike">
                <a:solidFill>
                  <a:srgbClr val="C55A11"/>
                </a:solidFill>
                <a:latin typeface="Arial"/>
                <a:ea typeface="Arial"/>
                <a:cs typeface="Arial"/>
                <a:sym typeface="Arial"/>
              </a:rPr>
              <a:t>multitasking</a:t>
            </a:r>
            <a:r>
              <a:rPr b="0" i="0" lang="en-US" sz="1800" u="none" cap="none" strike="noStrike">
                <a:solidFill>
                  <a:srgbClr val="000000"/>
                </a:solidFill>
                <a:latin typeface="Arial"/>
                <a:ea typeface="Arial"/>
                <a:cs typeface="Arial"/>
                <a:sym typeface="Arial"/>
              </a:rPr>
              <a:t>, es decir, hacer varias tareas a la vez no ahorra tiempo, sino que aumenta los errores y el cansancio mental. Cada cambio de tarea exige al cerebro reiniciar el contexto, lo que gasta energía y reduce el rendimiento. </a:t>
            </a:r>
            <a:endParaRPr b="0" i="0" sz="1800" u="none" cap="none" strike="noStrike">
              <a:solidFill>
                <a:srgbClr val="000000"/>
              </a:solidFill>
              <a:latin typeface="Arial"/>
              <a:ea typeface="Arial"/>
              <a:cs typeface="Arial"/>
              <a:sym typeface="Arial"/>
            </a:endParaRPr>
          </a:p>
        </p:txBody>
      </p:sp>
      <p:sp>
        <p:nvSpPr>
          <p:cNvPr id="393" name="Google Shape;393;p26"/>
          <p:cNvSpPr/>
          <p:nvPr/>
        </p:nvSpPr>
        <p:spPr>
          <a:xfrm>
            <a:off x="1551940" y="3520440"/>
            <a:ext cx="3976370" cy="2042160"/>
          </a:xfrm>
          <a:prstGeom prst="rect">
            <a:avLst/>
          </a:prstGeom>
          <a:solidFill>
            <a:schemeClr val="lt1"/>
          </a:solidFill>
          <a:ln cap="flat" cmpd="sng" w="9525">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4" name="Google Shape;394;p26"/>
          <p:cNvSpPr/>
          <p:nvPr/>
        </p:nvSpPr>
        <p:spPr>
          <a:xfrm>
            <a:off x="1528445" y="3017520"/>
            <a:ext cx="4015105" cy="487680"/>
          </a:xfrm>
          <a:prstGeom prst="roundRect">
            <a:avLst>
              <a:gd fmla="val 16667" name="adj"/>
            </a:avLst>
          </a:prstGeom>
          <a:solidFill>
            <a:srgbClr val="833C0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600" u="none" cap="none" strike="noStrike">
                <a:solidFill>
                  <a:schemeClr val="lt1"/>
                </a:solidFill>
                <a:latin typeface="Arial"/>
                <a:ea typeface="Arial"/>
                <a:cs typeface="Arial"/>
                <a:sym typeface="Arial"/>
              </a:rPr>
              <a:t>Ejemplo</a:t>
            </a:r>
            <a:endParaRPr b="1" i="0" sz="1600" u="none" cap="none" strike="noStrike">
              <a:solidFill>
                <a:schemeClr val="lt1"/>
              </a:solidFill>
              <a:latin typeface="Arial"/>
              <a:ea typeface="Arial"/>
              <a:cs typeface="Arial"/>
              <a:sym typeface="Arial"/>
            </a:endParaRPr>
          </a:p>
        </p:txBody>
      </p:sp>
      <p:sp>
        <p:nvSpPr>
          <p:cNvPr id="395" name="Google Shape;395;p26"/>
          <p:cNvSpPr/>
          <p:nvPr/>
        </p:nvSpPr>
        <p:spPr>
          <a:xfrm>
            <a:off x="6159500" y="3505200"/>
            <a:ext cx="4387215" cy="2042160"/>
          </a:xfrm>
          <a:prstGeom prst="rect">
            <a:avLst/>
          </a:prstGeom>
          <a:solidFill>
            <a:schemeClr val="lt1"/>
          </a:solidFill>
          <a:ln cap="flat" cmpd="sng" w="9525">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6" name="Google Shape;396;p26"/>
          <p:cNvSpPr/>
          <p:nvPr/>
        </p:nvSpPr>
        <p:spPr>
          <a:xfrm>
            <a:off x="6136005" y="3002280"/>
            <a:ext cx="4410710" cy="487680"/>
          </a:xfrm>
          <a:prstGeom prst="roundRect">
            <a:avLst>
              <a:gd fmla="val 16667" name="adj"/>
            </a:avLst>
          </a:prstGeom>
          <a:solidFill>
            <a:srgbClr val="833C0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600" u="none" cap="none" strike="noStrike">
                <a:solidFill>
                  <a:schemeClr val="lt1"/>
                </a:solidFill>
                <a:latin typeface="Arial"/>
                <a:ea typeface="Arial"/>
                <a:cs typeface="Arial"/>
                <a:sym typeface="Arial"/>
              </a:rPr>
              <a:t>Sugerencia</a:t>
            </a:r>
            <a:endParaRPr b="1" i="0" sz="1600" u="none" cap="none" strike="noStrike">
              <a:solidFill>
                <a:schemeClr val="lt1"/>
              </a:solidFill>
              <a:latin typeface="Arial"/>
              <a:ea typeface="Arial"/>
              <a:cs typeface="Arial"/>
              <a:sym typeface="Arial"/>
            </a:endParaRPr>
          </a:p>
        </p:txBody>
      </p:sp>
      <p:sp>
        <p:nvSpPr>
          <p:cNvPr id="397" name="Google Shape;397;p26"/>
          <p:cNvSpPr txBox="1"/>
          <p:nvPr/>
        </p:nvSpPr>
        <p:spPr>
          <a:xfrm>
            <a:off x="1659255" y="3833495"/>
            <a:ext cx="3579495" cy="113728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Responder correos mientras estás en una reunión de seguimiento. Terminas sin escuchar del todo </a:t>
            </a:r>
            <a:endParaRPr b="0" i="0" sz="17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ni responder con calidad.</a:t>
            </a:r>
            <a:endParaRPr b="0" i="0" sz="1700" u="none" cap="none" strike="noStrike">
              <a:solidFill>
                <a:srgbClr val="000000"/>
              </a:solidFill>
              <a:latin typeface="Arial"/>
              <a:ea typeface="Arial"/>
              <a:cs typeface="Arial"/>
              <a:sym typeface="Arial"/>
            </a:endParaRPr>
          </a:p>
        </p:txBody>
      </p:sp>
      <p:sp>
        <p:nvSpPr>
          <p:cNvPr id="398" name="Google Shape;398;p26"/>
          <p:cNvSpPr txBox="1"/>
          <p:nvPr/>
        </p:nvSpPr>
        <p:spPr>
          <a:xfrm>
            <a:off x="6266180" y="3566160"/>
            <a:ext cx="4034155" cy="19221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700" u="none" cap="none" strike="noStrike">
                <a:solidFill>
                  <a:srgbClr val="000000"/>
                </a:solidFill>
                <a:latin typeface="Arial"/>
                <a:ea typeface="Arial"/>
                <a:cs typeface="Arial"/>
                <a:sym typeface="Arial"/>
              </a:rPr>
              <a:t>Para evitarlo es:</a:t>
            </a:r>
            <a:endParaRPr b="0" i="0" sz="17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700"/>
              <a:buFont typeface="Arial"/>
              <a:buChar char="•"/>
            </a:pPr>
            <a:r>
              <a:rPr b="0" i="0" lang="en-US" sz="1700" u="none" cap="none" strike="noStrike">
                <a:solidFill>
                  <a:srgbClr val="000000"/>
                </a:solidFill>
                <a:latin typeface="Arial"/>
                <a:ea typeface="Arial"/>
                <a:cs typeface="Arial"/>
                <a:sym typeface="Arial"/>
              </a:rPr>
              <a:t>Dedica bloques de enfoque total (60–90 minutos).</a:t>
            </a:r>
            <a:endParaRPr b="0" i="0" sz="17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700"/>
              <a:buFont typeface="Arial"/>
              <a:buChar char="•"/>
            </a:pPr>
            <a:r>
              <a:rPr b="0" i="0" lang="en-US" sz="1700" u="none" cap="none" strike="noStrike">
                <a:solidFill>
                  <a:srgbClr val="000000"/>
                </a:solidFill>
                <a:latin typeface="Arial"/>
                <a:ea typeface="Arial"/>
                <a:cs typeface="Arial"/>
                <a:sym typeface="Arial"/>
              </a:rPr>
              <a:t>Luego, haz pausas cortas (5–10 minutos).</a:t>
            </a:r>
            <a:endParaRPr b="0" i="0" sz="17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700"/>
              <a:buFont typeface="Arial"/>
              <a:buChar char="•"/>
            </a:pPr>
            <a:r>
              <a:rPr b="0" i="0" lang="en-US" sz="1700" u="none" cap="none" strike="noStrike">
                <a:solidFill>
                  <a:srgbClr val="000000"/>
                </a:solidFill>
                <a:latin typeface="Arial"/>
                <a:ea typeface="Arial"/>
                <a:cs typeface="Arial"/>
                <a:sym typeface="Arial"/>
              </a:rPr>
              <a:t>Este ciclo aumenta la concentración y disminuye el estrés.</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7"/>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Clr>
                <a:srgbClr val="000000"/>
              </a:buClr>
              <a:buSzPts val="2000"/>
              <a:buFont typeface="Arial"/>
              <a:buNone/>
            </a:pPr>
            <a:r>
              <a:rPr b="1" i="0" lang="en-US" sz="2000" u="none" cap="none" strike="noStrike">
                <a:solidFill>
                  <a:srgbClr val="A5A5A5"/>
                </a:solidFill>
                <a:latin typeface="Arial"/>
                <a:ea typeface="Arial"/>
                <a:cs typeface="Arial"/>
                <a:sym typeface="Arial"/>
              </a:rPr>
              <a:t>3.2. Gestión del tiempo y priorización saludable </a:t>
            </a:r>
            <a:endParaRPr b="1" i="0" sz="2000" u="none" cap="none" strike="noStrike">
              <a:solidFill>
                <a:srgbClr val="A5A5A5"/>
              </a:solidFill>
              <a:latin typeface="Arial"/>
              <a:ea typeface="Arial"/>
              <a:cs typeface="Arial"/>
              <a:sym typeface="Arial"/>
            </a:endParaRPr>
          </a:p>
        </p:txBody>
      </p:sp>
      <p:sp>
        <p:nvSpPr>
          <p:cNvPr id="405" name="Google Shape;405;p27"/>
          <p:cNvSpPr txBox="1"/>
          <p:nvPr/>
        </p:nvSpPr>
        <p:spPr>
          <a:xfrm>
            <a:off x="4668520" y="1955165"/>
            <a:ext cx="6649085" cy="2030095"/>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Considera que cada persona tiene picos de productividad distintos: algunos trabajan mejor en la mañana, otros después de comer. </a:t>
            </a:r>
            <a:endParaRPr b="0" i="0" sz="1800" u="none" cap="none" strike="noStrike">
              <a:solidFill>
                <a:srgbClr val="000000"/>
              </a:solidFill>
              <a:latin typeface="Arial"/>
              <a:ea typeface="Arial"/>
              <a:cs typeface="Arial"/>
              <a:sym typeface="Arial"/>
            </a:endParaRPr>
          </a:p>
          <a:p>
            <a:pPr indent="-171450" lvl="0" marL="28575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Aprende a observar tus momentos de máxima energía y reserva esos bloques para tareas complejas. </a:t>
            </a:r>
            <a:endParaRPr b="0" i="0" sz="1800" u="none" cap="none" strike="noStrike">
              <a:solidFill>
                <a:srgbClr val="000000"/>
              </a:solidFill>
              <a:latin typeface="Arial"/>
              <a:ea typeface="Arial"/>
              <a:cs typeface="Arial"/>
              <a:sym typeface="Arial"/>
            </a:endParaRPr>
          </a:p>
        </p:txBody>
      </p:sp>
      <p:pic>
        <p:nvPicPr>
          <p:cNvPr id="406" name="Google Shape;406;p27"/>
          <p:cNvPicPr preferRelativeResize="0"/>
          <p:nvPr/>
        </p:nvPicPr>
        <p:blipFill rotWithShape="1">
          <a:blip r:embed="rId3">
            <a:alphaModFix/>
          </a:blip>
          <a:srcRect b="0" l="0" r="0" t="0"/>
          <a:stretch/>
        </p:blipFill>
        <p:spPr>
          <a:xfrm>
            <a:off x="525780" y="2407920"/>
            <a:ext cx="3978275" cy="2835275"/>
          </a:xfrm>
          <a:prstGeom prst="rect">
            <a:avLst/>
          </a:prstGeom>
          <a:noFill/>
          <a:ln>
            <a:noFill/>
          </a:ln>
        </p:spPr>
      </p:pic>
      <p:sp>
        <p:nvSpPr>
          <p:cNvPr id="407" name="Google Shape;407;p27"/>
          <p:cNvSpPr txBox="1"/>
          <p:nvPr/>
        </p:nvSpPr>
        <p:spPr>
          <a:xfrm>
            <a:off x="5114925" y="4583430"/>
            <a:ext cx="6096000" cy="922020"/>
          </a:xfrm>
          <a:prstGeom prst="rect">
            <a:avLst/>
          </a:prstGeom>
          <a:noFill/>
          <a:ln>
            <a:noFill/>
          </a:ln>
        </p:spPr>
        <p:txBody>
          <a:bodyPr anchorCtr="0" anchor="t" bIns="45700" lIns="91425" spcFirstLastPara="1" rIns="91425" wrap="square" tIns="45700">
            <a:spAutoFit/>
          </a:bodyPr>
          <a:lstStyle/>
          <a:p>
            <a:pPr indent="0" lvl="2" marL="0" marR="0" rtl="0" algn="ctr">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Por ejemplo, si tu mejor concentración es entre 9:00 y 11:00, evita agendar reuniones en ese rango. Usa ese tiempo para análisis, planeación o escritura.</a:t>
            </a:r>
            <a:endParaRPr b="0" i="0" sz="1800" u="none" cap="none" strike="noStrike">
              <a:solidFill>
                <a:srgbClr val="000000"/>
              </a:solidFill>
              <a:latin typeface="Arial"/>
              <a:ea typeface="Arial"/>
              <a:cs typeface="Arial"/>
              <a:sym typeface="Arial"/>
            </a:endParaRPr>
          </a:p>
        </p:txBody>
      </p:sp>
      <p:sp>
        <p:nvSpPr>
          <p:cNvPr id="408" name="Google Shape;408;p27"/>
          <p:cNvSpPr/>
          <p:nvPr/>
        </p:nvSpPr>
        <p:spPr>
          <a:xfrm>
            <a:off x="5099685" y="4419600"/>
            <a:ext cx="6142355" cy="1356995"/>
          </a:xfrm>
          <a:prstGeom prst="rect">
            <a:avLst/>
          </a:prstGeom>
          <a:noFill/>
          <a:ln cap="flat" cmpd="sng" w="9525">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8"/>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Clr>
                <a:srgbClr val="000000"/>
              </a:buClr>
              <a:buSzPts val="2000"/>
              <a:buFont typeface="Arial"/>
              <a:buNone/>
            </a:pPr>
            <a:r>
              <a:rPr b="1" i="0" lang="en-US" sz="2000" u="none" cap="none" strike="noStrike">
                <a:solidFill>
                  <a:srgbClr val="A5A5A5"/>
                </a:solidFill>
                <a:latin typeface="Arial"/>
                <a:ea typeface="Arial"/>
                <a:cs typeface="Arial"/>
                <a:sym typeface="Arial"/>
              </a:rPr>
              <a:t>3.2. Gestión del tiempo y priorización saludable </a:t>
            </a:r>
            <a:endParaRPr b="1" i="0" sz="2000" u="none" cap="none" strike="noStrike">
              <a:solidFill>
                <a:srgbClr val="A5A5A5"/>
              </a:solidFill>
              <a:latin typeface="Arial"/>
              <a:ea typeface="Arial"/>
              <a:cs typeface="Arial"/>
              <a:sym typeface="Arial"/>
            </a:endParaRPr>
          </a:p>
        </p:txBody>
      </p:sp>
      <p:sp>
        <p:nvSpPr>
          <p:cNvPr id="415" name="Google Shape;415;p28"/>
          <p:cNvSpPr txBox="1"/>
          <p:nvPr/>
        </p:nvSpPr>
        <p:spPr>
          <a:xfrm>
            <a:off x="568960" y="1086485"/>
            <a:ext cx="6649085" cy="368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Concluyendo: </a:t>
            </a:r>
            <a:endParaRPr b="1" i="0" sz="1800" u="none" cap="none" strike="noStrike">
              <a:solidFill>
                <a:srgbClr val="000000"/>
              </a:solidFill>
              <a:latin typeface="Arial"/>
              <a:ea typeface="Arial"/>
              <a:cs typeface="Arial"/>
              <a:sym typeface="Arial"/>
            </a:endParaRPr>
          </a:p>
        </p:txBody>
      </p:sp>
      <p:sp>
        <p:nvSpPr>
          <p:cNvPr id="416" name="Google Shape;416;p28"/>
          <p:cNvSpPr txBox="1"/>
          <p:nvPr/>
        </p:nvSpPr>
        <p:spPr>
          <a:xfrm>
            <a:off x="1733550" y="3639185"/>
            <a:ext cx="8705215" cy="2167890"/>
          </a:xfrm>
          <a:prstGeom prst="rect">
            <a:avLst/>
          </a:prstGeom>
          <a:noFill/>
          <a:ln>
            <a:noFill/>
          </a:ln>
        </p:spPr>
        <p:txBody>
          <a:bodyPr anchorCtr="0" anchor="t" bIns="45700" lIns="91425" spcFirstLastPara="1" rIns="91425" wrap="square" tIns="45700">
            <a:noAutofit/>
          </a:bodyPr>
          <a:lstStyle/>
          <a:p>
            <a:pPr indent="0" lvl="2" marL="0" marR="0" rtl="0" algn="ctr">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Conversa con tu jefe los tiempos viables. Algunas conversaciones saludables son:</a:t>
            </a:r>
            <a:endParaRPr b="0" i="0" sz="1800" u="none" cap="none" strike="noStrike">
              <a:solidFill>
                <a:srgbClr val="000000"/>
              </a:solidFill>
              <a:latin typeface="Arial"/>
              <a:ea typeface="Arial"/>
              <a:cs typeface="Arial"/>
              <a:sym typeface="Arial"/>
            </a:endParaRPr>
          </a:p>
          <a:p>
            <a:pPr indent="0" lvl="2"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285750" lvl="3" marL="7429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“Para entregar el informe a tiempo y con calidad, necesito reprogramar la </a:t>
            </a:r>
            <a:endParaRPr b="0" i="0" sz="1600" u="none" cap="none" strike="noStrike">
              <a:solidFill>
                <a:srgbClr val="000000"/>
              </a:solidFill>
              <a:latin typeface="Arial"/>
              <a:ea typeface="Arial"/>
              <a:cs typeface="Arial"/>
              <a:sym typeface="Arial"/>
            </a:endParaRPr>
          </a:p>
          <a:p>
            <a:pPr indent="0" lvl="3" marL="4572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presentación o contar con apoyo en los datos. ¿Qué opción prefieres?” </a:t>
            </a:r>
            <a:endParaRPr b="0" i="0" sz="1600" u="none" cap="none" strike="noStrike">
              <a:solidFill>
                <a:srgbClr val="000000"/>
              </a:solidFill>
              <a:latin typeface="Arial"/>
              <a:ea typeface="Arial"/>
              <a:cs typeface="Arial"/>
              <a:sym typeface="Arial"/>
            </a:endParaRPr>
          </a:p>
          <a:p>
            <a:pPr indent="-285750" lvl="3" marL="7429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Si recibes una nueva tarea…“Perfecto, ¿qué prioridad tiene frente a lo </a:t>
            </a:r>
            <a:endParaRPr b="0" i="0" sz="1600" u="none" cap="none" strike="noStrike">
              <a:solidFill>
                <a:srgbClr val="000000"/>
              </a:solidFill>
              <a:latin typeface="Arial"/>
              <a:ea typeface="Arial"/>
              <a:cs typeface="Arial"/>
              <a:sym typeface="Arial"/>
            </a:endParaRPr>
          </a:p>
          <a:p>
            <a:pPr indent="0" lvl="3" marL="4572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que estoy trabajando ahora?”</a:t>
            </a:r>
            <a:endParaRPr b="0" i="0" sz="1600" u="none" cap="none" strike="noStrike">
              <a:solidFill>
                <a:srgbClr val="000000"/>
              </a:solidFill>
              <a:latin typeface="Arial"/>
              <a:ea typeface="Arial"/>
              <a:cs typeface="Arial"/>
              <a:sym typeface="Arial"/>
            </a:endParaRPr>
          </a:p>
          <a:p>
            <a:pPr indent="-285750" lvl="3" marL="7429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Dilo con claridad: “Puedo entregarlo hoy antes de las 17:00 o mañana </a:t>
            </a:r>
            <a:endParaRPr b="0" i="0" sz="1600" u="none" cap="none" strike="noStrike">
              <a:solidFill>
                <a:srgbClr val="000000"/>
              </a:solidFill>
              <a:latin typeface="Arial"/>
              <a:ea typeface="Arial"/>
              <a:cs typeface="Arial"/>
              <a:sym typeface="Arial"/>
            </a:endParaRPr>
          </a:p>
          <a:p>
            <a:pPr indent="0" lvl="3" marL="4572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antes de las 10:00. ¿Qué funciona mejor?”</a:t>
            </a:r>
            <a:endParaRPr b="0" i="0" sz="1600" u="none" cap="none" strike="noStrike">
              <a:solidFill>
                <a:srgbClr val="000000"/>
              </a:solidFill>
              <a:latin typeface="Arial"/>
              <a:ea typeface="Arial"/>
              <a:cs typeface="Arial"/>
              <a:sym typeface="Arial"/>
            </a:endParaRPr>
          </a:p>
        </p:txBody>
      </p:sp>
      <p:sp>
        <p:nvSpPr>
          <p:cNvPr id="417" name="Google Shape;417;p28"/>
          <p:cNvSpPr/>
          <p:nvPr/>
        </p:nvSpPr>
        <p:spPr>
          <a:xfrm>
            <a:off x="1217930" y="1715770"/>
            <a:ext cx="4328795" cy="1368425"/>
          </a:xfrm>
          <a:prstGeom prst="rect">
            <a:avLst/>
          </a:prstGeom>
          <a:noFill/>
          <a:ln cap="flat" cmpd="sng" w="9525">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18" name="Google Shape;418;p28"/>
          <p:cNvSpPr/>
          <p:nvPr/>
        </p:nvSpPr>
        <p:spPr>
          <a:xfrm>
            <a:off x="1339850" y="3489960"/>
            <a:ext cx="9413240" cy="2454275"/>
          </a:xfrm>
          <a:prstGeom prst="rect">
            <a:avLst/>
          </a:prstGeom>
          <a:noFill/>
          <a:ln cap="flat" cmpd="sng" w="9525">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19" name="Google Shape;419;p28"/>
          <p:cNvSpPr txBox="1"/>
          <p:nvPr/>
        </p:nvSpPr>
        <p:spPr>
          <a:xfrm>
            <a:off x="1400810" y="1957705"/>
            <a:ext cx="4024630" cy="9061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700" u="none" cap="none" strike="noStrike">
                <a:solidFill>
                  <a:srgbClr val="000000"/>
                </a:solidFill>
                <a:latin typeface="Arial"/>
                <a:ea typeface="Arial"/>
                <a:cs typeface="Arial"/>
                <a:sym typeface="Arial"/>
              </a:rPr>
              <a:t>El Burnout no solo se origina  en la carga de trabajo, sino  en expectativas poco realistas.</a:t>
            </a:r>
            <a:endParaRPr b="0" i="0" sz="1700" u="none" cap="none" strike="noStrike">
              <a:solidFill>
                <a:srgbClr val="000000"/>
              </a:solidFill>
              <a:latin typeface="Arial"/>
              <a:ea typeface="Arial"/>
              <a:cs typeface="Arial"/>
              <a:sym typeface="Arial"/>
            </a:endParaRPr>
          </a:p>
        </p:txBody>
      </p:sp>
      <p:sp>
        <p:nvSpPr>
          <p:cNvPr id="420" name="Google Shape;420;p28"/>
          <p:cNvSpPr txBox="1"/>
          <p:nvPr/>
        </p:nvSpPr>
        <p:spPr>
          <a:xfrm>
            <a:off x="6342380" y="1835785"/>
            <a:ext cx="4441825" cy="1233170"/>
          </a:xfrm>
          <a:prstGeom prst="rect">
            <a:avLst/>
          </a:prstGeom>
          <a:noFill/>
          <a:ln>
            <a:noFill/>
          </a:ln>
        </p:spPr>
        <p:txBody>
          <a:bodyPr anchorCtr="0" anchor="t" bIns="45700" lIns="91425" spcFirstLastPara="1" rIns="91425" wrap="square" tIns="45700">
            <a:noAutofit/>
          </a:bodyPr>
          <a:lstStyle/>
          <a:p>
            <a:pPr indent="0" lvl="2" marL="0" marR="0" rtl="0" algn="l">
              <a:lnSpc>
                <a:spcPct val="100000"/>
              </a:lnSpc>
              <a:spcBef>
                <a:spcPts val="0"/>
              </a:spcBef>
              <a:spcAft>
                <a:spcPts val="0"/>
              </a:spcAft>
              <a:buNone/>
            </a:pPr>
            <a:r>
              <a:rPr b="0" i="0" lang="en-US" sz="1700" u="none" cap="none" strike="noStrike">
                <a:solidFill>
                  <a:srgbClr val="000000"/>
                </a:solidFill>
                <a:latin typeface="Arial"/>
                <a:ea typeface="Arial"/>
                <a:cs typeface="Arial"/>
                <a:sym typeface="Arial"/>
              </a:rPr>
              <a:t>La clave es negociar plazos y prioridades. Prioriza a través de la </a:t>
            </a:r>
            <a:r>
              <a:rPr b="1" i="0" lang="en-US" sz="1700" u="none" cap="none" strike="noStrike">
                <a:solidFill>
                  <a:srgbClr val="C55A11"/>
                </a:solidFill>
                <a:latin typeface="Arial"/>
                <a:ea typeface="Arial"/>
                <a:cs typeface="Arial"/>
                <a:sym typeface="Arial"/>
              </a:rPr>
              <a:t>Matriz de Eisenhower</a:t>
            </a:r>
            <a:r>
              <a:rPr b="0" i="0" lang="en-US" sz="1700" u="none" cap="none" strike="noStrike">
                <a:solidFill>
                  <a:srgbClr val="000000"/>
                </a:solidFill>
                <a:latin typeface="Arial"/>
                <a:ea typeface="Arial"/>
                <a:cs typeface="Arial"/>
                <a:sym typeface="Arial"/>
              </a:rPr>
              <a:t>, que clasifica las tareas según su urgencia e importancia:</a:t>
            </a:r>
            <a:endParaRPr b="0" i="0" sz="1700" u="none" cap="none" strike="noStrike">
              <a:solidFill>
                <a:srgbClr val="000000"/>
              </a:solidFill>
              <a:latin typeface="Arial"/>
              <a:ea typeface="Arial"/>
              <a:cs typeface="Arial"/>
              <a:sym typeface="Arial"/>
            </a:endParaRPr>
          </a:p>
          <a:p>
            <a:pPr indent="0" lvl="2" marL="0" marR="0" rtl="0" algn="ctr">
              <a:lnSpc>
                <a:spcPct val="100000"/>
              </a:lnSpc>
              <a:spcBef>
                <a:spcPts val="0"/>
              </a:spcBef>
              <a:spcAft>
                <a:spcPts val="0"/>
              </a:spcAft>
              <a:buNone/>
            </a:pPr>
            <a:r>
              <a:t/>
            </a:r>
            <a:endParaRPr b="0" i="0" sz="1700" u="none" cap="none" strike="noStrike">
              <a:solidFill>
                <a:srgbClr val="000000"/>
              </a:solidFill>
              <a:latin typeface="Arial"/>
              <a:ea typeface="Arial"/>
              <a:cs typeface="Arial"/>
              <a:sym typeface="Arial"/>
            </a:endParaRPr>
          </a:p>
        </p:txBody>
      </p:sp>
      <p:sp>
        <p:nvSpPr>
          <p:cNvPr id="421" name="Google Shape;421;p28"/>
          <p:cNvSpPr/>
          <p:nvPr/>
        </p:nvSpPr>
        <p:spPr>
          <a:xfrm>
            <a:off x="6141085" y="1715770"/>
            <a:ext cx="4755515" cy="1368425"/>
          </a:xfrm>
          <a:prstGeom prst="rect">
            <a:avLst/>
          </a:prstGeom>
          <a:noFill/>
          <a:ln cap="flat" cmpd="sng" w="9525">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29"/>
          <p:cNvSpPr txBox="1"/>
          <p:nvPr/>
        </p:nvSpPr>
        <p:spPr>
          <a:xfrm>
            <a:off x="591185" y="426720"/>
            <a:ext cx="6361430" cy="4591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Arial"/>
                <a:ea typeface="Arial"/>
                <a:cs typeface="Arial"/>
                <a:sym typeface="Arial"/>
              </a:rPr>
              <a:t>Ejercicio </a:t>
            </a:r>
            <a:endParaRPr b="1" i="0" sz="2400" u="none" cap="none" strike="noStrike">
              <a:solidFill>
                <a:srgbClr val="C55A11"/>
              </a:solidFill>
              <a:latin typeface="Arial"/>
              <a:ea typeface="Arial"/>
              <a:cs typeface="Arial"/>
              <a:sym typeface="Arial"/>
            </a:endParaRPr>
          </a:p>
        </p:txBody>
      </p:sp>
      <p:sp>
        <p:nvSpPr>
          <p:cNvPr id="428" name="Google Shape;428;p29"/>
          <p:cNvSpPr txBox="1"/>
          <p:nvPr/>
        </p:nvSpPr>
        <p:spPr>
          <a:xfrm>
            <a:off x="635" y="1452245"/>
            <a:ext cx="12188825" cy="133731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Ahora es momento de practicar </a:t>
            </a:r>
            <a:endParaRPr b="0" i="0" sz="2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con el siguiente caso: “Todo es urgente en el corporativo”</a:t>
            </a:r>
            <a:endParaRPr b="0" i="0" sz="2200" u="none" cap="none" strike="noStrike">
              <a:solidFill>
                <a:srgbClr val="000000"/>
              </a:solidFill>
              <a:latin typeface="Arial"/>
              <a:ea typeface="Arial"/>
              <a:cs typeface="Arial"/>
              <a:sym typeface="Arial"/>
            </a:endParaRPr>
          </a:p>
        </p:txBody>
      </p:sp>
      <p:sp>
        <p:nvSpPr>
          <p:cNvPr id="429" name="Google Shape;429;p29"/>
          <p:cNvSpPr txBox="1"/>
          <p:nvPr/>
        </p:nvSpPr>
        <p:spPr>
          <a:xfrm>
            <a:off x="4936490" y="3094355"/>
            <a:ext cx="2200910" cy="30734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rgbClr val="2E75B5"/>
                </a:solidFill>
                <a:latin typeface="Arial"/>
                <a:ea typeface="Arial"/>
                <a:cs typeface="Arial"/>
                <a:sym typeface="Arial"/>
              </a:rPr>
              <a:t>Haz clic en el ícono.</a:t>
            </a:r>
            <a:endParaRPr b="0" i="1" sz="1400" u="none" cap="none" strike="noStrike">
              <a:solidFill>
                <a:srgbClr val="2E75B5"/>
              </a:solidFill>
              <a:latin typeface="Arial"/>
              <a:ea typeface="Arial"/>
              <a:cs typeface="Arial"/>
              <a:sym typeface="Arial"/>
            </a:endParaRPr>
          </a:p>
        </p:txBody>
      </p:sp>
      <p:pic>
        <p:nvPicPr>
          <p:cNvPr id="430" name="Google Shape;430;p29"/>
          <p:cNvPicPr preferRelativeResize="0"/>
          <p:nvPr/>
        </p:nvPicPr>
        <p:blipFill rotWithShape="1">
          <a:blip r:embed="rId3">
            <a:alphaModFix/>
          </a:blip>
          <a:srcRect b="0" l="0" r="0" t="0"/>
          <a:stretch/>
        </p:blipFill>
        <p:spPr>
          <a:xfrm>
            <a:off x="5410200" y="3773170"/>
            <a:ext cx="1358900" cy="139763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0"/>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3.3. Técnicas de relajación </a:t>
            </a:r>
            <a:endParaRPr b="1" i="0" sz="2000" u="none" cap="none" strike="noStrike">
              <a:solidFill>
                <a:srgbClr val="000000"/>
              </a:solidFill>
              <a:latin typeface="Arial"/>
              <a:ea typeface="Arial"/>
              <a:cs typeface="Arial"/>
              <a:sym typeface="Arial"/>
            </a:endParaRPr>
          </a:p>
        </p:txBody>
      </p:sp>
      <p:pic>
        <p:nvPicPr>
          <p:cNvPr id="437" name="Google Shape;437;p30"/>
          <p:cNvPicPr preferRelativeResize="0"/>
          <p:nvPr/>
        </p:nvPicPr>
        <p:blipFill rotWithShape="1">
          <a:blip r:embed="rId3">
            <a:alphaModFix/>
          </a:blip>
          <a:srcRect b="14844" l="5347" r="31455" t="0"/>
          <a:stretch/>
        </p:blipFill>
        <p:spPr>
          <a:xfrm>
            <a:off x="1993265" y="2238375"/>
            <a:ext cx="8563610" cy="4152900"/>
          </a:xfrm>
          <a:prstGeom prst="rect">
            <a:avLst/>
          </a:prstGeom>
          <a:noFill/>
          <a:ln>
            <a:noFill/>
          </a:ln>
        </p:spPr>
      </p:pic>
      <p:sp>
        <p:nvSpPr>
          <p:cNvPr id="438" name="Google Shape;438;p30"/>
          <p:cNvSpPr txBox="1"/>
          <p:nvPr/>
        </p:nvSpPr>
        <p:spPr>
          <a:xfrm>
            <a:off x="2168525" y="2665095"/>
            <a:ext cx="2127885" cy="271716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En el ritmo acelerado del trabajo, entre correos, juntas, llamadas y plazos, el cuerpo y la mente entran en un estado de tensión constante. </a:t>
            </a:r>
            <a:endParaRPr b="0" i="0" sz="1800" u="none" cap="none" strike="noStrike">
              <a:solidFill>
                <a:srgbClr val="000000"/>
              </a:solidFill>
              <a:latin typeface="Arial"/>
              <a:ea typeface="Arial"/>
              <a:cs typeface="Arial"/>
              <a:sym typeface="Arial"/>
            </a:endParaRPr>
          </a:p>
        </p:txBody>
      </p:sp>
      <p:sp>
        <p:nvSpPr>
          <p:cNvPr id="439" name="Google Shape;439;p30"/>
          <p:cNvSpPr txBox="1"/>
          <p:nvPr/>
        </p:nvSpPr>
        <p:spPr>
          <a:xfrm>
            <a:off x="4947285" y="2020570"/>
            <a:ext cx="2297430" cy="218376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Aunque no siempre lo notemos, los hombros se elevan, la respiración se vuelve corta y el cerebro se mantiene en “modo alerta” durante horas.</a:t>
            </a:r>
            <a:endParaRPr b="0" i="0" sz="1800" u="none" cap="none" strike="noStrike">
              <a:solidFill>
                <a:srgbClr val="000000"/>
              </a:solidFill>
              <a:latin typeface="Arial"/>
              <a:ea typeface="Arial"/>
              <a:cs typeface="Arial"/>
              <a:sym typeface="Arial"/>
            </a:endParaRPr>
          </a:p>
        </p:txBody>
      </p:sp>
      <p:sp>
        <p:nvSpPr>
          <p:cNvPr id="440" name="Google Shape;440;p30"/>
          <p:cNvSpPr txBox="1"/>
          <p:nvPr/>
        </p:nvSpPr>
        <p:spPr>
          <a:xfrm>
            <a:off x="7773670" y="894080"/>
            <a:ext cx="2966085" cy="2534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Practicar técnicas de relajación y mindfulness ayuda a interrumpir ese ciclo, liberar tensión acumulada y recuperar claridad mental para tomar mejores decisiones.</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1"/>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None/>
            </a:pPr>
            <a:r>
              <a:rPr b="1" i="0" lang="en-US" sz="2000" u="none" cap="none" strike="noStrike">
                <a:solidFill>
                  <a:srgbClr val="A5A5A5"/>
                </a:solidFill>
                <a:latin typeface="Arial"/>
                <a:ea typeface="Arial"/>
                <a:cs typeface="Arial"/>
                <a:sym typeface="Arial"/>
              </a:rPr>
              <a:t>3.3. Técnicas de relajación </a:t>
            </a:r>
            <a:endParaRPr b="1" i="0" sz="2000" u="none" cap="none" strike="noStrike">
              <a:solidFill>
                <a:srgbClr val="A5A5A5"/>
              </a:solidFill>
              <a:latin typeface="Arial"/>
              <a:ea typeface="Arial"/>
              <a:cs typeface="Arial"/>
              <a:sym typeface="Arial"/>
            </a:endParaRPr>
          </a:p>
        </p:txBody>
      </p:sp>
      <p:sp>
        <p:nvSpPr>
          <p:cNvPr id="447" name="Google Shape;447;p31"/>
          <p:cNvSpPr txBox="1"/>
          <p:nvPr/>
        </p:nvSpPr>
        <p:spPr>
          <a:xfrm>
            <a:off x="1344295" y="1314450"/>
            <a:ext cx="9244965" cy="131064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El </a:t>
            </a:r>
            <a:r>
              <a:rPr b="1" i="0" lang="en-US" sz="1800" u="none" cap="none" strike="noStrike">
                <a:solidFill>
                  <a:srgbClr val="C55A11"/>
                </a:solidFill>
                <a:latin typeface="Arial"/>
                <a:ea typeface="Arial"/>
                <a:cs typeface="Arial"/>
                <a:sym typeface="Arial"/>
              </a:rPr>
              <a:t>mindfulness</a:t>
            </a:r>
            <a:r>
              <a:rPr b="0" i="0" lang="en-US" sz="1800" u="none" cap="none" strike="noStrike">
                <a:solidFill>
                  <a:srgbClr val="000000"/>
                </a:solidFill>
                <a:latin typeface="Arial"/>
                <a:ea typeface="Arial"/>
                <a:cs typeface="Arial"/>
                <a:sym typeface="Arial"/>
              </a:rPr>
              <a:t> laboral o atención plena, no significa “dejar de pensar”, sino enfocar la mente en el momento presente: respirar, escuchar, observar y actuar con conciencia. Estas pausas conscientes mejoran la concentración, reducen errores y fortalecen la gestión emocional en situaciones de presión. . </a:t>
            </a:r>
            <a:endParaRPr b="0" i="0" sz="1800" u="none" cap="none" strike="noStrike">
              <a:solidFill>
                <a:srgbClr val="000000"/>
              </a:solidFill>
              <a:latin typeface="Arial"/>
              <a:ea typeface="Arial"/>
              <a:cs typeface="Arial"/>
              <a:sym typeface="Arial"/>
            </a:endParaRPr>
          </a:p>
        </p:txBody>
      </p:sp>
      <p:sp>
        <p:nvSpPr>
          <p:cNvPr id="448" name="Google Shape;448;p31"/>
          <p:cNvSpPr/>
          <p:nvPr/>
        </p:nvSpPr>
        <p:spPr>
          <a:xfrm>
            <a:off x="7619365" y="3108960"/>
            <a:ext cx="2259965" cy="622300"/>
          </a:xfrm>
          <a:prstGeom prst="roundRect">
            <a:avLst>
              <a:gd fmla="val 16667" name="adj"/>
            </a:avLst>
          </a:prstGeom>
          <a:solidFill>
            <a:srgbClr val="FBE4D4"/>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600" u="none" cap="none" strike="noStrike">
                <a:solidFill>
                  <a:srgbClr val="540000"/>
                </a:solidFill>
                <a:latin typeface="Arial"/>
                <a:ea typeface="Arial"/>
                <a:cs typeface="Arial"/>
                <a:sym typeface="Arial"/>
              </a:rPr>
              <a:t>La importancia </a:t>
            </a:r>
            <a:endParaRPr b="1" i="0" sz="1600" u="none" cap="none" strike="noStrike">
              <a:solidFill>
                <a:srgbClr val="540000"/>
              </a:solidFill>
              <a:latin typeface="Arial"/>
              <a:ea typeface="Arial"/>
              <a:cs typeface="Arial"/>
              <a:sym typeface="Arial"/>
            </a:endParaRPr>
          </a:p>
          <a:p>
            <a:pPr indent="0" lvl="0" marL="0" marR="0" rtl="0" algn="ctr">
              <a:lnSpc>
                <a:spcPct val="100000"/>
              </a:lnSpc>
              <a:spcBef>
                <a:spcPts val="0"/>
              </a:spcBef>
              <a:spcAft>
                <a:spcPts val="0"/>
              </a:spcAft>
              <a:buNone/>
            </a:pPr>
            <a:r>
              <a:rPr b="1" i="0" lang="en-US" sz="1600" u="none" cap="none" strike="noStrike">
                <a:solidFill>
                  <a:srgbClr val="540000"/>
                </a:solidFill>
                <a:latin typeface="Arial"/>
                <a:ea typeface="Arial"/>
                <a:cs typeface="Arial"/>
                <a:sym typeface="Arial"/>
              </a:rPr>
              <a:t>de respirar bien</a:t>
            </a:r>
            <a:endParaRPr b="1" i="0" sz="1600" u="none" cap="none" strike="noStrike">
              <a:solidFill>
                <a:srgbClr val="540000"/>
              </a:solidFill>
              <a:latin typeface="Arial"/>
              <a:ea typeface="Arial"/>
              <a:cs typeface="Arial"/>
              <a:sym typeface="Arial"/>
            </a:endParaRPr>
          </a:p>
        </p:txBody>
      </p:sp>
      <p:sp>
        <p:nvSpPr>
          <p:cNvPr id="449" name="Google Shape;449;p31"/>
          <p:cNvSpPr txBox="1"/>
          <p:nvPr/>
        </p:nvSpPr>
        <p:spPr>
          <a:xfrm>
            <a:off x="8929370" y="2553335"/>
            <a:ext cx="2366010" cy="30734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1" lang="en-US" sz="1400" u="none" cap="none" strike="noStrike">
                <a:solidFill>
                  <a:srgbClr val="833C0B"/>
                </a:solidFill>
                <a:latin typeface="Arial"/>
                <a:ea typeface="Arial"/>
                <a:cs typeface="Arial"/>
                <a:sym typeface="Arial"/>
              </a:rPr>
              <a:t>Haz clic en los botones.</a:t>
            </a:r>
            <a:endParaRPr b="0" i="1" sz="1400" u="none" cap="none" strike="noStrike">
              <a:solidFill>
                <a:srgbClr val="833C0B"/>
              </a:solidFill>
              <a:latin typeface="Arial"/>
              <a:ea typeface="Arial"/>
              <a:cs typeface="Arial"/>
              <a:sym typeface="Arial"/>
            </a:endParaRPr>
          </a:p>
        </p:txBody>
      </p:sp>
      <p:sp>
        <p:nvSpPr>
          <p:cNvPr id="450" name="Google Shape;450;p31"/>
          <p:cNvSpPr txBox="1"/>
          <p:nvPr/>
        </p:nvSpPr>
        <p:spPr>
          <a:xfrm>
            <a:off x="1283335" y="3429000"/>
            <a:ext cx="5073015" cy="189674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En pocas palabras, el mindfulness no quita trabajo, pero te da más energía y enfoque p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ara hacerlo mejor.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Algunas recomendaciones para </a:t>
            </a:r>
            <a:r>
              <a:rPr lang="en-US" sz="1800"/>
              <a:t>aplicarlo</a:t>
            </a:r>
            <a:r>
              <a:rPr b="0" i="0" lang="en-US" sz="1800" u="none" cap="none" strike="noStrike">
                <a:solidFill>
                  <a:srgbClr val="000000"/>
                </a:solidFill>
                <a:latin typeface="Arial"/>
                <a:ea typeface="Arial"/>
                <a:cs typeface="Arial"/>
                <a:sym typeface="Arial"/>
              </a:rPr>
              <a:t> son:</a:t>
            </a:r>
            <a:endParaRPr b="0" i="0" sz="1800" u="none" cap="none" strike="noStrike">
              <a:solidFill>
                <a:srgbClr val="000000"/>
              </a:solidFill>
              <a:latin typeface="Arial"/>
              <a:ea typeface="Arial"/>
              <a:cs typeface="Arial"/>
              <a:sym typeface="Arial"/>
            </a:endParaRPr>
          </a:p>
        </p:txBody>
      </p:sp>
      <p:sp>
        <p:nvSpPr>
          <p:cNvPr id="451" name="Google Shape;451;p31"/>
          <p:cNvSpPr/>
          <p:nvPr/>
        </p:nvSpPr>
        <p:spPr>
          <a:xfrm>
            <a:off x="7619365" y="4159250"/>
            <a:ext cx="2259965" cy="622300"/>
          </a:xfrm>
          <a:prstGeom prst="roundRect">
            <a:avLst>
              <a:gd fmla="val 16667" name="adj"/>
            </a:avLst>
          </a:prstGeom>
          <a:solidFill>
            <a:srgbClr val="FBE4D4"/>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600" u="none" cap="none" strike="noStrike">
                <a:solidFill>
                  <a:srgbClr val="540000"/>
                </a:solidFill>
                <a:latin typeface="Arial"/>
                <a:ea typeface="Arial"/>
                <a:cs typeface="Arial"/>
                <a:sym typeface="Arial"/>
              </a:rPr>
              <a:t>Prácticas aplicables en reuniones</a:t>
            </a:r>
            <a:endParaRPr b="1" i="0" sz="1600" u="none" cap="none" strike="noStrike">
              <a:solidFill>
                <a:srgbClr val="540000"/>
              </a:solidFill>
              <a:latin typeface="Arial"/>
              <a:ea typeface="Arial"/>
              <a:cs typeface="Arial"/>
              <a:sym typeface="Arial"/>
            </a:endParaRPr>
          </a:p>
        </p:txBody>
      </p:sp>
      <p:sp>
        <p:nvSpPr>
          <p:cNvPr id="452" name="Google Shape;452;p31"/>
          <p:cNvSpPr/>
          <p:nvPr/>
        </p:nvSpPr>
        <p:spPr>
          <a:xfrm>
            <a:off x="7619365" y="5158740"/>
            <a:ext cx="2259965" cy="622300"/>
          </a:xfrm>
          <a:prstGeom prst="roundRect">
            <a:avLst>
              <a:gd fmla="val 16667" name="adj"/>
            </a:avLst>
          </a:prstGeom>
          <a:solidFill>
            <a:srgbClr val="FBE4D4"/>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600" u="none" cap="none" strike="noStrike">
                <a:solidFill>
                  <a:srgbClr val="540000"/>
                </a:solidFill>
                <a:latin typeface="Arial"/>
                <a:ea typeface="Arial"/>
                <a:cs typeface="Arial"/>
                <a:sym typeface="Arial"/>
              </a:rPr>
              <a:t>Haz pausas conscientes</a:t>
            </a:r>
            <a:endParaRPr b="1" i="0" sz="1600" u="none" cap="none" strike="noStrike">
              <a:solidFill>
                <a:srgbClr val="54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2"/>
          <p:cNvSpPr/>
          <p:nvPr/>
        </p:nvSpPr>
        <p:spPr>
          <a:xfrm>
            <a:off x="0" y="5943600"/>
            <a:ext cx="12192000" cy="914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aphicFrame>
        <p:nvGraphicFramePr>
          <p:cNvPr id="459" name="Google Shape;459;p32"/>
          <p:cNvGraphicFramePr/>
          <p:nvPr/>
        </p:nvGraphicFramePr>
        <p:xfrm>
          <a:off x="807720" y="2238375"/>
          <a:ext cx="3000000" cy="3000000"/>
        </p:xfrm>
        <a:graphic>
          <a:graphicData uri="http://schemas.openxmlformats.org/drawingml/2006/table">
            <a:tbl>
              <a:tblPr>
                <a:noFill/>
                <a:tableStyleId>{4CA13875-9254-4307-A5A6-F7D66A847C66}</a:tableStyleId>
              </a:tblPr>
              <a:tblGrid>
                <a:gridCol w="1681475"/>
                <a:gridCol w="5937250"/>
                <a:gridCol w="2866400"/>
              </a:tblGrid>
              <a:tr h="389250">
                <a:tc>
                  <a:txBody>
                    <a:bodyPr/>
                    <a:lstStyle/>
                    <a:p>
                      <a:pPr indent="0" lvl="0" marL="40005" marR="0" rtl="0" algn="ctr">
                        <a:lnSpc>
                          <a:spcPct val="100000"/>
                        </a:lnSpc>
                        <a:spcBef>
                          <a:spcPts val="0"/>
                        </a:spcBef>
                        <a:spcAft>
                          <a:spcPts val="0"/>
                        </a:spcAft>
                        <a:buNone/>
                      </a:pPr>
                      <a:r>
                        <a:rPr b="1" lang="en-US" sz="2000" u="none" cap="none" strike="noStrike"/>
                        <a:t>Duración</a:t>
                      </a:r>
                      <a:endParaRPr b="1" sz="2000" u="none" cap="none" strike="noStrike"/>
                    </a:p>
                  </a:txBody>
                  <a:tcPr marT="9525" marB="9525" marR="9525" marL="9525" anchor="ctr">
                    <a:solidFill>
                      <a:srgbClr val="FBE4D4"/>
                    </a:solidFill>
                  </a:tcPr>
                </a:tc>
                <a:tc>
                  <a:txBody>
                    <a:bodyPr/>
                    <a:lstStyle/>
                    <a:p>
                      <a:pPr indent="0" lvl="0" marL="40005" marR="0" rtl="0" algn="ctr">
                        <a:lnSpc>
                          <a:spcPct val="100000"/>
                        </a:lnSpc>
                        <a:spcBef>
                          <a:spcPts val="0"/>
                        </a:spcBef>
                        <a:spcAft>
                          <a:spcPts val="0"/>
                        </a:spcAft>
                        <a:buNone/>
                      </a:pPr>
                      <a:r>
                        <a:rPr b="1" lang="en-US" sz="2000" u="none" cap="none" strike="noStrike"/>
                        <a:t>Técnica</a:t>
                      </a:r>
                      <a:endParaRPr b="1" sz="2000" u="none" cap="none" strike="noStrike"/>
                    </a:p>
                  </a:txBody>
                  <a:tcPr marT="9525" marB="9525" marR="9525" marL="9525" anchor="ctr">
                    <a:solidFill>
                      <a:srgbClr val="FBE4D4"/>
                    </a:solidFill>
                  </a:tcPr>
                </a:tc>
                <a:tc>
                  <a:txBody>
                    <a:bodyPr/>
                    <a:lstStyle/>
                    <a:p>
                      <a:pPr indent="0" lvl="0" marL="40005" marR="0" rtl="0" algn="ctr">
                        <a:lnSpc>
                          <a:spcPct val="100000"/>
                        </a:lnSpc>
                        <a:spcBef>
                          <a:spcPts val="0"/>
                        </a:spcBef>
                        <a:spcAft>
                          <a:spcPts val="0"/>
                        </a:spcAft>
                        <a:buNone/>
                      </a:pPr>
                      <a:r>
                        <a:rPr b="1" lang="en-US" sz="2000" u="none" cap="none" strike="noStrike"/>
                        <a:t>Momento ideal</a:t>
                      </a:r>
                      <a:endParaRPr b="1" sz="2000" u="none" cap="none" strike="noStrike"/>
                    </a:p>
                  </a:txBody>
                  <a:tcPr marT="9525" marB="9525" marR="9525" marL="9525" anchor="ctr">
                    <a:solidFill>
                      <a:srgbClr val="FBE4D4"/>
                    </a:solidFill>
                  </a:tcPr>
                </a:tc>
              </a:tr>
              <a:tr h="315600">
                <a:tc>
                  <a:txBody>
                    <a:bodyPr/>
                    <a:lstStyle/>
                    <a:p>
                      <a:pPr indent="0" lvl="0" marL="40005" marR="0" rtl="0" algn="ctr">
                        <a:lnSpc>
                          <a:spcPct val="100000"/>
                        </a:lnSpc>
                        <a:spcBef>
                          <a:spcPts val="0"/>
                        </a:spcBef>
                        <a:spcAft>
                          <a:spcPts val="0"/>
                        </a:spcAft>
                        <a:buNone/>
                      </a:pPr>
                      <a:r>
                        <a:rPr lang="en-US" sz="1600" u="none" cap="none" strike="noStrike"/>
                        <a:t>30 seg.</a:t>
                      </a:r>
                      <a:endParaRPr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Soltar hombros + exhalar profundo 3 veces</a:t>
                      </a:r>
                      <a:endParaRPr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Después de un mensaje tenso</a:t>
                      </a:r>
                      <a:endParaRPr sz="1600" u="none" cap="none" strike="noStrike"/>
                    </a:p>
                  </a:txBody>
                  <a:tcPr marT="9525" marB="9525" marR="9525" marL="9525" anchor="ctr"/>
                </a:tc>
              </a:tr>
              <a:tr h="1488450">
                <a:tc>
                  <a:txBody>
                    <a:bodyPr/>
                    <a:lstStyle/>
                    <a:p>
                      <a:pPr indent="0" lvl="0" marL="40005" marR="0" rtl="0" algn="ctr">
                        <a:lnSpc>
                          <a:spcPct val="100000"/>
                        </a:lnSpc>
                        <a:spcBef>
                          <a:spcPts val="0"/>
                        </a:spcBef>
                        <a:spcAft>
                          <a:spcPts val="0"/>
                        </a:spcAft>
                        <a:buNone/>
                      </a:pPr>
                      <a:r>
                        <a:rPr lang="en-US" sz="1600" u="none" cap="none" strike="noStrike"/>
                        <a:t>1 min</a:t>
                      </a:r>
                      <a:endParaRPr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Respiración 4-4-6 (Inhala por la nariz durante 4 segundos; </a:t>
                      </a:r>
                      <a:endParaRPr sz="1600" u="none" cap="none" strike="noStrike"/>
                    </a:p>
                    <a:p>
                      <a:pPr indent="0" lvl="0" marL="40005" marR="0" rtl="0" algn="l">
                        <a:lnSpc>
                          <a:spcPct val="100000"/>
                        </a:lnSpc>
                        <a:spcBef>
                          <a:spcPts val="0"/>
                        </a:spcBef>
                        <a:spcAft>
                          <a:spcPts val="0"/>
                        </a:spcAft>
                        <a:buNone/>
                      </a:pPr>
                      <a:r>
                        <a:rPr lang="en-US" sz="1600" u="none" cap="none" strike="noStrike"/>
                        <a:t>mantén el aire dentro durante 4 segundos (sin tensión); exhala lentamente por la boca durante 6 segundos, vaciando por completo los pulmones. Repite el ciclo de 4 a 6 veces.</a:t>
                      </a:r>
                      <a:endParaRPr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Antes de presentar en junta</a:t>
                      </a:r>
                      <a:endParaRPr sz="1600" u="none" cap="none" strike="noStrike"/>
                    </a:p>
                  </a:txBody>
                  <a:tcPr marT="9525" marB="9525" marR="9525" marL="9525" anchor="ctr"/>
                </a:tc>
              </a:tr>
              <a:tr h="609600">
                <a:tc>
                  <a:txBody>
                    <a:bodyPr/>
                    <a:lstStyle/>
                    <a:p>
                      <a:pPr indent="0" lvl="0" marL="40005" marR="0" rtl="0" algn="ctr">
                        <a:lnSpc>
                          <a:spcPct val="100000"/>
                        </a:lnSpc>
                        <a:spcBef>
                          <a:spcPts val="0"/>
                        </a:spcBef>
                        <a:spcAft>
                          <a:spcPts val="0"/>
                        </a:spcAft>
                        <a:buNone/>
                      </a:pPr>
                      <a:r>
                        <a:rPr lang="en-US" sz="1600" u="none" cap="none" strike="noStrike"/>
                        <a:t>3 min</a:t>
                      </a:r>
                      <a:endParaRPr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Estiramiento en estación de trabajo. Estira tus extremidades: brazos, piernas, cuello. </a:t>
                      </a:r>
                      <a:endParaRPr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Entre videollamadas</a:t>
                      </a:r>
                      <a:endParaRPr sz="1600" u="none" cap="none" strike="noStrike"/>
                    </a:p>
                  </a:txBody>
                  <a:tcPr marT="9525" marB="9525" marR="9525" marL="9525" anchor="ctr"/>
                </a:tc>
              </a:tr>
              <a:tr h="901700">
                <a:tc>
                  <a:txBody>
                    <a:bodyPr/>
                    <a:lstStyle/>
                    <a:p>
                      <a:pPr indent="0" lvl="0" marL="40005" marR="0" rtl="0" algn="ctr">
                        <a:lnSpc>
                          <a:spcPct val="100000"/>
                        </a:lnSpc>
                        <a:spcBef>
                          <a:spcPts val="0"/>
                        </a:spcBef>
                        <a:spcAft>
                          <a:spcPts val="0"/>
                        </a:spcAft>
                        <a:buNone/>
                      </a:pPr>
                      <a:r>
                        <a:rPr lang="en-US" sz="1600" u="none" cap="none" strike="noStrike"/>
                        <a:t>5 min</a:t>
                      </a:r>
                      <a:endParaRPr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Música relajante / caminar. Regálate pausas de 5 minutos en las que camines un poco o pongas música que te relaje.</a:t>
                      </a:r>
                      <a:endParaRPr sz="1600" u="none" cap="none" strike="noStrike"/>
                    </a:p>
                  </a:txBody>
                  <a:tcPr marT="9525" marB="9525" marR="9525" marL="9525" anchor="ctr"/>
                </a:tc>
                <a:tc>
                  <a:txBody>
                    <a:bodyPr/>
                    <a:lstStyle/>
                    <a:p>
                      <a:pPr indent="0" lvl="0" marL="40005" marR="0" rtl="0" algn="l">
                        <a:lnSpc>
                          <a:spcPct val="100000"/>
                        </a:lnSpc>
                        <a:spcBef>
                          <a:spcPts val="0"/>
                        </a:spcBef>
                        <a:spcAft>
                          <a:spcPts val="0"/>
                        </a:spcAft>
                        <a:buNone/>
                      </a:pPr>
                      <a:r>
                        <a:rPr lang="en-US" sz="1600" u="none" cap="none" strike="noStrike"/>
                        <a:t>Después de cierre complejo</a:t>
                      </a:r>
                      <a:endParaRPr sz="1600" u="none" cap="none" strike="noStrike"/>
                    </a:p>
                  </a:txBody>
                  <a:tcPr marT="9525" marB="9525" marR="9525" marL="9525" anchor="ctr"/>
                </a:tc>
              </a:tr>
            </a:tbl>
          </a:graphicData>
        </a:graphic>
      </p:graphicFrame>
      <p:sp>
        <p:nvSpPr>
          <p:cNvPr id="460" name="Google Shape;460;p32"/>
          <p:cNvSpPr txBox="1"/>
          <p:nvPr/>
        </p:nvSpPr>
        <p:spPr>
          <a:xfrm>
            <a:off x="807720" y="1477010"/>
            <a:ext cx="609600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Haz pausas conscientes</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pic>
        <p:nvPicPr>
          <p:cNvPr id="466" name="Google Shape;466;p33"/>
          <p:cNvPicPr preferRelativeResize="0"/>
          <p:nvPr/>
        </p:nvPicPr>
        <p:blipFill rotWithShape="1">
          <a:blip r:embed="rId3">
            <a:alphaModFix/>
          </a:blip>
          <a:srcRect b="0" l="24438" r="0" t="0"/>
          <a:stretch/>
        </p:blipFill>
        <p:spPr>
          <a:xfrm>
            <a:off x="1856740" y="3665220"/>
            <a:ext cx="2326640" cy="2107565"/>
          </a:xfrm>
          <a:prstGeom prst="rect">
            <a:avLst/>
          </a:prstGeom>
          <a:noFill/>
          <a:ln>
            <a:noFill/>
          </a:ln>
        </p:spPr>
      </p:pic>
      <p:sp>
        <p:nvSpPr>
          <p:cNvPr id="467" name="Google Shape;467;p33"/>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3.4. Establecimiento de límites </a:t>
            </a:r>
            <a:endParaRPr b="1" i="0" sz="2000" u="none" cap="none" strike="noStrike">
              <a:solidFill>
                <a:srgbClr val="000000"/>
              </a:solidFill>
              <a:latin typeface="Arial"/>
              <a:ea typeface="Arial"/>
              <a:cs typeface="Arial"/>
              <a:sym typeface="Arial"/>
            </a:endParaRPr>
          </a:p>
        </p:txBody>
      </p:sp>
      <p:sp>
        <p:nvSpPr>
          <p:cNvPr id="468" name="Google Shape;468;p33"/>
          <p:cNvSpPr txBox="1"/>
          <p:nvPr/>
        </p:nvSpPr>
        <p:spPr>
          <a:xfrm>
            <a:off x="1748155" y="1227455"/>
            <a:ext cx="8208645" cy="203581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Establecer límites saludables no significa falta de compromiso ni resistencia al cambio. Por el contrario, es una forma inteligente y profesional de proteger la energía, mantener la concentración y asegurar resultados sostenibles.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Un colaborador que sabe cuándo trabajar y cuándo desconectarse rinde mejor, se relaciona mejor y vive con mayor equilibrio. </a:t>
            </a:r>
            <a:endParaRPr b="0" i="0" sz="1800" u="none" cap="none" strike="noStrike">
              <a:solidFill>
                <a:srgbClr val="000000"/>
              </a:solidFill>
              <a:latin typeface="Arial"/>
              <a:ea typeface="Arial"/>
              <a:cs typeface="Arial"/>
              <a:sym typeface="Arial"/>
            </a:endParaRPr>
          </a:p>
        </p:txBody>
      </p:sp>
      <p:sp>
        <p:nvSpPr>
          <p:cNvPr id="469" name="Google Shape;469;p33"/>
          <p:cNvSpPr txBox="1"/>
          <p:nvPr/>
        </p:nvSpPr>
        <p:spPr>
          <a:xfrm>
            <a:off x="4054475" y="4708525"/>
            <a:ext cx="4652010" cy="645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Cuidar tus límites no te hace menos productivo; te hace más humano y eficiente.</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34"/>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None/>
            </a:pPr>
            <a:r>
              <a:rPr b="1" i="0" lang="en-US" sz="2000" u="none" cap="none" strike="noStrike">
                <a:solidFill>
                  <a:srgbClr val="A5A5A5"/>
                </a:solidFill>
                <a:latin typeface="Arial"/>
                <a:ea typeface="Arial"/>
                <a:cs typeface="Arial"/>
                <a:sym typeface="Arial"/>
              </a:rPr>
              <a:t>3.4. Establecimiento de límites </a:t>
            </a:r>
            <a:endParaRPr b="1" i="0" sz="2000" u="none" cap="none" strike="noStrike">
              <a:solidFill>
                <a:srgbClr val="A5A5A5"/>
              </a:solidFill>
              <a:latin typeface="Arial"/>
              <a:ea typeface="Arial"/>
              <a:cs typeface="Arial"/>
              <a:sym typeface="Arial"/>
            </a:endParaRPr>
          </a:p>
        </p:txBody>
      </p:sp>
      <p:sp>
        <p:nvSpPr>
          <p:cNvPr id="476" name="Google Shape;476;p34"/>
          <p:cNvSpPr txBox="1"/>
          <p:nvPr/>
        </p:nvSpPr>
        <p:spPr>
          <a:xfrm>
            <a:off x="1199515" y="1354455"/>
            <a:ext cx="4303395" cy="181419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Practicar límites saludables implica aprender a decir “no” con respeto, organizar horarios realistas, desconectarse digitalmente al terminar la jornada, y reservar tiempo para recargar energía personal y familiar.</a:t>
            </a:r>
            <a:endParaRPr b="0" i="0" sz="1600" u="none" cap="none" strike="noStrike">
              <a:solidFill>
                <a:srgbClr val="000000"/>
              </a:solidFill>
              <a:latin typeface="Arial"/>
              <a:ea typeface="Arial"/>
              <a:cs typeface="Arial"/>
              <a:sym typeface="Arial"/>
            </a:endParaRPr>
          </a:p>
        </p:txBody>
      </p:sp>
      <p:sp>
        <p:nvSpPr>
          <p:cNvPr id="477" name="Google Shape;477;p34"/>
          <p:cNvSpPr txBox="1"/>
          <p:nvPr/>
        </p:nvSpPr>
        <p:spPr>
          <a:xfrm>
            <a:off x="6697345" y="1656080"/>
            <a:ext cx="4403725" cy="1480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Estos hábitos fortalecen la claridad mental, reducen el estrés acumulado y ayudan a mantener una vida laboral más equilibrada, congruente con los principios de bienestar y prevención del burnout.</a:t>
            </a:r>
            <a:endParaRPr b="0" i="0" sz="1600" u="none" cap="none" strike="noStrike">
              <a:solidFill>
                <a:srgbClr val="000000"/>
              </a:solidFill>
              <a:latin typeface="Arial"/>
              <a:ea typeface="Arial"/>
              <a:cs typeface="Arial"/>
              <a:sym typeface="Arial"/>
            </a:endParaRPr>
          </a:p>
        </p:txBody>
      </p:sp>
      <p:sp>
        <p:nvSpPr>
          <p:cNvPr id="478" name="Google Shape;478;p34"/>
          <p:cNvSpPr/>
          <p:nvPr/>
        </p:nvSpPr>
        <p:spPr>
          <a:xfrm>
            <a:off x="5711825" y="2126615"/>
            <a:ext cx="762000" cy="635000"/>
          </a:xfrm>
          <a:prstGeom prst="rightArrow">
            <a:avLst>
              <a:gd fmla="val 50000" name="adj1"/>
              <a:gd fmla="val 50000" name="adj2"/>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1" i="0" sz="1800" u="none" cap="none" strike="noStrike">
              <a:solidFill>
                <a:schemeClr val="lt1"/>
              </a:solidFill>
              <a:latin typeface="Arial"/>
              <a:ea typeface="Arial"/>
              <a:cs typeface="Arial"/>
              <a:sym typeface="Arial"/>
            </a:endParaRPr>
          </a:p>
        </p:txBody>
      </p:sp>
      <p:sp>
        <p:nvSpPr>
          <p:cNvPr id="479" name="Google Shape;479;p34"/>
          <p:cNvSpPr/>
          <p:nvPr/>
        </p:nvSpPr>
        <p:spPr>
          <a:xfrm rot="5400000">
            <a:off x="8304530" y="3358515"/>
            <a:ext cx="762000" cy="635000"/>
          </a:xfrm>
          <a:prstGeom prst="rightArrow">
            <a:avLst>
              <a:gd fmla="val 50000" name="adj1"/>
              <a:gd fmla="val 50000" name="adj2"/>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1" i="0" sz="1800" u="none" cap="none" strike="noStrike">
              <a:solidFill>
                <a:schemeClr val="lt1"/>
              </a:solidFill>
              <a:latin typeface="Arial"/>
              <a:ea typeface="Arial"/>
              <a:cs typeface="Arial"/>
              <a:sym typeface="Arial"/>
            </a:endParaRPr>
          </a:p>
        </p:txBody>
      </p:sp>
      <p:sp>
        <p:nvSpPr>
          <p:cNvPr id="480" name="Google Shape;480;p34"/>
          <p:cNvSpPr txBox="1"/>
          <p:nvPr/>
        </p:nvSpPr>
        <p:spPr>
          <a:xfrm>
            <a:off x="7558405" y="4563110"/>
            <a:ext cx="2253615" cy="431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Límites necesarios:</a:t>
            </a:r>
            <a:endParaRPr b="0" i="0" sz="1800" u="none" cap="none" strike="noStrike">
              <a:solidFill>
                <a:srgbClr val="000000"/>
              </a:solidFill>
              <a:latin typeface="Arial"/>
              <a:ea typeface="Arial"/>
              <a:cs typeface="Arial"/>
              <a:sym typeface="Arial"/>
            </a:endParaRPr>
          </a:p>
        </p:txBody>
      </p:sp>
      <p:sp>
        <p:nvSpPr>
          <p:cNvPr id="481" name="Google Shape;481;p34"/>
          <p:cNvSpPr/>
          <p:nvPr/>
        </p:nvSpPr>
        <p:spPr>
          <a:xfrm rot="10800000">
            <a:off x="6781165" y="4439285"/>
            <a:ext cx="762000" cy="635000"/>
          </a:xfrm>
          <a:prstGeom prst="rightArrow">
            <a:avLst>
              <a:gd fmla="val 50000" name="adj1"/>
              <a:gd fmla="val 50000" name="adj2"/>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1" i="0" sz="1800" u="none" cap="none" strike="noStrike">
              <a:solidFill>
                <a:schemeClr val="lt1"/>
              </a:solidFill>
              <a:latin typeface="Arial"/>
              <a:ea typeface="Arial"/>
              <a:cs typeface="Arial"/>
              <a:sym typeface="Arial"/>
            </a:endParaRPr>
          </a:p>
        </p:txBody>
      </p:sp>
      <p:sp>
        <p:nvSpPr>
          <p:cNvPr id="482" name="Google Shape;482;p34"/>
          <p:cNvSpPr txBox="1"/>
          <p:nvPr/>
        </p:nvSpPr>
        <p:spPr>
          <a:xfrm>
            <a:off x="1040130" y="3967480"/>
            <a:ext cx="5540375" cy="1450340"/>
          </a:xfrm>
          <a:prstGeom prst="rect">
            <a:avLst/>
          </a:prstGeom>
          <a:noFill/>
          <a:ln>
            <a:noFill/>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“Modo No Molestar” al terminar la jornada</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Desactivar notificaciones de correo fuera de horario</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No comer en el escritorio al menos 2 veces por semana</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No agendar reuniones en horas de almuerzo</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5"/>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3.5. Pedir apoyo cuando es necesario</a:t>
            </a:r>
            <a:endParaRPr b="1" i="0" sz="2000" u="none" cap="none" strike="noStrike">
              <a:solidFill>
                <a:srgbClr val="000000"/>
              </a:solidFill>
              <a:latin typeface="Arial"/>
              <a:ea typeface="Arial"/>
              <a:cs typeface="Arial"/>
              <a:sym typeface="Arial"/>
            </a:endParaRPr>
          </a:p>
        </p:txBody>
      </p:sp>
      <p:sp>
        <p:nvSpPr>
          <p:cNvPr id="489" name="Google Shape;489;p35"/>
          <p:cNvSpPr txBox="1"/>
          <p:nvPr/>
        </p:nvSpPr>
        <p:spPr>
          <a:xfrm>
            <a:off x="1770380" y="1303655"/>
            <a:ext cx="8526145" cy="813435"/>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En muchos entornos laborales, existe la idea equivocada de que “pedir ayuda es signo de debilidad” o de que los buenos colaboradores deben poder con todo. </a:t>
            </a:r>
            <a:endParaRPr b="0" i="0" sz="1800" u="none" cap="none" strike="noStrike">
              <a:solidFill>
                <a:srgbClr val="000000"/>
              </a:solidFill>
              <a:latin typeface="Arial"/>
              <a:ea typeface="Arial"/>
              <a:cs typeface="Arial"/>
              <a:sym typeface="Arial"/>
            </a:endParaRPr>
          </a:p>
        </p:txBody>
      </p:sp>
      <p:sp>
        <p:nvSpPr>
          <p:cNvPr id="490" name="Google Shape;490;p35"/>
          <p:cNvSpPr txBox="1"/>
          <p:nvPr/>
        </p:nvSpPr>
        <p:spPr>
          <a:xfrm>
            <a:off x="3645535" y="2960370"/>
            <a:ext cx="6839585" cy="12896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En realidad, pedir apoyo a tiempo es una habilidad profesional clave: demuestra autoconciencia, responsabilidad y compromiso con la calidad del trabajo y con el propio bienestar. Revisa el siguiente video para ver algunos aspectos sobre este tema.</a:t>
            </a:r>
            <a:endParaRPr b="0" i="0" sz="1800" u="none" cap="none" strike="noStrike">
              <a:solidFill>
                <a:srgbClr val="000000"/>
              </a:solidFill>
              <a:latin typeface="Arial"/>
              <a:ea typeface="Arial"/>
              <a:cs typeface="Arial"/>
              <a:sym typeface="Arial"/>
            </a:endParaRPr>
          </a:p>
        </p:txBody>
      </p:sp>
      <p:sp>
        <p:nvSpPr>
          <p:cNvPr id="491" name="Google Shape;491;p35"/>
          <p:cNvSpPr/>
          <p:nvPr/>
        </p:nvSpPr>
        <p:spPr>
          <a:xfrm>
            <a:off x="4782185" y="4862195"/>
            <a:ext cx="2653030" cy="977900"/>
          </a:xfrm>
          <a:prstGeom prst="roundRect">
            <a:avLst>
              <a:gd fmla="val 16667" name="adj"/>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Pedir ayuda</a:t>
            </a:r>
            <a:endParaRPr b="1"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1800" u="none" cap="none" strike="noStrike">
              <a:solidFill>
                <a:schemeClr val="lt1"/>
              </a:solidFill>
              <a:latin typeface="Arial"/>
              <a:ea typeface="Arial"/>
              <a:cs typeface="Arial"/>
              <a:sym typeface="Arial"/>
            </a:endParaRPr>
          </a:p>
        </p:txBody>
      </p:sp>
      <p:cxnSp>
        <p:nvCxnSpPr>
          <p:cNvPr id="492" name="Google Shape;492;p35"/>
          <p:cNvCxnSpPr>
            <a:endCxn id="491" idx="0"/>
          </p:cNvCxnSpPr>
          <p:nvPr/>
        </p:nvCxnSpPr>
        <p:spPr>
          <a:xfrm>
            <a:off x="6108700" y="4375895"/>
            <a:ext cx="0" cy="486300"/>
          </a:xfrm>
          <a:prstGeom prst="straightConnector1">
            <a:avLst/>
          </a:prstGeom>
          <a:noFill/>
          <a:ln cap="flat" cmpd="sng" w="12700">
            <a:solidFill>
              <a:srgbClr val="F4B081"/>
            </a:solidFill>
            <a:prstDash val="solid"/>
            <a:round/>
            <a:headEnd len="sm" w="sm" type="none"/>
            <a:tailEnd len="sm" w="sm" type="none"/>
          </a:ln>
        </p:spPr>
      </p:cxnSp>
      <p:pic>
        <p:nvPicPr>
          <p:cNvPr id="493" name="Google Shape;493;p35"/>
          <p:cNvPicPr preferRelativeResize="0"/>
          <p:nvPr/>
        </p:nvPicPr>
        <p:blipFill rotWithShape="1">
          <a:blip r:embed="rId3">
            <a:alphaModFix/>
          </a:blip>
          <a:srcRect b="0" l="0" r="0" t="0"/>
          <a:stretch/>
        </p:blipFill>
        <p:spPr>
          <a:xfrm>
            <a:off x="5854065" y="5271135"/>
            <a:ext cx="509270" cy="535305"/>
          </a:xfrm>
          <a:prstGeom prst="rect">
            <a:avLst/>
          </a:prstGeom>
          <a:noFill/>
          <a:ln>
            <a:noFill/>
          </a:ln>
        </p:spPr>
      </p:pic>
      <p:pic>
        <p:nvPicPr>
          <p:cNvPr id="494" name="Google Shape;494;p35"/>
          <p:cNvPicPr preferRelativeResize="0"/>
          <p:nvPr/>
        </p:nvPicPr>
        <p:blipFill rotWithShape="1">
          <a:blip r:embed="rId4">
            <a:alphaModFix/>
          </a:blip>
          <a:srcRect b="0" l="0" r="0" t="0"/>
          <a:stretch/>
        </p:blipFill>
        <p:spPr>
          <a:xfrm>
            <a:off x="1093470" y="2404745"/>
            <a:ext cx="2447925" cy="20478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6"/>
          <p:cNvSpPr txBox="1"/>
          <p:nvPr/>
        </p:nvSpPr>
        <p:spPr>
          <a:xfrm>
            <a:off x="591185" y="426720"/>
            <a:ext cx="6361430" cy="4591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Arial"/>
                <a:ea typeface="Arial"/>
                <a:cs typeface="Arial"/>
                <a:sym typeface="Arial"/>
              </a:rPr>
              <a:t>Ejercicio </a:t>
            </a:r>
            <a:endParaRPr b="1" i="0" sz="2400" u="none" cap="none" strike="noStrike">
              <a:solidFill>
                <a:srgbClr val="C55A11"/>
              </a:solidFill>
              <a:latin typeface="Arial"/>
              <a:ea typeface="Arial"/>
              <a:cs typeface="Arial"/>
              <a:sym typeface="Arial"/>
            </a:endParaRPr>
          </a:p>
        </p:txBody>
      </p:sp>
      <p:sp>
        <p:nvSpPr>
          <p:cNvPr id="501" name="Google Shape;501;p36"/>
          <p:cNvSpPr txBox="1"/>
          <p:nvPr/>
        </p:nvSpPr>
        <p:spPr>
          <a:xfrm>
            <a:off x="1173480" y="1612265"/>
            <a:ext cx="9850755" cy="141287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Es fundamental que cada colaborador cuente con herramientas prácticas para prevenir y manejar el agotamiento laboral en medio de cargas intensas, alta conectividad y presión por resultados. Te invitamos a analizar y responder el siguiente caso para fortalecer tu bienestar profesional.</a:t>
            </a:r>
            <a:endParaRPr b="0" i="0" sz="2200" u="none" cap="none" strike="noStrike">
              <a:solidFill>
                <a:srgbClr val="000000"/>
              </a:solidFill>
              <a:latin typeface="Arial"/>
              <a:ea typeface="Arial"/>
              <a:cs typeface="Arial"/>
              <a:sym typeface="Arial"/>
            </a:endParaRPr>
          </a:p>
        </p:txBody>
      </p:sp>
      <p:sp>
        <p:nvSpPr>
          <p:cNvPr id="502" name="Google Shape;502;p36"/>
          <p:cNvSpPr txBox="1"/>
          <p:nvPr/>
        </p:nvSpPr>
        <p:spPr>
          <a:xfrm>
            <a:off x="2075815" y="3404870"/>
            <a:ext cx="2200910" cy="3073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2E75B5"/>
                </a:solidFill>
                <a:latin typeface="Arial"/>
                <a:ea typeface="Arial"/>
                <a:cs typeface="Arial"/>
                <a:sym typeface="Arial"/>
              </a:rPr>
              <a:t>Haz clic en el ícono.</a:t>
            </a:r>
            <a:endParaRPr b="0" i="1" sz="1400" u="none" cap="none" strike="noStrike">
              <a:solidFill>
                <a:srgbClr val="2E75B5"/>
              </a:solidFill>
              <a:latin typeface="Arial"/>
              <a:ea typeface="Arial"/>
              <a:cs typeface="Arial"/>
              <a:sym typeface="Arial"/>
            </a:endParaRPr>
          </a:p>
        </p:txBody>
      </p:sp>
      <p:pic>
        <p:nvPicPr>
          <p:cNvPr id="503" name="Google Shape;503;p36"/>
          <p:cNvPicPr preferRelativeResize="0"/>
          <p:nvPr/>
        </p:nvPicPr>
        <p:blipFill rotWithShape="1">
          <a:blip r:embed="rId3">
            <a:alphaModFix/>
          </a:blip>
          <a:srcRect b="0" l="0" r="0" t="0"/>
          <a:stretch/>
        </p:blipFill>
        <p:spPr>
          <a:xfrm>
            <a:off x="5410200" y="4009390"/>
            <a:ext cx="1358900" cy="139763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37"/>
          <p:cNvSpPr txBox="1"/>
          <p:nvPr/>
        </p:nvSpPr>
        <p:spPr>
          <a:xfrm>
            <a:off x="808990" y="2076450"/>
            <a:ext cx="5287645" cy="2734945"/>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000"/>
              <a:buFont typeface="Arial"/>
              <a:buNone/>
            </a:pPr>
            <a:r>
              <a:rPr b="1" i="0" lang="en-US" sz="2800" u="none" cap="none" strike="noStrike">
                <a:solidFill>
                  <a:schemeClr val="dk1"/>
                </a:solidFill>
                <a:latin typeface="Arial"/>
                <a:ea typeface="Arial"/>
                <a:cs typeface="Arial"/>
                <a:sym typeface="Arial"/>
              </a:rPr>
              <a:t>UNIDAD 4</a:t>
            </a:r>
            <a:endParaRPr b="1" i="0" sz="2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1" i="0" sz="2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US" sz="2800" u="none" cap="none" strike="noStrike">
                <a:solidFill>
                  <a:schemeClr val="dk1"/>
                </a:solidFill>
                <a:latin typeface="Arial"/>
                <a:ea typeface="Arial"/>
                <a:cs typeface="Arial"/>
                <a:sym typeface="Arial"/>
              </a:rPr>
              <a:t>Red de apoyo organizacional y trabajo en equipo</a:t>
            </a:r>
            <a:endParaRPr b="1" i="0" sz="2800" u="none" cap="none" strike="noStrike">
              <a:solidFill>
                <a:schemeClr val="dk1"/>
              </a:solidFill>
              <a:latin typeface="Arial"/>
              <a:ea typeface="Arial"/>
              <a:cs typeface="Arial"/>
              <a:sym typeface="Arial"/>
            </a:endParaRPr>
          </a:p>
        </p:txBody>
      </p:sp>
      <p:pic>
        <p:nvPicPr>
          <p:cNvPr descr="005_Burnout_GS1" id="510" name="Google Shape;510;p37"/>
          <p:cNvPicPr preferRelativeResize="0"/>
          <p:nvPr/>
        </p:nvPicPr>
        <p:blipFill rotWithShape="1">
          <a:blip r:embed="rId3">
            <a:alphaModFix/>
          </a:blip>
          <a:srcRect b="0" l="15990" r="10582" t="0"/>
          <a:stretch/>
        </p:blipFill>
        <p:spPr>
          <a:xfrm>
            <a:off x="6544945" y="1447800"/>
            <a:ext cx="4568825" cy="415353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38"/>
          <p:cNvSpPr txBox="1"/>
          <p:nvPr/>
        </p:nvSpPr>
        <p:spPr>
          <a:xfrm>
            <a:off x="359410" y="314325"/>
            <a:ext cx="9115425" cy="490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C55A11"/>
                </a:solidFill>
                <a:latin typeface="Arial"/>
                <a:ea typeface="Arial"/>
                <a:cs typeface="Arial"/>
                <a:sym typeface="Arial"/>
              </a:rPr>
              <a:t>4. Red de apoyo organizacional y trabajo en equipo.</a:t>
            </a:r>
            <a:endParaRPr b="1" i="0" sz="2600" u="none" cap="none" strike="noStrike">
              <a:solidFill>
                <a:srgbClr val="C55A11"/>
              </a:solidFill>
              <a:latin typeface="Arial"/>
              <a:ea typeface="Arial"/>
              <a:cs typeface="Arial"/>
              <a:sym typeface="Arial"/>
            </a:endParaRPr>
          </a:p>
        </p:txBody>
      </p:sp>
      <p:sp>
        <p:nvSpPr>
          <p:cNvPr id="517" name="Google Shape;517;p38"/>
          <p:cNvSpPr txBox="1"/>
          <p:nvPr/>
        </p:nvSpPr>
        <p:spPr>
          <a:xfrm>
            <a:off x="1841500" y="2440940"/>
            <a:ext cx="5920740" cy="205994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0" i="0" lang="en-US" sz="1900" u="none" cap="none" strike="noStrike">
                <a:solidFill>
                  <a:srgbClr val="000000"/>
                </a:solidFill>
                <a:latin typeface="Arial"/>
                <a:ea typeface="Arial"/>
                <a:cs typeface="Arial"/>
                <a:sym typeface="Arial"/>
              </a:rPr>
              <a:t>Comprender el papel del entorno laboral y del trabajo en equipo en la prevención del Burnout, es primordial para identificar prácticas organizacionales y comportamientos colectivos que promuevan un ambiente saludable, colaborativo y de bienestar sostenido en el que todos somos partícipes. </a:t>
            </a:r>
            <a:endParaRPr b="0" i="0" sz="1900" u="none" cap="none" strike="noStrike">
              <a:solidFill>
                <a:srgbClr val="000000"/>
              </a:solidFill>
              <a:latin typeface="Arial"/>
              <a:ea typeface="Arial"/>
              <a:cs typeface="Arial"/>
              <a:sym typeface="Arial"/>
            </a:endParaRPr>
          </a:p>
        </p:txBody>
      </p:sp>
      <p:sp>
        <p:nvSpPr>
          <p:cNvPr id="518" name="Google Shape;518;p38"/>
          <p:cNvSpPr/>
          <p:nvPr/>
        </p:nvSpPr>
        <p:spPr>
          <a:xfrm>
            <a:off x="1456055" y="1918970"/>
            <a:ext cx="6581775" cy="2946400"/>
          </a:xfrm>
          <a:custGeom>
            <a:rect b="b" l="l" r="r" t="t"/>
            <a:pathLst>
              <a:path extrusionOk="0" h="120000" w="120000">
                <a:moveTo>
                  <a:pt x="0" y="0"/>
                </a:moveTo>
                <a:lnTo>
                  <a:pt x="120000" y="0"/>
                </a:lnTo>
                <a:lnTo>
                  <a:pt x="120000" y="120000"/>
                </a:lnTo>
                <a:lnTo>
                  <a:pt x="0" y="120000"/>
                </a:lnTo>
                <a:close/>
              </a:path>
              <a:path extrusionOk="0" fill="none" h="120000" w="120000">
                <a:moveTo>
                  <a:pt x="-145" y="59537"/>
                </a:moveTo>
                <a:lnTo>
                  <a:pt x="-26674" y="59120"/>
                </a:lnTo>
              </a:path>
            </a:pathLst>
          </a:custGeom>
          <a:noFill/>
          <a:ln cap="flat" cmpd="sng" w="19050">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519" name="Google Shape;519;p38"/>
          <p:cNvPicPr preferRelativeResize="0"/>
          <p:nvPr/>
        </p:nvPicPr>
        <p:blipFill rotWithShape="1">
          <a:blip r:embed="rId3">
            <a:alphaModFix/>
          </a:blip>
          <a:srcRect b="9139" l="11342" r="14239" t="5199"/>
          <a:stretch/>
        </p:blipFill>
        <p:spPr>
          <a:xfrm>
            <a:off x="8213725" y="2440940"/>
            <a:ext cx="3080385" cy="235013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39"/>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None/>
            </a:pPr>
            <a:r>
              <a:rPr b="1" i="0" lang="en-US" sz="2000" u="none" cap="none" strike="noStrike">
                <a:solidFill>
                  <a:schemeClr val="dk1"/>
                </a:solidFill>
                <a:latin typeface="Arial"/>
                <a:ea typeface="Arial"/>
                <a:cs typeface="Arial"/>
                <a:sym typeface="Arial"/>
              </a:rPr>
              <a:t>4.1. Cultura de bienestar y reconocimiento</a:t>
            </a:r>
            <a:endParaRPr b="1" i="0" sz="2000" u="none" cap="none" strike="noStrike">
              <a:solidFill>
                <a:schemeClr val="dk1"/>
              </a:solidFill>
              <a:latin typeface="Arial"/>
              <a:ea typeface="Arial"/>
              <a:cs typeface="Arial"/>
              <a:sym typeface="Arial"/>
            </a:endParaRPr>
          </a:p>
        </p:txBody>
      </p:sp>
      <p:sp>
        <p:nvSpPr>
          <p:cNvPr id="526" name="Google Shape;526;p39"/>
          <p:cNvSpPr txBox="1"/>
          <p:nvPr/>
        </p:nvSpPr>
        <p:spPr>
          <a:xfrm>
            <a:off x="1008380" y="2869565"/>
            <a:ext cx="4087495" cy="16700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El bienestar laboral no se logra solo con pausas o actividades recreativas; es el resultado de una cultura organizacional que cuida a las personas mientras busca resultados.</a:t>
            </a:r>
            <a:endParaRPr b="0" i="0" sz="1800" u="none" cap="none" strike="noStrike">
              <a:solidFill>
                <a:srgbClr val="000000"/>
              </a:solidFill>
              <a:latin typeface="Arial"/>
              <a:ea typeface="Arial"/>
              <a:cs typeface="Arial"/>
              <a:sym typeface="Arial"/>
            </a:endParaRPr>
          </a:p>
        </p:txBody>
      </p:sp>
      <p:cxnSp>
        <p:nvCxnSpPr>
          <p:cNvPr id="527" name="Google Shape;527;p39"/>
          <p:cNvCxnSpPr/>
          <p:nvPr/>
        </p:nvCxnSpPr>
        <p:spPr>
          <a:xfrm>
            <a:off x="6108700" y="4375785"/>
            <a:ext cx="0" cy="486300"/>
          </a:xfrm>
          <a:prstGeom prst="straightConnector1">
            <a:avLst/>
          </a:prstGeom>
          <a:noFill/>
          <a:ln cap="flat" cmpd="sng" w="12700">
            <a:solidFill>
              <a:srgbClr val="F4B081"/>
            </a:solidFill>
            <a:prstDash val="solid"/>
            <a:round/>
            <a:headEnd len="sm" w="sm" type="none"/>
            <a:tailEnd len="sm" w="sm" type="none"/>
          </a:ln>
        </p:spPr>
      </p:cxnSp>
      <p:sp>
        <p:nvSpPr>
          <p:cNvPr id="528" name="Google Shape;528;p39"/>
          <p:cNvSpPr/>
          <p:nvPr/>
        </p:nvSpPr>
        <p:spPr>
          <a:xfrm>
            <a:off x="6085205" y="1972945"/>
            <a:ext cx="4639310" cy="3479165"/>
          </a:xfrm>
          <a:custGeom>
            <a:rect b="b" l="l" r="r" t="t"/>
            <a:pathLst>
              <a:path extrusionOk="0" h="120000" w="120000">
                <a:moveTo>
                  <a:pt x="0" y="0"/>
                </a:moveTo>
                <a:lnTo>
                  <a:pt x="120000" y="0"/>
                </a:lnTo>
                <a:lnTo>
                  <a:pt x="120000" y="120000"/>
                </a:lnTo>
                <a:lnTo>
                  <a:pt x="0" y="120000"/>
                </a:lnTo>
                <a:close/>
              </a:path>
              <a:path extrusionOk="0" fill="none" h="120000" w="120000">
                <a:moveTo>
                  <a:pt x="-145" y="59537"/>
                </a:moveTo>
                <a:lnTo>
                  <a:pt x="-26674" y="59120"/>
                </a:lnTo>
              </a:path>
            </a:pathLst>
          </a:custGeom>
          <a:noFill/>
          <a:ln cap="flat" cmpd="sng" w="19050">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29" name="Google Shape;529;p39"/>
          <p:cNvSpPr txBox="1"/>
          <p:nvPr/>
        </p:nvSpPr>
        <p:spPr>
          <a:xfrm>
            <a:off x="6299200" y="2174875"/>
            <a:ext cx="4261485" cy="31381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Una empresa con cultura de bienestar:</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Comunica metas y decisiones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con claridad.</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Reconoce logros y esfuerzos de manera justa.Fomenta la confianza, el respeto y la empatía.</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Promueve la desconexión digital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y el equilibrio trabajo-vida.</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0"/>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None/>
            </a:pPr>
            <a:r>
              <a:rPr b="1" i="0" lang="en-US" sz="2000" u="none" cap="none" strike="noStrike">
                <a:solidFill>
                  <a:srgbClr val="A5A5A5"/>
                </a:solidFill>
                <a:latin typeface="Arial"/>
                <a:ea typeface="Arial"/>
                <a:cs typeface="Arial"/>
                <a:sym typeface="Arial"/>
              </a:rPr>
              <a:t>4.1. Cultura de bienestar y reconocimiento</a:t>
            </a:r>
            <a:endParaRPr b="1" i="0" sz="2000" u="none" cap="none" strike="noStrike">
              <a:solidFill>
                <a:srgbClr val="A5A5A5"/>
              </a:solidFill>
              <a:latin typeface="Arial"/>
              <a:ea typeface="Arial"/>
              <a:cs typeface="Arial"/>
              <a:sym typeface="Arial"/>
            </a:endParaRPr>
          </a:p>
        </p:txBody>
      </p:sp>
      <p:sp>
        <p:nvSpPr>
          <p:cNvPr id="536" name="Google Shape;536;p40"/>
          <p:cNvSpPr/>
          <p:nvPr/>
        </p:nvSpPr>
        <p:spPr>
          <a:xfrm>
            <a:off x="5020945" y="2240280"/>
            <a:ext cx="2150110" cy="521335"/>
          </a:xfrm>
          <a:prstGeom prst="roundRect">
            <a:avLst>
              <a:gd fmla="val 16667" name="adj"/>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Ejemplo</a:t>
            </a:r>
            <a:endParaRPr b="1" i="0" sz="1800" u="none" cap="none" strike="noStrike">
              <a:solidFill>
                <a:schemeClr val="lt1"/>
              </a:solidFill>
              <a:latin typeface="Arial"/>
              <a:ea typeface="Arial"/>
              <a:cs typeface="Arial"/>
              <a:sym typeface="Arial"/>
            </a:endParaRPr>
          </a:p>
        </p:txBody>
      </p:sp>
      <p:sp>
        <p:nvSpPr>
          <p:cNvPr id="537" name="Google Shape;537;p40"/>
          <p:cNvSpPr txBox="1"/>
          <p:nvPr/>
        </p:nvSpPr>
        <p:spPr>
          <a:xfrm>
            <a:off x="589280" y="1269365"/>
            <a:ext cx="5744210" cy="660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Haz clic en el botón para revisa el siguiente ejemplo:</a:t>
            </a:r>
            <a:endParaRPr b="0" i="0" sz="1800" u="none" cap="none" strike="noStrike">
              <a:solidFill>
                <a:srgbClr val="000000"/>
              </a:solidFill>
              <a:latin typeface="Arial"/>
              <a:ea typeface="Arial"/>
              <a:cs typeface="Arial"/>
              <a:sym typeface="Arial"/>
            </a:endParaRPr>
          </a:p>
        </p:txBody>
      </p:sp>
      <p:sp>
        <p:nvSpPr>
          <p:cNvPr id="538" name="Google Shape;538;p40"/>
          <p:cNvSpPr txBox="1"/>
          <p:nvPr/>
        </p:nvSpPr>
        <p:spPr>
          <a:xfrm>
            <a:off x="2146300" y="3427095"/>
            <a:ext cx="78987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800" u="none" cap="none" strike="noStrike">
                <a:solidFill>
                  <a:schemeClr val="dk1"/>
                </a:solidFill>
                <a:latin typeface="Arial"/>
                <a:ea typeface="Arial"/>
                <a:cs typeface="Arial"/>
                <a:sym typeface="Arial"/>
              </a:rPr>
              <a:t>El reconocimiento no </a:t>
            </a:r>
            <a:r>
              <a:rPr b="1" lang="en-US" sz="1800">
                <a:solidFill>
                  <a:schemeClr val="dk1"/>
                </a:solidFill>
              </a:rPr>
              <a:t>sólo</a:t>
            </a:r>
            <a:r>
              <a:rPr b="1" i="0" lang="en-US" sz="1800" u="none" cap="none" strike="noStrike">
                <a:solidFill>
                  <a:schemeClr val="dk1"/>
                </a:solidFill>
                <a:latin typeface="Arial"/>
                <a:ea typeface="Arial"/>
                <a:cs typeface="Arial"/>
                <a:sym typeface="Arial"/>
              </a:rPr>
              <a:t> motiva; también previene el agotamiento.</a:t>
            </a:r>
            <a:endParaRPr b="0" i="0" sz="1800" u="none" cap="none" strike="noStrike">
              <a:solidFill>
                <a:srgbClr val="000000"/>
              </a:solidFill>
              <a:latin typeface="Arial"/>
              <a:ea typeface="Arial"/>
              <a:cs typeface="Arial"/>
              <a:sym typeface="Arial"/>
            </a:endParaRPr>
          </a:p>
        </p:txBody>
      </p:sp>
      <p:sp>
        <p:nvSpPr>
          <p:cNvPr id="539" name="Google Shape;539;p40"/>
          <p:cNvSpPr txBox="1"/>
          <p:nvPr/>
        </p:nvSpPr>
        <p:spPr>
          <a:xfrm>
            <a:off x="2705100" y="4147185"/>
            <a:ext cx="6800850" cy="197612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750"/>
              <a:buFont typeface="Arial"/>
              <a:buChar char="•"/>
            </a:pPr>
            <a:r>
              <a:rPr b="0" i="0" lang="en-US" sz="1750" u="none" cap="none" strike="noStrike">
                <a:solidFill>
                  <a:srgbClr val="000000"/>
                </a:solidFill>
                <a:latin typeface="Arial"/>
                <a:ea typeface="Arial"/>
                <a:cs typeface="Arial"/>
                <a:sym typeface="Arial"/>
              </a:rPr>
              <a:t>¿Qué acciones puedes proponer en tu empresa para fomentar una cultura de bienestar y reconocimiento?</a:t>
            </a:r>
            <a:endParaRPr b="0" i="0" sz="1750" u="none" cap="none" strike="noStrike">
              <a:solidFill>
                <a:srgbClr val="000000"/>
              </a:solidFill>
              <a:latin typeface="Arial"/>
              <a:ea typeface="Arial"/>
              <a:cs typeface="Arial"/>
              <a:sym typeface="Arial"/>
            </a:endParaRPr>
          </a:p>
          <a:p>
            <a:pPr indent="-174625" lvl="0" marL="285750" marR="0" rtl="0" algn="l">
              <a:lnSpc>
                <a:spcPct val="100000"/>
              </a:lnSpc>
              <a:spcBef>
                <a:spcPts val="0"/>
              </a:spcBef>
              <a:spcAft>
                <a:spcPts val="0"/>
              </a:spcAft>
              <a:buClr>
                <a:srgbClr val="000000"/>
              </a:buClr>
              <a:buSzPts val="1750"/>
              <a:buFont typeface="Arial"/>
              <a:buNone/>
            </a:pPr>
            <a:r>
              <a:t/>
            </a:r>
            <a:endParaRPr b="0" i="0" sz="175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750"/>
              <a:buFont typeface="Arial"/>
              <a:buChar char="•"/>
            </a:pPr>
            <a:r>
              <a:rPr b="0" i="0" lang="en-US" sz="1750" u="none" cap="none" strike="noStrike">
                <a:solidFill>
                  <a:srgbClr val="000000"/>
                </a:solidFill>
                <a:latin typeface="Arial"/>
                <a:ea typeface="Arial"/>
                <a:cs typeface="Arial"/>
                <a:sym typeface="Arial"/>
              </a:rPr>
              <a:t>Si eres líder ¿cómo reconoces a los miembros de tu equipo?</a:t>
            </a:r>
            <a:endParaRPr b="0" i="0" sz="1750" u="none" cap="none" strike="noStrike">
              <a:solidFill>
                <a:srgbClr val="000000"/>
              </a:solidFill>
              <a:latin typeface="Arial"/>
              <a:ea typeface="Arial"/>
              <a:cs typeface="Arial"/>
              <a:sym typeface="Arial"/>
            </a:endParaRPr>
          </a:p>
          <a:p>
            <a:pPr indent="-174625" lvl="0" marL="285750" marR="0" rtl="0" algn="l">
              <a:lnSpc>
                <a:spcPct val="100000"/>
              </a:lnSpc>
              <a:spcBef>
                <a:spcPts val="0"/>
              </a:spcBef>
              <a:spcAft>
                <a:spcPts val="0"/>
              </a:spcAft>
              <a:buClr>
                <a:srgbClr val="000000"/>
              </a:buClr>
              <a:buSzPts val="1750"/>
              <a:buFont typeface="Arial"/>
              <a:buNone/>
            </a:pPr>
            <a:r>
              <a:t/>
            </a:r>
            <a:endParaRPr b="0" i="0" sz="175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750"/>
              <a:buFont typeface="Arial"/>
              <a:buChar char="•"/>
            </a:pPr>
            <a:r>
              <a:rPr b="0" i="0" lang="en-US" sz="1750" u="none" cap="none" strike="noStrike">
                <a:solidFill>
                  <a:srgbClr val="000000"/>
                </a:solidFill>
                <a:latin typeface="Arial"/>
                <a:ea typeface="Arial"/>
                <a:cs typeface="Arial"/>
                <a:sym typeface="Arial"/>
              </a:rPr>
              <a:t>Si eres colaborador ¿participas en las encuestas y evaluaciones de clima laboral?</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1"/>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None/>
            </a:pPr>
            <a:r>
              <a:rPr b="1" i="0" lang="en-US" sz="2000" u="none" cap="none" strike="noStrike">
                <a:solidFill>
                  <a:schemeClr val="dk1"/>
                </a:solidFill>
                <a:latin typeface="Arial"/>
                <a:ea typeface="Arial"/>
                <a:cs typeface="Arial"/>
                <a:sym typeface="Arial"/>
              </a:rPr>
              <a:t>4.2. Comunicación empática y liderazgo saludable</a:t>
            </a:r>
            <a:endParaRPr b="1" i="0" sz="2000" u="none" cap="none" strike="noStrike">
              <a:solidFill>
                <a:schemeClr val="dk1"/>
              </a:solidFill>
              <a:latin typeface="Arial"/>
              <a:ea typeface="Arial"/>
              <a:cs typeface="Arial"/>
              <a:sym typeface="Arial"/>
            </a:endParaRPr>
          </a:p>
        </p:txBody>
      </p:sp>
      <p:sp>
        <p:nvSpPr>
          <p:cNvPr id="546" name="Google Shape;546;p41"/>
          <p:cNvSpPr txBox="1"/>
          <p:nvPr/>
        </p:nvSpPr>
        <p:spPr>
          <a:xfrm>
            <a:off x="1966595" y="1364615"/>
            <a:ext cx="8258810" cy="58483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El liderazgo es un factor determinante en la aparición o prevención del Burnout.</a:t>
            </a:r>
            <a:endParaRPr b="0" i="0" sz="1800" u="none" cap="none" strike="noStrike">
              <a:solidFill>
                <a:srgbClr val="000000"/>
              </a:solidFill>
              <a:latin typeface="Arial"/>
              <a:ea typeface="Arial"/>
              <a:cs typeface="Arial"/>
              <a:sym typeface="Arial"/>
            </a:endParaRPr>
          </a:p>
        </p:txBody>
      </p:sp>
      <p:sp>
        <p:nvSpPr>
          <p:cNvPr id="547" name="Google Shape;547;p41"/>
          <p:cNvSpPr txBox="1"/>
          <p:nvPr/>
        </p:nvSpPr>
        <p:spPr>
          <a:xfrm>
            <a:off x="972185" y="3411220"/>
            <a:ext cx="4877435" cy="1476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Un líder saludable no solo exige resultados, también escucha, equilibra y guía.</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Pero ¿cuáles son las características de un liderazgo que cuida?</a:t>
            </a:r>
            <a:endParaRPr b="0" i="0" sz="1800" u="none" cap="none" strike="noStrike">
              <a:solidFill>
                <a:srgbClr val="000000"/>
              </a:solidFill>
              <a:latin typeface="Arial"/>
              <a:ea typeface="Arial"/>
              <a:cs typeface="Arial"/>
              <a:sym typeface="Arial"/>
            </a:endParaRPr>
          </a:p>
        </p:txBody>
      </p:sp>
      <p:sp>
        <p:nvSpPr>
          <p:cNvPr id="548" name="Google Shape;548;p41"/>
          <p:cNvSpPr txBox="1"/>
          <p:nvPr/>
        </p:nvSpPr>
        <p:spPr>
          <a:xfrm>
            <a:off x="6356350" y="2455545"/>
            <a:ext cx="4660900" cy="341503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Mantiene canales de comunicación abiertos y respetuosos.</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Da retroalimentación constructiva, no solo correctiva.</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Reconoce esfuerzos, no solo resultados.</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Sabe detectar señales tempranas de agotamiento en su equipo.</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Promueve la autonomía y la confianza.</a:t>
            </a:r>
            <a:endParaRPr b="0" i="0" sz="1800" u="none" cap="none" strike="noStrike">
              <a:solidFill>
                <a:srgbClr val="000000"/>
              </a:solidFill>
              <a:latin typeface="Arial"/>
              <a:ea typeface="Arial"/>
              <a:cs typeface="Arial"/>
              <a:sym typeface="Arial"/>
            </a:endParaRPr>
          </a:p>
        </p:txBody>
      </p:sp>
      <p:sp>
        <p:nvSpPr>
          <p:cNvPr id="549" name="Google Shape;549;p41"/>
          <p:cNvSpPr/>
          <p:nvPr/>
        </p:nvSpPr>
        <p:spPr>
          <a:xfrm>
            <a:off x="5695950" y="2162175"/>
            <a:ext cx="800100" cy="3981450"/>
          </a:xfrm>
          <a:prstGeom prst="leftBrace">
            <a:avLst>
              <a:gd fmla="val 8333" name="adj1"/>
              <a:gd fmla="val 50000" name="adj2"/>
            </a:avLst>
          </a:prstGeom>
          <a:noFill/>
          <a:ln cap="flat" cmpd="sng" w="19050">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42"/>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None/>
            </a:pPr>
            <a:r>
              <a:rPr b="1" i="0" lang="en-US" sz="2000" u="none" cap="none" strike="noStrike">
                <a:solidFill>
                  <a:srgbClr val="A5A5A5"/>
                </a:solidFill>
                <a:latin typeface="Arial"/>
                <a:ea typeface="Arial"/>
                <a:cs typeface="Arial"/>
                <a:sym typeface="Arial"/>
              </a:rPr>
              <a:t>4.2. Comunicación empática y liderazgo saludable</a:t>
            </a:r>
            <a:endParaRPr b="1" i="0" sz="2000" u="none" cap="none" strike="noStrike">
              <a:solidFill>
                <a:srgbClr val="A5A5A5"/>
              </a:solidFill>
              <a:latin typeface="Arial"/>
              <a:ea typeface="Arial"/>
              <a:cs typeface="Arial"/>
              <a:sym typeface="Arial"/>
            </a:endParaRPr>
          </a:p>
        </p:txBody>
      </p:sp>
      <p:sp>
        <p:nvSpPr>
          <p:cNvPr id="556" name="Google Shape;556;p42"/>
          <p:cNvSpPr/>
          <p:nvPr/>
        </p:nvSpPr>
        <p:spPr>
          <a:xfrm>
            <a:off x="5020945" y="2240280"/>
            <a:ext cx="2150110" cy="521335"/>
          </a:xfrm>
          <a:prstGeom prst="roundRect">
            <a:avLst>
              <a:gd fmla="val 16667" name="adj"/>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Ejemplo</a:t>
            </a:r>
            <a:endParaRPr b="1" i="0" sz="1800" u="none" cap="none" strike="noStrike">
              <a:solidFill>
                <a:schemeClr val="lt1"/>
              </a:solidFill>
              <a:latin typeface="Arial"/>
              <a:ea typeface="Arial"/>
              <a:cs typeface="Arial"/>
              <a:sym typeface="Arial"/>
            </a:endParaRPr>
          </a:p>
        </p:txBody>
      </p:sp>
      <p:sp>
        <p:nvSpPr>
          <p:cNvPr id="557" name="Google Shape;557;p42"/>
          <p:cNvSpPr txBox="1"/>
          <p:nvPr/>
        </p:nvSpPr>
        <p:spPr>
          <a:xfrm>
            <a:off x="589280" y="1269365"/>
            <a:ext cx="5744210" cy="660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Haz Revisa el siguiente ejemplo:</a:t>
            </a:r>
            <a:endParaRPr b="0" i="0" sz="1800" u="none" cap="none" strike="noStrike">
              <a:solidFill>
                <a:srgbClr val="000000"/>
              </a:solidFill>
              <a:latin typeface="Arial"/>
              <a:ea typeface="Arial"/>
              <a:cs typeface="Arial"/>
              <a:sym typeface="Arial"/>
            </a:endParaRPr>
          </a:p>
        </p:txBody>
      </p:sp>
      <p:sp>
        <p:nvSpPr>
          <p:cNvPr id="558" name="Google Shape;558;p42"/>
          <p:cNvSpPr txBox="1"/>
          <p:nvPr/>
        </p:nvSpPr>
        <p:spPr>
          <a:xfrm>
            <a:off x="2279650" y="4176395"/>
            <a:ext cx="7669530" cy="119888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Escuchar y saber detectar las conductas de tu equipo también es liderar.</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Para fortalecer tus habilidades de liderazgo y comunicación, te invitamos a inscribirte en los cursos que GS1 México tiene para ti. </a:t>
            </a:r>
            <a:endParaRPr b="0" i="0" sz="1800" u="none" cap="none" strike="noStrike">
              <a:solidFill>
                <a:srgbClr val="000000"/>
              </a:solidFill>
              <a:latin typeface="Arial"/>
              <a:ea typeface="Arial"/>
              <a:cs typeface="Arial"/>
              <a:sym typeface="Arial"/>
            </a:endParaRPr>
          </a:p>
        </p:txBody>
      </p:sp>
      <p:sp>
        <p:nvSpPr>
          <p:cNvPr id="559" name="Google Shape;559;p42"/>
          <p:cNvSpPr/>
          <p:nvPr/>
        </p:nvSpPr>
        <p:spPr>
          <a:xfrm>
            <a:off x="1752600" y="3886200"/>
            <a:ext cx="8782050" cy="1810385"/>
          </a:xfrm>
          <a:prstGeom prst="rect">
            <a:avLst/>
          </a:prstGeom>
          <a:noFill/>
          <a:ln cap="flat" cmpd="sng" w="19050">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43"/>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None/>
            </a:pPr>
            <a:r>
              <a:rPr b="1" i="0" lang="en-US" sz="2000" u="none" cap="none" strike="noStrike">
                <a:solidFill>
                  <a:schemeClr val="dk1"/>
                </a:solidFill>
                <a:latin typeface="Arial"/>
                <a:ea typeface="Arial"/>
                <a:cs typeface="Arial"/>
                <a:sym typeface="Arial"/>
              </a:rPr>
              <a:t>4.3. Trabajo en equipo y apoyo entre colegas</a:t>
            </a:r>
            <a:endParaRPr b="1" i="0" sz="2000" u="none" cap="none" strike="noStrike">
              <a:solidFill>
                <a:schemeClr val="dk1"/>
              </a:solidFill>
              <a:latin typeface="Arial"/>
              <a:ea typeface="Arial"/>
              <a:cs typeface="Arial"/>
              <a:sym typeface="Arial"/>
            </a:endParaRPr>
          </a:p>
        </p:txBody>
      </p:sp>
      <p:sp>
        <p:nvSpPr>
          <p:cNvPr id="566" name="Google Shape;566;p43"/>
          <p:cNvSpPr txBox="1"/>
          <p:nvPr/>
        </p:nvSpPr>
        <p:spPr>
          <a:xfrm>
            <a:off x="2344420" y="1364615"/>
            <a:ext cx="7500620" cy="1854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Un entorno colaborativo protege contra el Burnout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porque crea redes de apoyo emocional y operativo.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Los equipos cohesionados se ayudan, comparten responsabilidades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y evitan que la carga recaiga siempre sobre las mismas personas.</a:t>
            </a:r>
            <a:endParaRPr b="0" i="0" sz="1800" u="none" cap="none" strike="noStrike">
              <a:solidFill>
                <a:srgbClr val="000000"/>
              </a:solidFill>
              <a:latin typeface="Arial"/>
              <a:ea typeface="Arial"/>
              <a:cs typeface="Arial"/>
              <a:sym typeface="Arial"/>
            </a:endParaRPr>
          </a:p>
        </p:txBody>
      </p:sp>
      <p:sp>
        <p:nvSpPr>
          <p:cNvPr id="567" name="Google Shape;567;p43"/>
          <p:cNvSpPr txBox="1"/>
          <p:nvPr/>
        </p:nvSpPr>
        <p:spPr>
          <a:xfrm>
            <a:off x="894080" y="3567430"/>
            <a:ext cx="2366010" cy="3073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833C0B"/>
                </a:solidFill>
                <a:latin typeface="Arial"/>
                <a:ea typeface="Arial"/>
                <a:cs typeface="Arial"/>
                <a:sym typeface="Arial"/>
              </a:rPr>
              <a:t>Haz clic en los botones.</a:t>
            </a:r>
            <a:endParaRPr b="0" i="1" sz="1400" u="none" cap="none" strike="noStrike">
              <a:solidFill>
                <a:srgbClr val="833C0B"/>
              </a:solidFill>
              <a:latin typeface="Arial"/>
              <a:ea typeface="Arial"/>
              <a:cs typeface="Arial"/>
              <a:sym typeface="Arial"/>
            </a:endParaRPr>
          </a:p>
        </p:txBody>
      </p:sp>
      <p:sp>
        <p:nvSpPr>
          <p:cNvPr id="568" name="Google Shape;568;p43"/>
          <p:cNvSpPr/>
          <p:nvPr/>
        </p:nvSpPr>
        <p:spPr>
          <a:xfrm>
            <a:off x="7456805" y="4373880"/>
            <a:ext cx="2740660" cy="806450"/>
          </a:xfrm>
          <a:prstGeom prst="roundRect">
            <a:avLst>
              <a:gd fmla="val 16667" name="adj"/>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Ejemplo</a:t>
            </a:r>
            <a:endParaRPr b="1" i="0" sz="1800" u="none" cap="none" strike="noStrike">
              <a:solidFill>
                <a:schemeClr val="lt1"/>
              </a:solidFill>
              <a:latin typeface="Arial"/>
              <a:ea typeface="Arial"/>
              <a:cs typeface="Arial"/>
              <a:sym typeface="Arial"/>
            </a:endParaRPr>
          </a:p>
        </p:txBody>
      </p:sp>
      <p:sp>
        <p:nvSpPr>
          <p:cNvPr id="569" name="Google Shape;569;p43"/>
          <p:cNvSpPr/>
          <p:nvPr/>
        </p:nvSpPr>
        <p:spPr>
          <a:xfrm>
            <a:off x="1964055" y="4356735"/>
            <a:ext cx="2740660" cy="806450"/>
          </a:xfrm>
          <a:prstGeom prst="roundRect">
            <a:avLst>
              <a:gd fmla="val 16667" name="adj"/>
            </a:avLst>
          </a:prstGeom>
          <a:solidFill>
            <a:srgbClr val="833C0B"/>
          </a:solidFill>
          <a:ln cap="flat" cmpd="sng" w="12700">
            <a:solidFill>
              <a:srgbClr val="F4B0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Prácticas saludables </a:t>
            </a:r>
            <a:endParaRPr b="1"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de equipo</a:t>
            </a:r>
            <a:endParaRPr b="1" i="0" sz="1800" u="none" cap="none" strike="noStrike">
              <a:solidFill>
                <a:schemeClr val="lt1"/>
              </a:solidFill>
              <a:latin typeface="Arial"/>
              <a:ea typeface="Arial"/>
              <a:cs typeface="Arial"/>
              <a:sym typeface="Arial"/>
            </a:endParaRPr>
          </a:p>
        </p:txBody>
      </p:sp>
      <p:cxnSp>
        <p:nvCxnSpPr>
          <p:cNvPr id="570" name="Google Shape;570;p43"/>
          <p:cNvCxnSpPr>
            <a:stCxn id="566" idx="2"/>
            <a:endCxn id="569" idx="3"/>
          </p:cNvCxnSpPr>
          <p:nvPr/>
        </p:nvCxnSpPr>
        <p:spPr>
          <a:xfrm rot="5400000">
            <a:off x="4629230" y="3294415"/>
            <a:ext cx="1541100" cy="1389900"/>
          </a:xfrm>
          <a:prstGeom prst="bentConnector2">
            <a:avLst/>
          </a:prstGeom>
          <a:noFill/>
          <a:ln cap="flat" cmpd="sng" w="19050">
            <a:solidFill>
              <a:srgbClr val="C55A11"/>
            </a:solidFill>
            <a:prstDash val="solid"/>
            <a:round/>
            <a:headEnd len="sm" w="sm" type="none"/>
            <a:tailEnd len="sm" w="sm" type="none"/>
          </a:ln>
        </p:spPr>
      </p:cxnSp>
      <p:cxnSp>
        <p:nvCxnSpPr>
          <p:cNvPr id="571" name="Google Shape;571;p43"/>
          <p:cNvCxnSpPr/>
          <p:nvPr/>
        </p:nvCxnSpPr>
        <p:spPr>
          <a:xfrm flipH="1" rot="-5400000">
            <a:off x="6045300" y="3288565"/>
            <a:ext cx="1519500" cy="1418100"/>
          </a:xfrm>
          <a:prstGeom prst="bentConnector2">
            <a:avLst/>
          </a:prstGeom>
          <a:noFill/>
          <a:ln cap="flat" cmpd="sng" w="19050">
            <a:solidFill>
              <a:srgbClr val="C55A11"/>
            </a:solidFill>
            <a:prstDash val="solid"/>
            <a:round/>
            <a:headEnd len="sm" w="sm" type="none"/>
            <a:tailEnd len="sm" w="sm" type="none"/>
          </a:ln>
        </p:spPr>
      </p:cxn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44"/>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None/>
            </a:pPr>
            <a:r>
              <a:rPr b="1" i="0" lang="en-US" sz="2000" u="none" cap="none" strike="noStrike">
                <a:solidFill>
                  <a:schemeClr val="dk1"/>
                </a:solidFill>
                <a:latin typeface="Arial"/>
                <a:ea typeface="Arial"/>
                <a:cs typeface="Arial"/>
                <a:sym typeface="Arial"/>
              </a:rPr>
              <a:t>4.4. Prácticas de organizaciones saludables.</a:t>
            </a:r>
            <a:endParaRPr b="1" i="0" sz="2000" u="none" cap="none" strike="noStrike">
              <a:solidFill>
                <a:schemeClr val="dk1"/>
              </a:solidFill>
              <a:latin typeface="Arial"/>
              <a:ea typeface="Arial"/>
              <a:cs typeface="Arial"/>
              <a:sym typeface="Arial"/>
            </a:endParaRPr>
          </a:p>
        </p:txBody>
      </p:sp>
      <p:sp>
        <p:nvSpPr>
          <p:cNvPr id="578" name="Google Shape;578;p44"/>
          <p:cNvSpPr txBox="1"/>
          <p:nvPr/>
        </p:nvSpPr>
        <p:spPr>
          <a:xfrm>
            <a:off x="836930" y="1174115"/>
            <a:ext cx="10497185" cy="149733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Las organizaciones que reducen los riesgos psicosociales aplican acciones concretas y medibles. Estas estrategias previenen el Burnout, además aumentan productividad, innovación y lealtad.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Algunos ejemplos de buenas prácticas de organizaciones saludables y que están alineadas al cumplimiento de la NOM-035-STPS son:</a:t>
            </a:r>
            <a:endParaRPr b="0" i="0" sz="1800" u="none" cap="none" strike="noStrike">
              <a:solidFill>
                <a:srgbClr val="000000"/>
              </a:solidFill>
              <a:latin typeface="Arial"/>
              <a:ea typeface="Arial"/>
              <a:cs typeface="Arial"/>
              <a:sym typeface="Arial"/>
            </a:endParaRPr>
          </a:p>
        </p:txBody>
      </p:sp>
      <p:sp>
        <p:nvSpPr>
          <p:cNvPr id="579" name="Google Shape;579;p44"/>
          <p:cNvSpPr/>
          <p:nvPr/>
        </p:nvSpPr>
        <p:spPr>
          <a:xfrm>
            <a:off x="5429250" y="3467100"/>
            <a:ext cx="1390650" cy="990600"/>
          </a:xfrm>
          <a:prstGeom prst="rect">
            <a:avLst/>
          </a:prstGeom>
          <a:noFill/>
          <a:ln cap="flat" cmpd="sng" w="19050">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0" name="Google Shape;580;p44"/>
          <p:cNvSpPr/>
          <p:nvPr/>
        </p:nvSpPr>
        <p:spPr>
          <a:xfrm>
            <a:off x="2527300" y="3429000"/>
            <a:ext cx="1390650" cy="990600"/>
          </a:xfrm>
          <a:prstGeom prst="rect">
            <a:avLst/>
          </a:prstGeom>
          <a:noFill/>
          <a:ln cap="flat" cmpd="sng" w="19050">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1" name="Google Shape;581;p44"/>
          <p:cNvSpPr/>
          <p:nvPr/>
        </p:nvSpPr>
        <p:spPr>
          <a:xfrm>
            <a:off x="8235950" y="3441700"/>
            <a:ext cx="1390650" cy="990600"/>
          </a:xfrm>
          <a:prstGeom prst="rect">
            <a:avLst/>
          </a:prstGeom>
          <a:noFill/>
          <a:ln cap="flat" cmpd="sng" w="19050">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2" name="Google Shape;582;p44"/>
          <p:cNvSpPr txBox="1"/>
          <p:nvPr/>
        </p:nvSpPr>
        <p:spPr>
          <a:xfrm>
            <a:off x="8609330" y="2671445"/>
            <a:ext cx="2366010" cy="30734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1" lang="en-US" sz="1400" u="none" cap="none" strike="noStrike">
                <a:solidFill>
                  <a:srgbClr val="833C0B"/>
                </a:solidFill>
                <a:latin typeface="Arial"/>
                <a:ea typeface="Arial"/>
                <a:cs typeface="Arial"/>
                <a:sym typeface="Arial"/>
              </a:rPr>
              <a:t>Haz clic encada imagen.</a:t>
            </a:r>
            <a:endParaRPr b="0" i="1" sz="1400" u="none" cap="none" strike="noStrike">
              <a:solidFill>
                <a:srgbClr val="833C0B"/>
              </a:solidFill>
              <a:latin typeface="Arial"/>
              <a:ea typeface="Arial"/>
              <a:cs typeface="Arial"/>
              <a:sym typeface="Arial"/>
            </a:endParaRPr>
          </a:p>
        </p:txBody>
      </p:sp>
      <p:sp>
        <p:nvSpPr>
          <p:cNvPr id="583" name="Google Shape;583;p44"/>
          <p:cNvSpPr/>
          <p:nvPr/>
        </p:nvSpPr>
        <p:spPr>
          <a:xfrm>
            <a:off x="4044950" y="4870450"/>
            <a:ext cx="1390650" cy="990600"/>
          </a:xfrm>
          <a:prstGeom prst="rect">
            <a:avLst/>
          </a:prstGeom>
          <a:noFill/>
          <a:ln cap="flat" cmpd="sng" w="19050">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4" name="Google Shape;584;p44"/>
          <p:cNvSpPr/>
          <p:nvPr/>
        </p:nvSpPr>
        <p:spPr>
          <a:xfrm>
            <a:off x="1143000" y="4832350"/>
            <a:ext cx="1390650" cy="990600"/>
          </a:xfrm>
          <a:prstGeom prst="rect">
            <a:avLst/>
          </a:prstGeom>
          <a:noFill/>
          <a:ln cap="flat" cmpd="sng" w="19050">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5" name="Google Shape;585;p44"/>
          <p:cNvSpPr/>
          <p:nvPr/>
        </p:nvSpPr>
        <p:spPr>
          <a:xfrm>
            <a:off x="6851650" y="4845050"/>
            <a:ext cx="1390650" cy="990600"/>
          </a:xfrm>
          <a:prstGeom prst="rect">
            <a:avLst/>
          </a:prstGeom>
          <a:noFill/>
          <a:ln cap="flat" cmpd="sng" w="19050">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6" name="Google Shape;586;p44"/>
          <p:cNvSpPr/>
          <p:nvPr/>
        </p:nvSpPr>
        <p:spPr>
          <a:xfrm>
            <a:off x="9658350" y="4895850"/>
            <a:ext cx="1390650" cy="990600"/>
          </a:xfrm>
          <a:prstGeom prst="rect">
            <a:avLst/>
          </a:prstGeom>
          <a:noFill/>
          <a:ln cap="flat" cmpd="sng" w="19050">
            <a:solidFill>
              <a:srgbClr val="C55A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7" name="Google Shape;587;p44"/>
          <p:cNvSpPr txBox="1"/>
          <p:nvPr/>
        </p:nvSpPr>
        <p:spPr>
          <a:xfrm>
            <a:off x="9733280" y="5202555"/>
            <a:ext cx="1261745" cy="35623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1" lang="en-US" sz="1200" u="none" cap="none" strike="noStrike">
                <a:solidFill>
                  <a:srgbClr val="000000"/>
                </a:solidFill>
                <a:latin typeface="Roboto"/>
                <a:ea typeface="Roboto"/>
                <a:cs typeface="Roboto"/>
                <a:sym typeface="Roboto"/>
              </a:rPr>
              <a:t>ÍCONO-BOTÓN 7</a:t>
            </a:r>
            <a:endParaRPr b="0" i="1" sz="1200" u="none" cap="none" strike="noStrike">
              <a:solidFill>
                <a:srgbClr val="000000"/>
              </a:solidFill>
              <a:latin typeface="Roboto"/>
              <a:ea typeface="Roboto"/>
              <a:cs typeface="Roboto"/>
              <a:sym typeface="Roboto"/>
            </a:endParaRPr>
          </a:p>
        </p:txBody>
      </p:sp>
      <p:sp>
        <p:nvSpPr>
          <p:cNvPr id="588" name="Google Shape;588;p44"/>
          <p:cNvSpPr txBox="1"/>
          <p:nvPr/>
        </p:nvSpPr>
        <p:spPr>
          <a:xfrm>
            <a:off x="6916420" y="5149215"/>
            <a:ext cx="1261745" cy="35623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1" lang="en-US" sz="1200" u="none" cap="none" strike="noStrike">
                <a:solidFill>
                  <a:srgbClr val="000000"/>
                </a:solidFill>
                <a:latin typeface="Roboto"/>
                <a:ea typeface="Roboto"/>
                <a:cs typeface="Roboto"/>
                <a:sym typeface="Roboto"/>
              </a:rPr>
              <a:t>ÍCONO-BOTÓN 6</a:t>
            </a:r>
            <a:endParaRPr b="0" i="1" sz="1200" u="none" cap="none" strike="noStrike">
              <a:solidFill>
                <a:srgbClr val="000000"/>
              </a:solidFill>
              <a:latin typeface="Roboto"/>
              <a:ea typeface="Roboto"/>
              <a:cs typeface="Roboto"/>
              <a:sym typeface="Roboto"/>
            </a:endParaRPr>
          </a:p>
        </p:txBody>
      </p:sp>
      <p:sp>
        <p:nvSpPr>
          <p:cNvPr id="589" name="Google Shape;589;p44"/>
          <p:cNvSpPr txBox="1"/>
          <p:nvPr/>
        </p:nvSpPr>
        <p:spPr>
          <a:xfrm>
            <a:off x="4173855" y="5149215"/>
            <a:ext cx="1261745" cy="35623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1" lang="en-US" sz="1200" u="none" cap="none" strike="noStrike">
                <a:solidFill>
                  <a:srgbClr val="000000"/>
                </a:solidFill>
                <a:latin typeface="Roboto"/>
                <a:ea typeface="Roboto"/>
                <a:cs typeface="Roboto"/>
                <a:sym typeface="Roboto"/>
              </a:rPr>
              <a:t>ÍCONO-BOTÓN 5</a:t>
            </a:r>
            <a:endParaRPr b="0" i="1" sz="1200" u="none" cap="none" strike="noStrike">
              <a:solidFill>
                <a:srgbClr val="000000"/>
              </a:solidFill>
              <a:latin typeface="Roboto"/>
              <a:ea typeface="Roboto"/>
              <a:cs typeface="Roboto"/>
              <a:sym typeface="Roboto"/>
            </a:endParaRPr>
          </a:p>
        </p:txBody>
      </p:sp>
      <p:sp>
        <p:nvSpPr>
          <p:cNvPr id="590" name="Google Shape;590;p44"/>
          <p:cNvSpPr txBox="1"/>
          <p:nvPr/>
        </p:nvSpPr>
        <p:spPr>
          <a:xfrm>
            <a:off x="1180465" y="5149215"/>
            <a:ext cx="1261745" cy="35623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1" lang="en-US" sz="1200" u="none" cap="none" strike="noStrike">
                <a:solidFill>
                  <a:srgbClr val="000000"/>
                </a:solidFill>
                <a:latin typeface="Roboto"/>
                <a:ea typeface="Roboto"/>
                <a:cs typeface="Roboto"/>
                <a:sym typeface="Roboto"/>
              </a:rPr>
              <a:t>ÍCONO-BOTÓN 4</a:t>
            </a:r>
            <a:endParaRPr b="0" i="1" sz="1200" u="none" cap="none" strike="noStrike">
              <a:solidFill>
                <a:srgbClr val="000000"/>
              </a:solidFill>
              <a:latin typeface="Roboto"/>
              <a:ea typeface="Roboto"/>
              <a:cs typeface="Roboto"/>
              <a:sym typeface="Roboto"/>
            </a:endParaRPr>
          </a:p>
        </p:txBody>
      </p:sp>
      <p:sp>
        <p:nvSpPr>
          <p:cNvPr id="591" name="Google Shape;591;p44"/>
          <p:cNvSpPr txBox="1"/>
          <p:nvPr/>
        </p:nvSpPr>
        <p:spPr>
          <a:xfrm>
            <a:off x="2560320" y="3745865"/>
            <a:ext cx="1261745" cy="35623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1" lang="en-US" sz="1200" u="none" cap="none" strike="noStrike">
                <a:solidFill>
                  <a:srgbClr val="000000"/>
                </a:solidFill>
                <a:latin typeface="Roboto"/>
                <a:ea typeface="Roboto"/>
                <a:cs typeface="Roboto"/>
                <a:sym typeface="Roboto"/>
              </a:rPr>
              <a:t>ÍCONO-BOTÓN 1</a:t>
            </a:r>
            <a:endParaRPr b="0" i="1" sz="1200" u="none" cap="none" strike="noStrike">
              <a:solidFill>
                <a:srgbClr val="000000"/>
              </a:solidFill>
              <a:latin typeface="Roboto"/>
              <a:ea typeface="Roboto"/>
              <a:cs typeface="Roboto"/>
              <a:sym typeface="Roboto"/>
            </a:endParaRPr>
          </a:p>
        </p:txBody>
      </p:sp>
      <p:sp>
        <p:nvSpPr>
          <p:cNvPr id="592" name="Google Shape;592;p44"/>
          <p:cNvSpPr txBox="1"/>
          <p:nvPr/>
        </p:nvSpPr>
        <p:spPr>
          <a:xfrm>
            <a:off x="5492115" y="3745865"/>
            <a:ext cx="1261745" cy="35623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1" lang="en-US" sz="1200" u="none" cap="none" strike="noStrike">
                <a:solidFill>
                  <a:srgbClr val="000000"/>
                </a:solidFill>
                <a:latin typeface="Roboto"/>
                <a:ea typeface="Roboto"/>
                <a:cs typeface="Roboto"/>
                <a:sym typeface="Roboto"/>
              </a:rPr>
              <a:t>ÍCONO-BOTÓN 2</a:t>
            </a:r>
            <a:endParaRPr b="0" i="1" sz="1200" u="none" cap="none" strike="noStrike">
              <a:solidFill>
                <a:srgbClr val="000000"/>
              </a:solidFill>
              <a:latin typeface="Roboto"/>
              <a:ea typeface="Roboto"/>
              <a:cs typeface="Roboto"/>
              <a:sym typeface="Roboto"/>
            </a:endParaRPr>
          </a:p>
        </p:txBody>
      </p:sp>
      <p:sp>
        <p:nvSpPr>
          <p:cNvPr id="593" name="Google Shape;593;p44"/>
          <p:cNvSpPr txBox="1"/>
          <p:nvPr/>
        </p:nvSpPr>
        <p:spPr>
          <a:xfrm>
            <a:off x="8302625" y="3745865"/>
            <a:ext cx="1261745" cy="35623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1" lang="en-US" sz="1200" u="none" cap="none" strike="noStrike">
                <a:solidFill>
                  <a:srgbClr val="000000"/>
                </a:solidFill>
                <a:latin typeface="Roboto"/>
                <a:ea typeface="Roboto"/>
                <a:cs typeface="Roboto"/>
                <a:sym typeface="Roboto"/>
              </a:rPr>
              <a:t>ÍCONO-BOTÓN 3</a:t>
            </a:r>
            <a:endParaRPr b="0" i="1" sz="1200" u="none" cap="none" strike="noStrike">
              <a:solidFill>
                <a:srgbClr val="000000"/>
              </a:solidFill>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45"/>
          <p:cNvSpPr txBox="1"/>
          <p:nvPr/>
        </p:nvSpPr>
        <p:spPr>
          <a:xfrm>
            <a:off x="0" y="406400"/>
            <a:ext cx="12192000" cy="419100"/>
          </a:xfrm>
          <a:prstGeom prst="rect">
            <a:avLst/>
          </a:prstGeom>
          <a:noFill/>
          <a:ln>
            <a:noFill/>
          </a:ln>
        </p:spPr>
        <p:txBody>
          <a:bodyPr anchorCtr="0" anchor="t" bIns="45700" lIns="91425" spcFirstLastPara="1" rIns="91425" wrap="square" tIns="45700">
            <a:spAutoFit/>
          </a:bodyPr>
          <a:lstStyle/>
          <a:p>
            <a:pPr indent="457200" lvl="0" marL="0" marR="0" rtl="0" algn="l">
              <a:lnSpc>
                <a:spcPct val="107000"/>
              </a:lnSpc>
              <a:spcBef>
                <a:spcPts val="0"/>
              </a:spcBef>
              <a:spcAft>
                <a:spcPts val="0"/>
              </a:spcAft>
              <a:buNone/>
            </a:pPr>
            <a:r>
              <a:rPr b="1" i="0" lang="en-US" sz="2000" u="none" cap="none" strike="noStrike">
                <a:solidFill>
                  <a:srgbClr val="A5A5A5"/>
                </a:solidFill>
                <a:latin typeface="Arial"/>
                <a:ea typeface="Arial"/>
                <a:cs typeface="Arial"/>
                <a:sym typeface="Arial"/>
              </a:rPr>
              <a:t>4.4. Prácticas de organizaciones saludables.</a:t>
            </a:r>
            <a:endParaRPr b="1" i="0" sz="2000" u="none" cap="none" strike="noStrike">
              <a:solidFill>
                <a:srgbClr val="A5A5A5"/>
              </a:solidFill>
              <a:latin typeface="Arial"/>
              <a:ea typeface="Arial"/>
              <a:cs typeface="Arial"/>
              <a:sym typeface="Arial"/>
            </a:endParaRPr>
          </a:p>
        </p:txBody>
      </p:sp>
      <p:sp>
        <p:nvSpPr>
          <p:cNvPr id="600" name="Google Shape;600;p45"/>
          <p:cNvSpPr txBox="1"/>
          <p:nvPr/>
        </p:nvSpPr>
        <p:spPr>
          <a:xfrm>
            <a:off x="1846580" y="1078865"/>
            <a:ext cx="8497570" cy="393509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Concluyendo:</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El bienestar organizacional no depende solo del individuo, sino de cómo trabaja la organización como sistema.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La prevención del Burnout requiere un entorno donde líderes y colaboradores contribuyan activamente para cuidar su energía, sus relaciones y su propósito.</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Un ambiente laboral saludable no se construye con discursos, sino con decisiones diarias que cuidan a las personas.</a:t>
            </a:r>
            <a:endParaRPr b="0" i="0" sz="1800" u="none" cap="none" strike="noStrike">
              <a:solidFill>
                <a:srgbClr val="000000"/>
              </a:solidFill>
              <a:latin typeface="Arial"/>
              <a:ea typeface="Arial"/>
              <a:cs typeface="Arial"/>
              <a:sym typeface="Arial"/>
            </a:endParaRPr>
          </a:p>
        </p:txBody>
      </p:sp>
      <p:pic>
        <p:nvPicPr>
          <p:cNvPr id="601" name="Google Shape;601;p45"/>
          <p:cNvPicPr preferRelativeResize="0"/>
          <p:nvPr/>
        </p:nvPicPr>
        <p:blipFill rotWithShape="1">
          <a:blip r:embed="rId3">
            <a:alphaModFix/>
          </a:blip>
          <a:srcRect b="24111" l="30694" r="28194" t="11944"/>
          <a:stretch/>
        </p:blipFill>
        <p:spPr>
          <a:xfrm>
            <a:off x="10620375" y="1581150"/>
            <a:ext cx="876300" cy="1185545"/>
          </a:xfrm>
          <a:prstGeom prst="rect">
            <a:avLst/>
          </a:prstGeom>
          <a:noFill/>
          <a:ln>
            <a:noFill/>
          </a:ln>
        </p:spPr>
      </p:pic>
      <p:pic>
        <p:nvPicPr>
          <p:cNvPr id="602" name="Google Shape;602;p45"/>
          <p:cNvPicPr preferRelativeResize="0"/>
          <p:nvPr/>
        </p:nvPicPr>
        <p:blipFill rotWithShape="1">
          <a:blip r:embed="rId4">
            <a:alphaModFix/>
          </a:blip>
          <a:srcRect b="6223" l="74347" r="6490" t="48845"/>
          <a:stretch/>
        </p:blipFill>
        <p:spPr>
          <a:xfrm>
            <a:off x="417195" y="3632200"/>
            <a:ext cx="924560" cy="1409700"/>
          </a:xfrm>
          <a:prstGeom prst="rect">
            <a:avLst/>
          </a:prstGeom>
          <a:noFill/>
          <a:ln>
            <a:noFill/>
          </a:ln>
        </p:spPr>
      </p:pic>
      <p:pic>
        <p:nvPicPr>
          <p:cNvPr id="603" name="Google Shape;603;p45"/>
          <p:cNvPicPr preferRelativeResize="0"/>
          <p:nvPr/>
        </p:nvPicPr>
        <p:blipFill rotWithShape="1">
          <a:blip r:embed="rId4">
            <a:alphaModFix/>
          </a:blip>
          <a:srcRect b="51762" l="69609" r="6490" t="6949"/>
          <a:stretch/>
        </p:blipFill>
        <p:spPr>
          <a:xfrm>
            <a:off x="417195" y="1581150"/>
            <a:ext cx="1153160" cy="1295400"/>
          </a:xfrm>
          <a:prstGeom prst="rect">
            <a:avLst/>
          </a:prstGeom>
          <a:noFill/>
          <a:ln>
            <a:noFill/>
          </a:ln>
        </p:spPr>
      </p:pic>
      <p:pic>
        <p:nvPicPr>
          <p:cNvPr id="604" name="Google Shape;604;p45"/>
          <p:cNvPicPr preferRelativeResize="0"/>
          <p:nvPr/>
        </p:nvPicPr>
        <p:blipFill rotWithShape="1">
          <a:blip r:embed="rId4">
            <a:alphaModFix/>
          </a:blip>
          <a:srcRect b="6223" l="6803" r="70296" t="48845"/>
          <a:stretch/>
        </p:blipFill>
        <p:spPr>
          <a:xfrm>
            <a:off x="2943225" y="5267325"/>
            <a:ext cx="1104900" cy="1409700"/>
          </a:xfrm>
          <a:prstGeom prst="rect">
            <a:avLst/>
          </a:prstGeom>
          <a:noFill/>
          <a:ln>
            <a:noFill/>
          </a:ln>
        </p:spPr>
      </p:pic>
      <p:pic>
        <p:nvPicPr>
          <p:cNvPr id="605" name="Google Shape;605;p45"/>
          <p:cNvPicPr preferRelativeResize="0"/>
          <p:nvPr/>
        </p:nvPicPr>
        <p:blipFill rotWithShape="1">
          <a:blip r:embed="rId4">
            <a:alphaModFix/>
          </a:blip>
          <a:srcRect b="11890" l="54973" r="26864" t="48845"/>
          <a:stretch/>
        </p:blipFill>
        <p:spPr>
          <a:xfrm>
            <a:off x="10620375" y="4159250"/>
            <a:ext cx="876300" cy="1231900"/>
          </a:xfrm>
          <a:prstGeom prst="rect">
            <a:avLst/>
          </a:prstGeom>
          <a:noFill/>
          <a:ln>
            <a:noFill/>
          </a:ln>
        </p:spPr>
      </p:pic>
      <p:pic>
        <p:nvPicPr>
          <p:cNvPr id="606" name="Google Shape;606;p45"/>
          <p:cNvPicPr preferRelativeResize="0"/>
          <p:nvPr/>
        </p:nvPicPr>
        <p:blipFill rotWithShape="1">
          <a:blip r:embed="rId4">
            <a:alphaModFix/>
          </a:blip>
          <a:srcRect b="6223" l="34902" r="43447" t="48845"/>
          <a:stretch/>
        </p:blipFill>
        <p:spPr>
          <a:xfrm>
            <a:off x="7804150" y="5267325"/>
            <a:ext cx="1044575" cy="1409700"/>
          </a:xfrm>
          <a:prstGeom prst="rect">
            <a:avLst/>
          </a:prstGeom>
          <a:noFill/>
          <a:ln>
            <a:noFill/>
          </a:ln>
        </p:spPr>
      </p:pic>
      <p:pic>
        <p:nvPicPr>
          <p:cNvPr id="607" name="Google Shape;607;p45"/>
          <p:cNvPicPr preferRelativeResize="0"/>
          <p:nvPr/>
        </p:nvPicPr>
        <p:blipFill rotWithShape="1">
          <a:blip r:embed="rId4">
            <a:alphaModFix/>
          </a:blip>
          <a:srcRect b="52572" l="10356" r="75429" t="11604"/>
          <a:stretch/>
        </p:blipFill>
        <p:spPr>
          <a:xfrm>
            <a:off x="5752465" y="5553075"/>
            <a:ext cx="685800" cy="11239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46"/>
          <p:cNvSpPr txBox="1"/>
          <p:nvPr/>
        </p:nvSpPr>
        <p:spPr>
          <a:xfrm>
            <a:off x="-635" y="1580515"/>
            <a:ext cx="12179935" cy="98298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000"/>
              <a:buFont typeface="Arial"/>
              <a:buNone/>
            </a:pPr>
            <a:r>
              <a:rPr b="1" i="0" lang="en-US" sz="4400" u="none" cap="none" strike="noStrike">
                <a:solidFill>
                  <a:schemeClr val="dk1"/>
                </a:solidFill>
                <a:latin typeface="Arial"/>
                <a:ea typeface="Arial"/>
                <a:cs typeface="Arial"/>
                <a:sym typeface="Arial"/>
              </a:rPr>
              <a:t>Cierre del curso</a:t>
            </a:r>
            <a:endParaRPr b="1" i="0" sz="4400" u="none" cap="none" strike="noStrike">
              <a:solidFill>
                <a:schemeClr val="dk1"/>
              </a:solidFill>
              <a:latin typeface="Arial"/>
              <a:ea typeface="Arial"/>
              <a:cs typeface="Arial"/>
              <a:sym typeface="Arial"/>
            </a:endParaRPr>
          </a:p>
        </p:txBody>
      </p:sp>
      <p:grpSp>
        <p:nvGrpSpPr>
          <p:cNvPr id="614" name="Google Shape;614;p46"/>
          <p:cNvGrpSpPr/>
          <p:nvPr/>
        </p:nvGrpSpPr>
        <p:grpSpPr>
          <a:xfrm>
            <a:off x="171450" y="3467100"/>
            <a:ext cx="11819890" cy="1749425"/>
            <a:chOff x="990" y="5460"/>
            <a:chExt cx="18614" cy="2755"/>
          </a:xfrm>
        </p:grpSpPr>
        <p:pic>
          <p:nvPicPr>
            <p:cNvPr descr="001_Burnout_GS1" id="615" name="Google Shape;615;p46"/>
            <p:cNvPicPr preferRelativeResize="0"/>
            <p:nvPr/>
          </p:nvPicPr>
          <p:blipFill rotWithShape="1">
            <a:blip r:embed="rId3">
              <a:alphaModFix/>
            </a:blip>
            <a:srcRect b="0" l="0" r="0" t="0"/>
            <a:stretch/>
          </p:blipFill>
          <p:spPr>
            <a:xfrm>
              <a:off x="990" y="5490"/>
              <a:ext cx="3963" cy="2643"/>
            </a:xfrm>
            <a:prstGeom prst="rect">
              <a:avLst/>
            </a:prstGeom>
            <a:noFill/>
            <a:ln>
              <a:noFill/>
            </a:ln>
          </p:spPr>
        </p:pic>
        <p:pic>
          <p:nvPicPr>
            <p:cNvPr descr="002_Burnout_GS1" id="616" name="Google Shape;616;p46"/>
            <p:cNvPicPr preferRelativeResize="0"/>
            <p:nvPr/>
          </p:nvPicPr>
          <p:blipFill rotWithShape="1">
            <a:blip r:embed="rId4">
              <a:alphaModFix/>
            </a:blip>
            <a:srcRect b="0" l="1297" r="0" t="0"/>
            <a:stretch/>
          </p:blipFill>
          <p:spPr>
            <a:xfrm>
              <a:off x="7572" y="5460"/>
              <a:ext cx="4033" cy="2725"/>
            </a:xfrm>
            <a:prstGeom prst="rect">
              <a:avLst/>
            </a:prstGeom>
            <a:noFill/>
            <a:ln>
              <a:noFill/>
            </a:ln>
          </p:spPr>
        </p:pic>
        <p:pic>
          <p:nvPicPr>
            <p:cNvPr descr="003_Burnout_GS1" id="617" name="Google Shape;617;p46"/>
            <p:cNvPicPr preferRelativeResize="0"/>
            <p:nvPr/>
          </p:nvPicPr>
          <p:blipFill rotWithShape="1">
            <a:blip r:embed="rId5">
              <a:alphaModFix/>
            </a:blip>
            <a:srcRect b="21242" l="0" r="0" t="10784"/>
            <a:stretch/>
          </p:blipFill>
          <p:spPr>
            <a:xfrm>
              <a:off x="4923" y="5485"/>
              <a:ext cx="2656" cy="2709"/>
            </a:xfrm>
            <a:prstGeom prst="rect">
              <a:avLst/>
            </a:prstGeom>
            <a:noFill/>
            <a:ln>
              <a:noFill/>
            </a:ln>
          </p:spPr>
        </p:pic>
        <p:pic>
          <p:nvPicPr>
            <p:cNvPr descr="004_Burnout_GS1" id="618" name="Google Shape;618;p46"/>
            <p:cNvPicPr preferRelativeResize="0"/>
            <p:nvPr/>
          </p:nvPicPr>
          <p:blipFill rotWithShape="1">
            <a:blip r:embed="rId6">
              <a:alphaModFix/>
            </a:blip>
            <a:srcRect b="0" l="0" r="0" t="0"/>
            <a:stretch/>
          </p:blipFill>
          <p:spPr>
            <a:xfrm>
              <a:off x="15578" y="5511"/>
              <a:ext cx="4026" cy="2685"/>
            </a:xfrm>
            <a:prstGeom prst="rect">
              <a:avLst/>
            </a:prstGeom>
            <a:noFill/>
            <a:ln>
              <a:noFill/>
            </a:ln>
          </p:spPr>
        </p:pic>
        <p:pic>
          <p:nvPicPr>
            <p:cNvPr descr="005_Burnout_GS1" id="619" name="Google Shape;619;p46"/>
            <p:cNvPicPr preferRelativeResize="0"/>
            <p:nvPr/>
          </p:nvPicPr>
          <p:blipFill rotWithShape="1">
            <a:blip r:embed="rId7">
              <a:alphaModFix/>
            </a:blip>
            <a:srcRect b="0" l="371" r="222" t="0"/>
            <a:stretch/>
          </p:blipFill>
          <p:spPr>
            <a:xfrm>
              <a:off x="11575" y="5511"/>
              <a:ext cx="4024" cy="2704"/>
            </a:xfrm>
            <a:prstGeom prst="rect">
              <a:avLst/>
            </a:prstGeom>
            <a:noFill/>
            <a:ln>
              <a:noFill/>
            </a:ln>
          </p:spPr>
        </p:pic>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47"/>
          <p:cNvSpPr txBox="1"/>
          <p:nvPr/>
        </p:nvSpPr>
        <p:spPr>
          <a:xfrm>
            <a:off x="3074035" y="1977390"/>
            <a:ext cx="6073140" cy="682625"/>
          </a:xfrm>
          <a:prstGeom prst="rect">
            <a:avLst/>
          </a:prstGeom>
          <a:noFill/>
          <a:ln>
            <a:noFill/>
          </a:ln>
        </p:spPr>
        <p:txBody>
          <a:bodyPr anchorCtr="0" anchor="t" bIns="45700" lIns="91425" spcFirstLastPara="1" rIns="91425" wrap="square" tIns="45700">
            <a:spAutoFit/>
          </a:bodyPr>
          <a:lstStyle/>
          <a:p>
            <a:pPr indent="0" lvl="0" marL="0" marR="0" rtl="0" algn="ctr">
              <a:lnSpc>
                <a:spcPct val="107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Hemos llegado al final del curso, no sin antes hacer un repaso muy general; para ello, revisa el siguiente video. </a:t>
            </a:r>
            <a:endParaRPr b="0" i="0" sz="1800" u="none" cap="none" strike="noStrike">
              <a:solidFill>
                <a:srgbClr val="000000"/>
              </a:solidFill>
              <a:latin typeface="Arial"/>
              <a:ea typeface="Arial"/>
              <a:cs typeface="Arial"/>
              <a:sym typeface="Arial"/>
            </a:endParaRPr>
          </a:p>
        </p:txBody>
      </p:sp>
      <p:pic>
        <p:nvPicPr>
          <p:cNvPr id="626" name="Google Shape;626;p47"/>
          <p:cNvPicPr preferRelativeResize="0"/>
          <p:nvPr/>
        </p:nvPicPr>
        <p:blipFill rotWithShape="1">
          <a:blip r:embed="rId3">
            <a:alphaModFix/>
          </a:blip>
          <a:srcRect b="22592" l="22491" r="22694" t="22491"/>
          <a:stretch/>
        </p:blipFill>
        <p:spPr>
          <a:xfrm>
            <a:off x="5184140" y="2962910"/>
            <a:ext cx="1677035" cy="1327785"/>
          </a:xfrm>
          <a:prstGeom prst="rect">
            <a:avLst/>
          </a:prstGeom>
          <a:noFill/>
          <a:ln>
            <a:noFill/>
          </a:ln>
        </p:spPr>
      </p:pic>
      <p:sp>
        <p:nvSpPr>
          <p:cNvPr id="627" name="Google Shape;627;p47"/>
          <p:cNvSpPr txBox="1"/>
          <p:nvPr/>
        </p:nvSpPr>
        <p:spPr>
          <a:xfrm>
            <a:off x="359410" y="314325"/>
            <a:ext cx="9115425" cy="490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C55A11"/>
                </a:solidFill>
                <a:latin typeface="Arial"/>
                <a:ea typeface="Arial"/>
                <a:cs typeface="Arial"/>
                <a:sym typeface="Arial"/>
              </a:rPr>
              <a:t>Cierre del curso</a:t>
            </a:r>
            <a:endParaRPr b="1" i="0" sz="2600" u="none" cap="none" strike="noStrike">
              <a:solidFill>
                <a:srgbClr val="C55A1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48"/>
          <p:cNvSpPr txBox="1"/>
          <p:nvPr/>
        </p:nvSpPr>
        <p:spPr>
          <a:xfrm>
            <a:off x="591185" y="426720"/>
            <a:ext cx="6361430" cy="4591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Arial"/>
                <a:ea typeface="Arial"/>
                <a:cs typeface="Arial"/>
                <a:sym typeface="Arial"/>
              </a:rPr>
              <a:t>Evaluación final </a:t>
            </a:r>
            <a:endParaRPr b="1" i="0" sz="2400" u="none" cap="none" strike="noStrike">
              <a:solidFill>
                <a:srgbClr val="C55A11"/>
              </a:solidFill>
              <a:latin typeface="Arial"/>
              <a:ea typeface="Arial"/>
              <a:cs typeface="Arial"/>
              <a:sym typeface="Arial"/>
            </a:endParaRPr>
          </a:p>
        </p:txBody>
      </p:sp>
      <p:sp>
        <p:nvSpPr>
          <p:cNvPr id="634" name="Google Shape;634;p48"/>
          <p:cNvSpPr txBox="1"/>
          <p:nvPr/>
        </p:nvSpPr>
        <p:spPr>
          <a:xfrm>
            <a:off x="2049780" y="1612265"/>
            <a:ext cx="8212455" cy="10490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Finalmente, te invitamos a realizar la evaluación final del curso para demostrar los conocimientos adquiridos y llevarlos a la práctica en tu día a día laboral, fortaleciendo tu bienestar y tu desempeño profesional.</a:t>
            </a:r>
            <a:endParaRPr b="0" i="0" sz="2000" u="none" cap="none" strike="noStrike">
              <a:solidFill>
                <a:srgbClr val="000000"/>
              </a:solidFill>
              <a:latin typeface="Arial"/>
              <a:ea typeface="Arial"/>
              <a:cs typeface="Arial"/>
              <a:sym typeface="Arial"/>
            </a:endParaRPr>
          </a:p>
        </p:txBody>
      </p:sp>
      <p:sp>
        <p:nvSpPr>
          <p:cNvPr id="635" name="Google Shape;635;p48"/>
          <p:cNvSpPr txBox="1"/>
          <p:nvPr/>
        </p:nvSpPr>
        <p:spPr>
          <a:xfrm>
            <a:off x="2075815" y="3404870"/>
            <a:ext cx="2200910" cy="3073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2E75B5"/>
                </a:solidFill>
                <a:latin typeface="Arial"/>
                <a:ea typeface="Arial"/>
                <a:cs typeface="Arial"/>
                <a:sym typeface="Arial"/>
              </a:rPr>
              <a:t>Haz clic en el ícono.</a:t>
            </a:r>
            <a:endParaRPr b="0" i="1" sz="1400" u="none" cap="none" strike="noStrike">
              <a:solidFill>
                <a:srgbClr val="2E75B5"/>
              </a:solidFill>
              <a:latin typeface="Arial"/>
              <a:ea typeface="Arial"/>
              <a:cs typeface="Arial"/>
              <a:sym typeface="Arial"/>
            </a:endParaRPr>
          </a:p>
        </p:txBody>
      </p:sp>
      <p:pic>
        <p:nvPicPr>
          <p:cNvPr id="636" name="Google Shape;636;p48"/>
          <p:cNvPicPr preferRelativeResize="0"/>
          <p:nvPr/>
        </p:nvPicPr>
        <p:blipFill rotWithShape="1">
          <a:blip r:embed="rId3">
            <a:alphaModFix/>
          </a:blip>
          <a:srcRect b="0" l="0" r="0" t="0"/>
          <a:stretch/>
        </p:blipFill>
        <p:spPr>
          <a:xfrm>
            <a:off x="5410200" y="4009390"/>
            <a:ext cx="1358900" cy="139763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49"/>
          <p:cNvSpPr txBox="1"/>
          <p:nvPr/>
        </p:nvSpPr>
        <p:spPr>
          <a:xfrm>
            <a:off x="2947035" y="1256030"/>
            <a:ext cx="6393815" cy="396684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4D4D4D"/>
                </a:solidFill>
                <a:latin typeface="Calibri"/>
                <a:ea typeface="Calibri"/>
                <a:cs typeface="Calibri"/>
                <a:sym typeface="Calibri"/>
              </a:rPr>
              <a:t>¡Felicidades!</a:t>
            </a:r>
            <a:r>
              <a:rPr b="0" i="0" lang="en-US" sz="2100" u="none" cap="none" strike="noStrike">
                <a:solidFill>
                  <a:srgbClr val="4D4D4D"/>
                </a:solidFill>
                <a:latin typeface="Calibri"/>
                <a:ea typeface="Calibri"/>
                <a:cs typeface="Calibri"/>
                <a:sym typeface="Calibri"/>
              </a:rPr>
              <a:t> </a:t>
            </a:r>
            <a:endParaRPr b="0" i="0" sz="2100" u="none" cap="none" strike="noStrike">
              <a:solidFill>
                <a:srgbClr val="4D4D4D"/>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100"/>
              <a:buFont typeface="Arial"/>
              <a:buNone/>
            </a:pPr>
            <a:r>
              <a:rPr b="0" i="0" lang="en-US" sz="2100" u="none" cap="none" strike="noStrike">
                <a:solidFill>
                  <a:srgbClr val="4D4D4D"/>
                </a:solidFill>
                <a:latin typeface="Calibri"/>
                <a:ea typeface="Calibri"/>
                <a:cs typeface="Calibri"/>
                <a:sym typeface="Calibri"/>
              </a:rPr>
              <a:t>Has concluído el curso: </a:t>
            </a:r>
            <a:endParaRPr b="0" i="0" sz="2100" u="none" cap="none" strike="noStrike">
              <a:solidFill>
                <a:srgbClr val="4D4D4D"/>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000"/>
              <a:buFont typeface="Arial"/>
              <a:buNone/>
            </a:pPr>
            <a:r>
              <a:rPr b="1" i="0" lang="en-US" sz="2300" u="none" cap="none" strike="noStrike">
                <a:solidFill>
                  <a:schemeClr val="dk1"/>
                </a:solidFill>
                <a:latin typeface="Arial"/>
                <a:ea typeface="Arial"/>
                <a:cs typeface="Arial"/>
                <a:sym typeface="Arial"/>
              </a:rPr>
              <a:t>Prevención y atención del Burnout </a:t>
            </a:r>
            <a:endParaRPr b="1" i="0" sz="23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000"/>
              <a:buFont typeface="Arial"/>
              <a:buNone/>
            </a:pPr>
            <a:r>
              <a:rPr b="1" i="0" lang="en-US" sz="2300" u="none" cap="none" strike="noStrike">
                <a:solidFill>
                  <a:schemeClr val="dk1"/>
                </a:solidFill>
                <a:latin typeface="Arial"/>
                <a:ea typeface="Arial"/>
                <a:cs typeface="Arial"/>
                <a:sym typeface="Arial"/>
              </a:rPr>
              <a:t>y Bienestar Laboral</a:t>
            </a:r>
            <a:endParaRPr b="1" i="0" sz="23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300"/>
              <a:buFont typeface="Arial"/>
              <a:buNone/>
            </a:pPr>
            <a:r>
              <a:t/>
            </a:r>
            <a:endParaRPr b="1" i="0" sz="2300" u="none" cap="none" strike="noStrike">
              <a:solidFill>
                <a:srgbClr val="4D4D4D"/>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300"/>
              <a:buFont typeface="Arial"/>
              <a:buNone/>
            </a:pPr>
            <a:r>
              <a:t/>
            </a:r>
            <a:endParaRPr b="1" i="0" sz="2300" u="none" cap="none" strike="noStrike">
              <a:solidFill>
                <a:srgbClr val="4D4D4D"/>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100"/>
              <a:buFont typeface="Arial"/>
              <a:buNone/>
            </a:pPr>
            <a:r>
              <a:rPr b="0" i="0" lang="en-US" sz="2100" u="none" cap="none" strike="noStrike">
                <a:solidFill>
                  <a:srgbClr val="4D4D4D"/>
                </a:solidFill>
                <a:latin typeface="Calibri"/>
                <a:ea typeface="Calibri"/>
                <a:cs typeface="Calibri"/>
                <a:sym typeface="Calibri"/>
              </a:rPr>
              <a:t>Recuerda que:</a:t>
            </a:r>
            <a:endParaRPr b="0" i="0" sz="2100" u="none" cap="none" strike="noStrike">
              <a:solidFill>
                <a:srgbClr val="4D4D4D"/>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rgbClr val="4D4D4D"/>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100"/>
              <a:buFont typeface="Arial"/>
              <a:buNone/>
            </a:pPr>
            <a:r>
              <a:rPr b="0" i="0" lang="en-US" sz="2100" u="none" cap="none" strike="noStrike">
                <a:solidFill>
                  <a:srgbClr val="1E4E79"/>
                </a:solidFill>
                <a:latin typeface="Calibri"/>
                <a:ea typeface="Calibri"/>
                <a:cs typeface="Calibri"/>
                <a:sym typeface="Calibri"/>
              </a:rPr>
              <a:t>«Tu trabajo ocupará gran parte de tu vida… la única manera de hacer un gran trabajo es amar lo que haces»</a:t>
            </a:r>
            <a:endParaRPr b="0" i="0" sz="2100" u="none" cap="none" strike="noStrike">
              <a:solidFill>
                <a:srgbClr val="1E4E7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1E4E79"/>
                </a:solidFill>
                <a:latin typeface="Calibri"/>
                <a:ea typeface="Calibri"/>
                <a:cs typeface="Calibri"/>
                <a:sym typeface="Calibri"/>
              </a:rPr>
              <a:t> </a:t>
            </a:r>
            <a:endParaRPr b="0" i="0" sz="2100" u="none" cap="none" strike="noStrike">
              <a:solidFill>
                <a:srgbClr val="1E4E79"/>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600"/>
              <a:buFont typeface="Arial"/>
              <a:buNone/>
            </a:pPr>
            <a:r>
              <a:rPr b="0" i="1" lang="en-US" sz="1600" u="none" cap="none" strike="noStrike">
                <a:solidFill>
                  <a:srgbClr val="1E4E79"/>
                </a:solidFill>
                <a:latin typeface="Calibri"/>
                <a:ea typeface="Calibri"/>
                <a:cs typeface="Calibri"/>
                <a:sym typeface="Calibri"/>
              </a:rPr>
              <a:t>                                                                         Steve Jobs</a:t>
            </a:r>
            <a:endParaRPr b="0" i="1" sz="1600" u="none" cap="none" strike="noStrike">
              <a:solidFill>
                <a:srgbClr val="1E4E79"/>
              </a:solidFill>
              <a:latin typeface="Calibri"/>
              <a:ea typeface="Calibri"/>
              <a:cs typeface="Calibri"/>
              <a:sym typeface="Calibri"/>
            </a:endParaRPr>
          </a:p>
        </p:txBody>
      </p:sp>
      <p:sp>
        <p:nvSpPr>
          <p:cNvPr id="643" name="Google Shape;643;p49"/>
          <p:cNvSpPr/>
          <p:nvPr/>
        </p:nvSpPr>
        <p:spPr>
          <a:xfrm>
            <a:off x="0" y="5927090"/>
            <a:ext cx="12192000" cy="90932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44" name="Google Shape;644;p49"/>
          <p:cNvSpPr/>
          <p:nvPr/>
        </p:nvSpPr>
        <p:spPr>
          <a:xfrm>
            <a:off x="5341620" y="5798820"/>
            <a:ext cx="1565910" cy="551815"/>
          </a:xfrm>
          <a:prstGeom prst="roundRect">
            <a:avLst>
              <a:gd fmla="val 16667" name="adj"/>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Arial"/>
                <a:ea typeface="Arial"/>
                <a:cs typeface="Arial"/>
                <a:sym typeface="Arial"/>
              </a:rPr>
              <a:t>SALIR</a:t>
            </a:r>
            <a:endParaRPr b="1" i="0" sz="15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2025-11-24T17:31:00Z</dcterms:created>
  <dc:creator>Alma alcantara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4FCEBCAEE2824D8FA738A5D1E6DD4D06_13</vt:lpwstr>
  </property>
  <property fmtid="{D5CDD505-2E9C-101B-9397-08002B2CF9AE}" pid="3" name="KSOProductBuildVer">
    <vt:lpwstr>2058-12.2.0.23155</vt:lpwstr>
  </property>
</Properties>
</file>